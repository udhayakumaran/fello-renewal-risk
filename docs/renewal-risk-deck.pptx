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Points</c:v>
                </c:pt>
              </c:strCache>
            </c:strRef>
          </c:tx>
          <c:spPr>
            <a:solidFill>
              <a:srgbClr val="3B4BD8"/>
            </a:solidFill>
            <a:effectLst/>
          </c:spPr>
          <c:invertIfNegative val="0"/>
          <c:dLbls>
            <c:numFmt formatCode="+0.00;-0.00" sourceLinked="0"/>
            <c:txPr>
              <a:bodyPr/>
              <a:lstStyle/>
              <a:p>
                <a:pPr>
                  <a:defRPr b="0" i="0" strike="noStrike" sz="1200" u="none">
                    <a:solidFill>
                      <a:srgbClr val="111827"/>
                    </a:solidFill>
                    <a:latin typeface="Calibri"/>
                  </a:defRPr>
                </a:pPr>
              </a:p>
            </c:txPr>
            <c:showLegendKey val="0"/>
            <c:showVal val="1"/>
            <c:showCatName val="0"/>
            <c:showSerName val="0"/>
            <c:showPercent val="0"/>
            <c:showBubbleSize val="0"/>
            <c:showLeaderLines val="0"/>
          </c:dLbls>
          <c:dPt>
            <c:idx val="0"/>
            <c:invertIfNegative val="0"/>
            <c:bubble3D val="0"/>
            <c:spPr>
              <a:solidFill>
                <a:srgbClr val="3B4BD8"/>
              </a:solidFill>
              <a:effectLst/>
            </c:spPr>
          </c:dPt>
          <c:dPt>
            <c:idx val="1"/>
            <c:invertIfNegative val="0"/>
            <c:bubble3D val="0"/>
            <c:spPr>
              <a:solidFill>
                <a:srgbClr val="3B4BD8"/>
              </a:solidFill>
              <a:effectLst/>
            </c:spPr>
          </c:dPt>
          <c:dPt>
            <c:idx val="2"/>
            <c:invertIfNegative val="0"/>
            <c:bubble3D val="0"/>
            <c:spPr>
              <a:solidFill>
                <a:srgbClr val="3B4BD8"/>
              </a:solidFill>
              <a:effectLst/>
            </c:spPr>
          </c:dPt>
          <c:dPt>
            <c:idx val="3"/>
            <c:invertIfNegative val="0"/>
            <c:bubble3D val="0"/>
            <c:spPr>
              <a:solidFill>
                <a:srgbClr val="15803D"/>
              </a:solidFill>
              <a:effectLst/>
            </c:spPr>
          </c:dPt>
          <c:dPt>
            <c:idx val="4"/>
            <c:invertIfNegative val="0"/>
            <c:bubble3D val="0"/>
            <c:spPr>
              <a:solidFill>
                <a:srgbClr val="15803D"/>
              </a:solidFill>
              <a:effectLst/>
            </c:spPr>
          </c:dPt>
          <c:cat>
            <c:multiLvlStrRef>
              <c:f>Sheet1!$A$2:$A$6</c:f>
              <c:multiLvlStrCache>
                <c:ptCount val="5"/>
                <c:lvl>
                  <c:pt idx="0">
                    <c:v>2 support tickets (typical 0.5)</c:v>
                  </c:pt>
                  <c:pt idx="1">
                    <c:v>1 contact marked inactive</c:v>
                  </c:pt>
                  <c:pt idx="2">
                    <c:v>Usage clues (4 small ones)</c:v>
                  </c:pt>
                  <c:pt idx="3">
                    <c:v>Long relationship, large contract</c:v>
                  </c:pt>
                  <c:pt idx="4">
                    <c:v>All other clues</c:v>
                  </c:pt>
                </c:lvl>
              </c:multiLvlStrCache>
            </c:multiLvlStrRef>
          </c:cat>
          <c:val>
            <c:numRef>
              <c:f>Sheet1!$B$2:$B$6</c:f>
              <c:numCache>
                <c:formatCode>General</c:formatCode>
                <c:ptCount val="5"/>
                <c:pt idx="0">
                  <c:v>0.68</c:v>
                </c:pt>
                <c:pt idx="1">
                  <c:v>0.66</c:v>
                </c:pt>
                <c:pt idx="2">
                  <c:v>0.29</c:v>
                </c:pt>
                <c:pt idx="3">
                  <c:v>-0.16</c:v>
                </c:pt>
                <c:pt idx="4">
                  <c:v>-0.03</c:v>
                </c:pt>
              </c:numCache>
            </c:numRef>
          </c:val>
        </c:ser>
        <c:dLbls>
          <c:numFmt formatCode="+0.00;-0.00" sourceLinked="0"/>
          <c:txPr>
            <a:bodyPr/>
            <a:lstStyle/>
            <a:p>
              <a:pPr>
                <a:defRPr b="0" i="0" strike="noStrike" sz="1200" u="none">
                  <a:solidFill>
                    <a:srgbClr val="11182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11827"/>
                </a:solidFill>
                <a:latin typeface="Calibri"/>
              </a:defRPr>
            </a:pPr>
            <a:endParaRPr lang="en-US"/>
          </a:p>
        </c:txPr>
        <c:crossAx val="2094734552"/>
        <c:crosses val="autoZero"/>
        <c:auto val="1"/>
        <c:lblAlgn val="ctr"/>
        <c:noMultiLvlLbl val="1"/>
      </c:catAx>
      <c:valAx>
        <c:axId val="2094734552"/>
        <c:scaling>
          <c:orientation val="minMax"/>
          <c:max val="0.9"/>
          <c:min val="-0.3"/>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Had the clue</c:v>
                </c:pt>
              </c:strCache>
            </c:strRef>
          </c:tx>
          <c:spPr>
            <a:solidFill>
              <a:srgbClr val="3B4BD8"/>
            </a:solidFill>
            <a:effectLst/>
          </c:spPr>
          <c:invertIfNegative val="0"/>
          <c:dLbls>
            <c:numFmt formatCode="0.0" sourceLinked="0"/>
            <c:txPr>
              <a:bodyPr/>
              <a:lstStyle/>
              <a:p>
                <a:pPr>
                  <a:defRPr b="0" i="0" strike="noStrike" sz="1100" u="none">
                    <a:solidFill>
                      <a:srgbClr val="11182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Asked to cancel at renewal</c:v>
                  </c:pt>
                  <c:pt idx="1">
                    <c:v>Reduced their plan recently</c:v>
                  </c:pt>
                  <c:pt idx="2">
                    <c:v>3+ complaints in 90 days</c:v>
                  </c:pt>
                  <c:pt idx="3">
                    <c:v>Complaint still open</c:v>
                  </c:pt>
                  <c:pt idx="4">
                    <c:v>Some contacts marked inactive</c:v>
                  </c:pt>
                  <c:pt idx="5">
                    <c:v>Product usage fell</c:v>
                  </c:pt>
                </c:lvl>
              </c:multiLvlStrCache>
            </c:multiLvlStrRef>
          </c:cat>
          <c:val>
            <c:numRef>
              <c:f>Sheet1!$B$2:$B$7</c:f>
              <c:numCache>
                <c:formatCode>General</c:formatCode>
                <c:ptCount val="6"/>
                <c:pt idx="0">
                  <c:v>50</c:v>
                </c:pt>
                <c:pt idx="1">
                  <c:v>17.1</c:v>
                </c:pt>
                <c:pt idx="2">
                  <c:v>13.2</c:v>
                </c:pt>
                <c:pt idx="3">
                  <c:v>4.6</c:v>
                </c:pt>
                <c:pt idx="4">
                  <c:v>3.8</c:v>
                </c:pt>
                <c:pt idx="5">
                  <c:v>2.4</c:v>
                </c:pt>
              </c:numCache>
            </c:numRef>
          </c:val>
        </c:ser>
        <c:ser>
          <c:idx val="1"/>
          <c:order val="1"/>
          <c:tx>
            <c:strRef>
              <c:f>Sheet1!$C$1</c:f>
              <c:strCache>
                <c:ptCount val="1"/>
                <c:pt idx="0">
                  <c:v>Did not have it</c:v>
                </c:pt>
              </c:strCache>
            </c:strRef>
          </c:tx>
          <c:spPr>
            <a:solidFill>
              <a:srgbClr val="C7CBD6"/>
            </a:solidFill>
            <a:effectLst/>
          </c:spPr>
          <c:invertIfNegative val="0"/>
          <c:dLbls>
            <c:numFmt formatCode="0.0" sourceLinked="0"/>
            <c:txPr>
              <a:bodyPr/>
              <a:lstStyle/>
              <a:p>
                <a:pPr>
                  <a:defRPr b="0" i="0" strike="noStrike" sz="1100" u="none">
                    <a:solidFill>
                      <a:srgbClr val="11182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Asked to cancel at renewal</c:v>
                  </c:pt>
                  <c:pt idx="1">
                    <c:v>Reduced their plan recently</c:v>
                  </c:pt>
                  <c:pt idx="2">
                    <c:v>3+ complaints in 90 days</c:v>
                  </c:pt>
                  <c:pt idx="3">
                    <c:v>Complaint still open</c:v>
                  </c:pt>
                  <c:pt idx="4">
                    <c:v>Some contacts marked inactive</c:v>
                  </c:pt>
                  <c:pt idx="5">
                    <c:v>Product usage fell</c:v>
                  </c:pt>
                </c:lvl>
              </c:multiLvlStrCache>
            </c:multiLvlStrRef>
          </c:cat>
          <c:val>
            <c:numRef>
              <c:f>Sheet1!$C$2:$C$7</c:f>
              <c:numCache>
                <c:formatCode>General</c:formatCode>
                <c:ptCount val="6"/>
                <c:pt idx="0">
                  <c:v>2.1</c:v>
                </c:pt>
                <c:pt idx="1">
                  <c:v>2.2</c:v>
                </c:pt>
                <c:pt idx="2">
                  <c:v>2</c:v>
                </c:pt>
                <c:pt idx="3">
                  <c:v>2.3</c:v>
                </c:pt>
                <c:pt idx="4">
                  <c:v>2.2</c:v>
                </c:pt>
                <c:pt idx="5">
                  <c:v>2.3</c:v>
                </c:pt>
              </c:numCache>
            </c:numRef>
          </c:val>
        </c:ser>
        <c:dLbls>
          <c:numFmt formatCode="0.0" sourceLinked="0"/>
          <c:txPr>
            <a:bodyPr/>
            <a:lstStyle/>
            <a:p>
              <a:pPr>
                <a:defRPr b="0" i="0" strike="noStrike" sz="1100" u="none">
                  <a:solidFill>
                    <a:srgbClr val="111827"/>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11827"/>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Leavers caught</c:v>
                </c:pt>
              </c:strCache>
            </c:strRef>
          </c:tx>
          <c:spPr>
            <a:solidFill>
              <a:srgbClr val="3B4BD8"/>
            </a:solidFill>
            <a:effectLst/>
          </c:spPr>
          <c:invertIfNegative val="0"/>
          <c:dLbls>
            <c:numFmt formatCode="#,##0" sourceLinked="0"/>
            <c:txPr>
              <a:bodyPr/>
              <a:lstStyle/>
              <a:p>
                <a:pPr>
                  <a:defRPr b="0" i="0" strike="noStrike" sz="2000" u="none">
                    <a:solidFill>
                      <a:srgbClr val="111827"/>
                    </a:solidFill>
                    <a:latin typeface="Calibri"/>
                  </a:defRPr>
                </a:pPr>
              </a:p>
            </c:txPr>
            <c:showLegendKey val="0"/>
            <c:showVal val="1"/>
            <c:showCatName val="0"/>
            <c:showSerName val="0"/>
            <c:showPercent val="0"/>
            <c:showBubbleSize val="0"/>
            <c:showLeaderLines val="0"/>
          </c:dLbls>
          <c:dPt>
            <c:idx val="0"/>
            <c:invertIfNegative val="0"/>
            <c:bubble3D val="0"/>
            <c:spPr>
              <a:solidFill>
                <a:srgbClr val="3B4BD8"/>
              </a:solidFill>
              <a:effectLst/>
            </c:spPr>
          </c:dPt>
          <c:dPt>
            <c:idx val="1"/>
            <c:invertIfNegative val="0"/>
            <c:bubble3D val="0"/>
            <c:spPr>
              <a:solidFill>
                <a:srgbClr val="C7CBD6"/>
              </a:solidFill>
              <a:effectLst/>
            </c:spPr>
          </c:dPt>
          <c:cat>
            <c:multiLvlStrRef>
              <c:f>Sheet1!$A$2:$A$3</c:f>
              <c:multiLvlStrCache>
                <c:ptCount val="2"/>
                <c:lvl>
                  <c:pt idx="0">
                    <c:v>Our score</c:v>
                  </c:pt>
                  <c:pt idx="1">
                    <c:v>Simple rule (usage dropped)</c:v>
                  </c:pt>
                </c:lvl>
              </c:multiLvlStrCache>
            </c:multiLvlStrRef>
          </c:cat>
          <c:val>
            <c:numRef>
              <c:f>Sheet1!$B$2:$B$3</c:f>
              <c:numCache>
                <c:formatCode>General</c:formatCode>
                <c:ptCount val="2"/>
                <c:pt idx="0">
                  <c:v>18</c:v>
                </c:pt>
                <c:pt idx="1">
                  <c:v>12</c:v>
                </c:pt>
              </c:numCache>
            </c:numRef>
          </c:val>
        </c:ser>
        <c:dLbls>
          <c:numFmt formatCode="#,##0" sourceLinked="0"/>
          <c:txPr>
            <a:bodyPr/>
            <a:lstStyle/>
            <a:p>
              <a:pPr>
                <a:defRPr b="0" i="0" strike="noStrike" sz="2000" u="none">
                  <a:solidFill>
                    <a:srgbClr val="111827"/>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11827"/>
                </a:solidFill>
                <a:latin typeface="Calibri"/>
              </a:defRPr>
            </a:pPr>
            <a:endParaRPr lang="en-US"/>
          </a:p>
        </c:txPr>
        <c:crossAx val="2094734552"/>
        <c:crosses val="autoZero"/>
        <c:auto val="1"/>
        <c:lblAlgn val="ctr"/>
        <c:noMultiLvlLbl val="1"/>
      </c:catAx>
      <c:valAx>
        <c:axId val="2094734552"/>
        <c:scaling>
          <c:orientation val="minMax"/>
          <c:max val="29"/>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Udhaya. This is my take on the renewal risk exercise. In about nine minutes I'll show the problem, the product, one account from warning signs to a call, how the score works, and how I know it works. All the data is generated, so the results show the system works, not how it would do on real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problem as given. The VP of Customer Success asked for a dashboard that gives every account a red, yellow or green score, and sends automatic emails to accounts that turn red. The business facts we were told: each customer success manager, a CSM, looks after about 120 accounts, the warning signs sit in five separate tools, and two renewals were lost last quarter with the signs already in the data. The assignment itself adds five must-haves: generated data, around five thousand accounts and two hundred thousand events across the five tools; a model learned from that data; something that runs without a person; several customer companies kept apart; and everything traceable. A renewal is the moment a customer decides whether to keep paying.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read it. A manager cannot call 120 accounts, so today they guess who to call each Monday. A dashboard with colours does not fix that, because it still leaves the choice to them and hides how sure we are and how much money is at stake. What is needed is a short ranked list every Monday: who to call first, and why. I assume a manager can make about 15 calls a week, which is a number to confirm with the business. Success means three things: the right accounts are near the top, each reason can be checked against the real records, and the system runs without a person and says plainly what it does not know. One more point: two lost renewals cannot train or test a model. It needs the full renewal history, so the plan is to generate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five realistic ways to solve this. A: the dashboard as asked. It is familiar, but a colour hides how sure we are and how much money is at stake. B: hand-set rules, like usage fell so add three points. Easy to explain, but the numbers are guesses, and in our data a fall in usage on its own barely separated leavers from stayers. C: a fitted points model that ranks accounts. The points come from past renewals and every reason can be checked, but it needs history and it understates strong clues. D: a model that cannot explain itself, like a chatbot. It could read messy text, but it cannot show its working and may answer differently each time. E: emailing customers automatically. It saves human time, but telling a customer we think they are leaving can cause the loss, and it needs business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I took and what I ruled out. I took option C: a points model learned from past renewals, because a manager can read it and check it. I rank accounts by chance of leaving times contract value, and the top fifteen per manager are the week's calls. The manager decides, the system alerts. It only uses what was known at the time, and it runs every night by itself. I ruled out the colour-only dashboard, hand-set guesses, a model that cannot explain itself, like a chatbot, and automatic customer emails. The one exception is a card-update reminder after a failed payment, which is recorded automatically, with nothing actually sent in this demo. I also ruled out guessing at similar company names, because a wrong match puts one customer's warning signs on another, and I left out days until renewal as a clue, because it already decides who is on the list. I kept a simple usage-drop rule as the thing the score has to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system on one page, left to right. Along the top, five tools feed it: sales records, support tickets, product use, payments and email. About two hundred thousand records, messy on purpose. Step one matches every record to one customer, by email domain and then company name. Records we cannot match are counted and kept, not thrown away. Step two summarises each customer into eleven simple facts, using only what was known on that date. Step three gives a chance of leaving, and multiplies it by the contract value. That chance comes from points learned from past renewals, and the points are re-learned once a month. Step four runs every night at 2am. Each company publishes a complete successful run, and if that company's run fails, its previous list stays available. Step five is the manager's list: the top fifteen, with reasons and the records behind them. When a manager calls, one click takes the customer off the list for two weeks and the next one moves up. The automatic part is limited: it scores, records alerts and card reminders, and publishes. Who to call, what to say, and any customer email stay with the manager. The database itself keeps each company's rows apart, and the company comes from a signed login.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a manager opens on Monday. The top fifteen are this week's calls, sorted by money at risk, which is the chance of leaving times what the customer pays. Number one is the account. Number two is the chance of leaving in the next 90 days. Number three is the money at risk. Number four is the reasons, in plain words, which give the call a talking point. Now an important point: priority is not the same as chance. Harbor Health has only a 2.6 percent chance, but 160 thousand dollars is at stake, so it ranks above Hollow Finance, which has a 4.9 percent chance on a 31 thousand dollar contract. The list ranks money exposed, not who is most likely to leave. It does not estimate how much a call would save. Customers we cannot score are shown as not scored, never as safe. Switch to the live app here, signed in as this manager.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one real account from the demo, Meridian Marine. Step one: it is number one on this manager's list, a 7.3 percent chance and 7,307 dollars at risk. Step two: why. It opened two support tickets in 90 days, where a typical customer opens half of one, and one of its contacts is marked inactive. Step three: open the account and the reasons link to the actual records: two ticket IDs and one contact ID. Nothing is hidden, and a test rebuilds every stored score from its stored reasons. Step four: the manager calls and clicks one button, I contacted this customer today. The account leaves this week's list for 14 days and the next account moves up. Switch to the live app and walk through these four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same account's score adds up. A typical customer is the starting point: zero points, which is a 1.8 percent chance of leaving. That 1.8 percent is an estimate of the chance, not a promise. Each clue then adds or removes points, depending on how this customer compares with a typical one. Two support tickets add 0.68, one inactive contact adds 0.66, four small usage clues add 0.29 together, and a long relationship and a large contract take off 0.16. The total is about plus 1.45 points, which moves the chance from 1.8 percent up to 7.3 percent. The same steps are used for every customer, and the account page shows every clue, its points, and the records behind it. If asked, the method is a standard one, called logistic regression.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a clue add points? Because of what past customers did. Of about sixteen thousand past cases, 2.3 percent left overall. Where a customer had asked to cancel, 50 in 100 left, against 2 in 100 without. With three or more complaints in 90 days, 13 in 100 left. With a plan cut, 17 in 100. A complaint still open and inactive contacts matter a little. A fall in product usage on its own did not separate leavers from stayers. These are patterns seen in the generated history. The points are fitted with all the clues together, so they are not exactly these percentages, but a bigger gap usually means more points. The account page shows these numbers for every clue.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screens from the same app. On the left, the run log: every nightly attempt with its status and how many accounts were scored or unknown. Only a succeeded run is shown to managers, and the column on the right says which one is live now. A failed run is logged, never published, and the company keeps its previous list. On the right, the unmatched queue: source records we could not link to exactly one customer. They are kept, not scored, and listed with what we tried to match on, so someone can fix the missing domain or company name in the CRM. The queue is rebuilt every night, so a record leaves once it matches. These screenshots are from my local copy of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failure cases that matter, each as a problem, what the system does, and the evidence. Late records: a record that arrives after the scoring date is ignored, so a score never uses information from its own future, and a test proves it. Accounts we cannot score or match: they are shown as not scored with the reason, and unmatched records go to a review queue. A wrong match or missing source data can still hide a signal, so this reduces the problem and does not remove it. A failed run: it is logged and never published, and that company keeps its previous list, which I tested by breaking a run on purpose. Company separation: the database itself blocks other companies' rows, with the company taken from a signed login that the app checks. The tests try the wrong company, and forged, expired and edited logins. Traceability: every reason links to its records, and a test rebuilds each stored score from its stored reasons. What I can promise: every renewal in the next 90 days is a call, on the watch list, or not scored with the reason. What I cannot promise: that every at-risk customer is called or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I know it works? I trained on earlier renewals and tested on a later date the system had never seen, against a simple rule: pick the customers whose usage dropped. In each manager's top fifteen, the score catches 18 of the 29 customers who left, against 12 for the rule. That is the number to remember. A second measure, ranking quality, is 0.71 against 0.60, where 0.5 is a coin toss. The honest caveats: only 29 customers left in the test, so a difference of a few is suggestive, not proof, and the ranges are wide. The data is generated, so this shows the system works, not how it would do on real customers. Earlier versions scored higher, 0.83, before I fixed how leaving is defined, and I reported the more defensible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what I left out and why. Real connections to the tools and a real company sign-in: generated files and a demo login are enough to show the system works. Real email sending: the reminder is saved as a record and nothing is actually sent, because wording and who switches it on need approval. Gmail in the score: it is loaded and stored, and I tested it once as two clues, replies and unanswered emails, on the generated data. There was no measurable gain, so it is not scored, and using it needs the legal basis confirmed. Whether a call actually saves a customer: no outcomes are recorded yet, so I keep the call log from day one to measure it later. How close the percentage is to reality: the score ranks well but understates strong clues, so a typical customer with a cancel request gets 21 to 29 percent when about half actually left. And scale: at ten times the size, the nightly job re-reads everything and two runs could overlap, so I would process only what changed and allow one run at a time. The live demo link is on the slide. Thanks for watching.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slides are backup. I only open them if a question needs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it behaves over time. On day one there is no waiting: the system learns straight away from all the history that is loaded, then scores every customer. Every night it scores again using the saved points, so a score changes because the customer changed, not because the formula did. Every 30 days it re-learns the points from the outcomes seen since. I chose monthly because a month adds too few new outcomes to change the points meaningfully, and re-learning every night would mostly add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cannot observe a real future year, so I replayed the sample data. One copy of the system learns only from what was known on 15 June 2025, the other from what was known on 15 June 2026, and both are tested on the same later date. Take one factor: asked to cancel at renewal. On day one, 44 in 100 past customers with that factor left, and it added 2.49 points. A year later, 51 in 100 left, and it adds 3.02 points. Where the share barely moved, such as plan cuts, the points barely moved. How the number arises: the points come from a number the system learned, 0.184 for this factor on day one, multiplied by how unusual the factor is, which is about 13.5 times the usual variation because only 0.5 percent of cases had it. The points understate strong clues: a typical customer with this factor gets 21 to 29 percent, while 44 to 51 in 100 actually left. Overall, the top fifteen lists share 85 percent of their names, and ranking quality is 0.75 against 0.73, which this small test cannot show to be a meaningful difference, with only 29 leavers. More history did not improve ranking here. This generated data has no change over time built in, while real customers do change, which is why the points are re-learned monthly.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assignment set five non-negotiables. One, generate the data: five thousand customers across four companies, about two hundred thousand records from five places, messy on purpose. Two, a score fitted on the data: learned from past renewals and tested on later ones against a simple rule. Three, something that runs by itself: a nightly job, with a run log, and a run I broke on purpose was recorded and never shown to managers. Four, multiple companies: the database itself blocks other companies' rows, with the company taken from a signed login, and tests with the wrong company, a forged, expired and edited login all fail. Five, everything traceable: every reason shows its points and the records behind it, and a test rebuilds every stored score from its stored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calls I made on purpose. Only use what was known at the time: a record that arrived after the scoring date is ignored, so the score never uses information from the future, and a test proves it. A failed card is not leaving: cards fail for many reasons, so only a renewal bill never paid or attempted counts. That costs 21 of 1,640 test customers being labelled differently from the true answer, and I say so. I kept customers who leave without warning: half the generated leavers gave no sign, removing them would have given 0.95, which looks great and is fake. I dropped days until renewal as a clue because it already decides who is on the list and a manager cannot act on it. And there is no chatbot-style AI in the score, because a chatbot can give a different answer each time and cannot show its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827"/>
        </a:solidFill>
      </p:bgPr>
    </p:bg>
    <p:spTree>
      <p:nvGrpSpPr>
        <p:cNvPr id="1" name=""/>
        <p:cNvGrpSpPr/>
        <p:nvPr/>
      </p:nvGrpSpPr>
      <p:grpSpPr>
        <a:xfrm>
          <a:off x="0" y="0"/>
          <a:ext cx="0" cy="0"/>
          <a:chOff x="0" y="0"/>
          <a:chExt cx="0" cy="0"/>
        </a:xfrm>
      </p:grpSpPr>
      <p:sp>
        <p:nvSpPr>
          <p:cNvPr id="2" name="Text 0"/>
          <p:cNvSpPr/>
          <p:nvPr/>
        </p:nvSpPr>
        <p:spPr>
          <a:xfrm>
            <a:off x="822960" y="1554480"/>
            <a:ext cx="10058400" cy="365760"/>
          </a:xfrm>
          <a:prstGeom prst="rect">
            <a:avLst/>
          </a:prstGeom>
          <a:noFill/>
          <a:ln/>
        </p:spPr>
        <p:txBody>
          <a:bodyPr wrap="square" rtlCol="0" anchor="ctr"/>
          <a:lstStyle/>
          <a:p>
            <a:pPr indent="0" marL="0">
              <a:buNone/>
            </a:pPr>
            <a:r>
              <a:rPr lang="en-US" sz="1400" b="1" spc="400" kern="0" dirty="0">
                <a:solidFill>
                  <a:srgbClr val="9AA3F5"/>
                </a:solidFill>
                <a:latin typeface="Calibri" pitchFamily="34" charset="0"/>
                <a:ea typeface="Calibri" pitchFamily="34" charset="-122"/>
                <a:cs typeface="Calibri" pitchFamily="34" charset="-120"/>
              </a:rPr>
              <a:t>RENEWAL RISK CALL LIST</a:t>
            </a:r>
            <a:endParaRPr lang="en-US" sz="1400" dirty="0"/>
          </a:p>
        </p:txBody>
      </p:sp>
      <p:sp>
        <p:nvSpPr>
          <p:cNvPr id="3" name="Text 1"/>
          <p:cNvSpPr/>
          <p:nvPr/>
        </p:nvSpPr>
        <p:spPr>
          <a:xfrm>
            <a:off x="822960" y="2011680"/>
            <a:ext cx="10515600" cy="1463040"/>
          </a:xfrm>
          <a:prstGeom prst="rect">
            <a:avLst/>
          </a:prstGeom>
          <a:noFill/>
          <a:ln/>
        </p:spPr>
        <p:txBody>
          <a:bodyPr wrap="square"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Who should we call this Monday, and why?</a:t>
            </a:r>
            <a:endParaRPr lang="en-US" sz="4600" dirty="0"/>
          </a:p>
        </p:txBody>
      </p:sp>
      <p:sp>
        <p:nvSpPr>
          <p:cNvPr id="4" name="Text 2"/>
          <p:cNvSpPr/>
          <p:nvPr/>
        </p:nvSpPr>
        <p:spPr>
          <a:xfrm>
            <a:off x="822960" y="3611880"/>
            <a:ext cx="10515600" cy="548640"/>
          </a:xfrm>
          <a:prstGeom prst="rect">
            <a:avLst/>
          </a:prstGeom>
          <a:noFill/>
          <a:ln/>
        </p:spPr>
        <p:txBody>
          <a:bodyPr wrap="square" rtlCol="0" anchor="ctr"/>
          <a:lstStyle/>
          <a:p>
            <a:pPr indent="0" marL="0">
              <a:buNone/>
            </a:pPr>
            <a:r>
              <a:rPr lang="en-US" sz="2200" dirty="0">
                <a:solidFill>
                  <a:srgbClr val="C9CBD6"/>
                </a:solidFill>
                <a:latin typeface="Calibri" pitchFamily="34" charset="0"/>
                <a:ea typeface="Calibri" pitchFamily="34" charset="-122"/>
                <a:cs typeface="Calibri" pitchFamily="34" charset="-120"/>
              </a:rPr>
              <a:t>Finding customers who may stop paying, before they do</a:t>
            </a:r>
            <a:endParaRPr lang="en-US" sz="2200" dirty="0"/>
          </a:p>
        </p:txBody>
      </p:sp>
      <p:sp>
        <p:nvSpPr>
          <p:cNvPr id="5" name="Text 3"/>
          <p:cNvSpPr/>
          <p:nvPr/>
        </p:nvSpPr>
        <p:spPr>
          <a:xfrm>
            <a:off x="822960" y="4343400"/>
            <a:ext cx="10515600" cy="365760"/>
          </a:xfrm>
          <a:prstGeom prst="rect">
            <a:avLst/>
          </a:prstGeom>
          <a:noFill/>
          <a:ln/>
        </p:spPr>
        <p:txBody>
          <a:bodyPr wrap="square" rtlCol="0" anchor="ctr"/>
          <a:lstStyle/>
          <a:p>
            <a:pPr indent="0" marL="0">
              <a:buNone/>
            </a:pPr>
            <a:r>
              <a:rPr lang="en-US" sz="1500" dirty="0">
                <a:solidFill>
                  <a:srgbClr val="9AA3B8"/>
                </a:solidFill>
                <a:latin typeface="Calibri" pitchFamily="34" charset="0"/>
                <a:ea typeface="Calibri" pitchFamily="34" charset="-122"/>
                <a:cs typeface="Calibri" pitchFamily="34" charset="-120"/>
              </a:rPr>
              <a:t>Udhayakumar · Staff Engineer take-home · Fello GTM AI</a:t>
            </a:r>
            <a:endParaRPr lang="en-US" sz="1500" dirty="0"/>
          </a:p>
        </p:txBody>
      </p:sp>
      <p:sp>
        <p:nvSpPr>
          <p:cNvPr id="6" name="Text 4"/>
          <p:cNvSpPr/>
          <p:nvPr/>
        </p:nvSpPr>
        <p:spPr>
          <a:xfrm>
            <a:off x="822960" y="6035040"/>
            <a:ext cx="10515600" cy="365760"/>
          </a:xfrm>
          <a:prstGeom prst="rect">
            <a:avLst/>
          </a:prstGeom>
          <a:noFill/>
          <a:ln/>
        </p:spPr>
        <p:txBody>
          <a:bodyPr wrap="square" rtlCol="0" anchor="ctr"/>
          <a:lstStyle/>
          <a:p>
            <a:pPr indent="0" marL="0">
              <a:buNone/>
            </a:pPr>
            <a:r>
              <a:rPr lang="en-US" sz="1200" dirty="0">
                <a:solidFill>
                  <a:srgbClr val="9AA3B8"/>
                </a:solidFill>
                <a:latin typeface="Calibri" pitchFamily="34" charset="0"/>
                <a:ea typeface="Calibri" pitchFamily="34" charset="-122"/>
                <a:cs typeface="Calibri" pitchFamily="34" charset="-120"/>
              </a:rPr>
              <a:t>All data here is generated. Results show the system works, not how it would do on real customers.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7315200" cy="274320"/>
          </a:xfrm>
          <a:prstGeom prst="rect">
            <a:avLst/>
          </a:prstGeom>
          <a:noFill/>
          <a:ln/>
        </p:spPr>
        <p:txBody>
          <a:bodyPr wrap="square" rtlCol="0" anchor="ctr"/>
          <a:lstStyle/>
          <a:p>
            <a:pPr indent="0" marL="0">
              <a:buNone/>
            </a:pPr>
            <a:r>
              <a:rPr lang="en-US" sz="1200" b="1" spc="300" kern="0" dirty="0">
                <a:solidFill>
                  <a:srgbClr val="3B4BD8"/>
                </a:solidFill>
                <a:latin typeface="Calibri" pitchFamily="34" charset="0"/>
                <a:ea typeface="Calibri" pitchFamily="34" charset="-122"/>
                <a:cs typeface="Calibri" pitchFamily="34" charset="-120"/>
              </a:rPr>
              <a:t>1 · THE PROBLEM GIVEN</a:t>
            </a:r>
            <a:endParaRPr lang="en-US" sz="1200" dirty="0"/>
          </a:p>
        </p:txBody>
      </p:sp>
      <p:sp>
        <p:nvSpPr>
          <p:cNvPr id="3" name="Text 1"/>
          <p:cNvSpPr/>
          <p:nvPr/>
        </p:nvSpPr>
        <p:spPr>
          <a:xfrm>
            <a:off x="640080" y="658368"/>
            <a:ext cx="10908792" cy="868680"/>
          </a:xfrm>
          <a:prstGeom prst="rect">
            <a:avLst/>
          </a:prstGeom>
          <a:noFill/>
          <a:ln/>
        </p:spPr>
        <p:txBody>
          <a:bodyPr wrap="square" rtlCol="0" anchor="t"/>
          <a:lstStyle/>
          <a:p>
            <a:pPr indent="0" marL="0">
              <a:buNone/>
            </a:pPr>
            <a:r>
              <a:rPr lang="en-US" sz="2800" b="1" dirty="0">
                <a:solidFill>
                  <a:srgbClr val="111827"/>
                </a:solidFill>
                <a:latin typeface="Calibri" pitchFamily="34" charset="0"/>
                <a:ea typeface="Calibri" pitchFamily="34" charset="-122"/>
                <a:cs typeface="Calibri" pitchFamily="34" charset="-120"/>
              </a:rPr>
              <a:t>The problem as it was given to me</a:t>
            </a:r>
            <a:endParaRPr lang="en-US" sz="2800" dirty="0"/>
          </a:p>
        </p:txBody>
      </p:sp>
      <p:sp>
        <p:nvSpPr>
          <p:cNvPr id="4" name="Text 2"/>
          <p:cNvSpPr/>
          <p:nvPr/>
        </p:nvSpPr>
        <p:spPr>
          <a:xfrm>
            <a:off x="640080" y="6419088"/>
            <a:ext cx="5486400" cy="27432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Renewal Risk Call List · Fello take-home</a:t>
            </a:r>
            <a:endParaRPr lang="en-US" sz="1000" dirty="0"/>
          </a:p>
        </p:txBody>
      </p:sp>
      <p:sp>
        <p:nvSpPr>
          <p:cNvPr id="6" name="Shape 3"/>
          <p:cNvSpPr/>
          <p:nvPr/>
        </p:nvSpPr>
        <p:spPr>
          <a:xfrm>
            <a:off x="640080" y="1783080"/>
            <a:ext cx="5120640" cy="3200400"/>
          </a:xfrm>
          <a:prstGeom prst="roundRect">
            <a:avLst>
              <a:gd name="adj" fmla="val 3429"/>
            </a:avLst>
          </a:prstGeom>
          <a:solidFill>
            <a:srgbClr val="F4F5FB"/>
          </a:solidFill>
          <a:ln w="12700">
            <a:solidFill>
              <a:srgbClr val="F4F5FB"/>
            </a:solidFill>
            <a:prstDash val="solid"/>
          </a:ln>
        </p:spPr>
      </p:sp>
      <p:sp>
        <p:nvSpPr>
          <p:cNvPr id="7" name="Text 4"/>
          <p:cNvSpPr/>
          <p:nvPr/>
        </p:nvSpPr>
        <p:spPr>
          <a:xfrm>
            <a:off x="868680" y="1947672"/>
            <a:ext cx="4663440" cy="411480"/>
          </a:xfrm>
          <a:prstGeom prst="rect">
            <a:avLst/>
          </a:prstGeom>
          <a:noFill/>
          <a:ln/>
        </p:spPr>
        <p:txBody>
          <a:bodyPr wrap="square" rtlCol="0" anchor="t"/>
          <a:lstStyle/>
          <a:p>
            <a:pPr indent="0" marL="0">
              <a:buNone/>
            </a:pPr>
            <a:r>
              <a:rPr lang="en-US" sz="1700" b="1" dirty="0">
                <a:solidFill>
                  <a:srgbClr val="6B7280"/>
                </a:solidFill>
                <a:latin typeface="Calibri" pitchFamily="34" charset="0"/>
                <a:ea typeface="Calibri" pitchFamily="34" charset="-122"/>
                <a:cs typeface="Calibri" pitchFamily="34" charset="-120"/>
              </a:rPr>
              <a:t>The request</a:t>
            </a:r>
            <a:endParaRPr lang="en-US" sz="1700" dirty="0"/>
          </a:p>
        </p:txBody>
      </p:sp>
      <p:sp>
        <p:nvSpPr>
          <p:cNvPr id="8" name="Text 5"/>
          <p:cNvSpPr/>
          <p:nvPr/>
        </p:nvSpPr>
        <p:spPr>
          <a:xfrm>
            <a:off x="868680" y="2423160"/>
            <a:ext cx="4663440" cy="2423160"/>
          </a:xfrm>
          <a:prstGeom prst="rect">
            <a:avLst/>
          </a:prstGeom>
          <a:noFill/>
          <a:ln/>
        </p:spPr>
        <p:txBody>
          <a:bodyPr wrap="square" rtlCol="0" anchor="t"/>
          <a:lstStyle/>
          <a:p>
            <a:pPr marL="177800" indent="-177800">
              <a:spcAft>
                <a:spcPts val="700"/>
              </a:spcAft>
              <a:buSzPct val="100000"/>
              <a:buChar char="•"/>
            </a:pPr>
            <a:r>
              <a:rPr lang="en-US" sz="1700" dirty="0">
                <a:solidFill>
                  <a:srgbClr val="111827"/>
                </a:solidFill>
                <a:latin typeface="Calibri" pitchFamily="34" charset="0"/>
                <a:ea typeface="Calibri" pitchFamily="34" charset="-122"/>
                <a:cs typeface="Calibri" pitchFamily="34" charset="-120"/>
              </a:rPr>
              <a:t>A dashboard</a:t>
            </a:r>
            <a:endParaRPr lang="en-US" sz="1700" dirty="0"/>
          </a:p>
          <a:p>
            <a:pPr marL="177800" indent="-177800">
              <a:spcAft>
                <a:spcPts val="700"/>
              </a:spcAft>
              <a:buSzPct val="100000"/>
              <a:buChar char="•"/>
            </a:pPr>
            <a:r>
              <a:rPr lang="en-US" sz="1700" dirty="0">
                <a:solidFill>
                  <a:srgbClr val="111827"/>
                </a:solidFill>
                <a:latin typeface="Calibri" pitchFamily="34" charset="0"/>
                <a:ea typeface="Calibri" pitchFamily="34" charset="-122"/>
                <a:cs typeface="Calibri" pitchFamily="34" charset="-120"/>
              </a:rPr>
              <a:t>A red, yellow or green score for every account</a:t>
            </a:r>
            <a:endParaRPr lang="en-US" sz="1700" dirty="0"/>
          </a:p>
          <a:p>
            <a:pPr marL="177800" indent="-177800">
              <a:spcAft>
                <a:spcPts val="700"/>
              </a:spcAft>
              <a:buSzPct val="100000"/>
              <a:buChar char="•"/>
            </a:pPr>
            <a:r>
              <a:rPr lang="en-US" sz="1700" dirty="0">
                <a:solidFill>
                  <a:srgbClr val="111827"/>
                </a:solidFill>
                <a:latin typeface="Calibri" pitchFamily="34" charset="0"/>
                <a:ea typeface="Calibri" pitchFamily="34" charset="-122"/>
                <a:cs typeface="Calibri" pitchFamily="34" charset="-120"/>
              </a:rPr>
              <a:t>Automatic emails to accounts that turn red</a:t>
            </a:r>
            <a:endParaRPr lang="en-US" sz="1700" dirty="0"/>
          </a:p>
        </p:txBody>
      </p:sp>
      <p:sp>
        <p:nvSpPr>
          <p:cNvPr id="9" name="Shape 6"/>
          <p:cNvSpPr/>
          <p:nvPr/>
        </p:nvSpPr>
        <p:spPr>
          <a:xfrm>
            <a:off x="5989320" y="1783080"/>
            <a:ext cx="5559552" cy="3200400"/>
          </a:xfrm>
          <a:prstGeom prst="roundRect">
            <a:avLst>
              <a:gd name="adj" fmla="val 3429"/>
            </a:avLst>
          </a:prstGeom>
          <a:solidFill>
            <a:srgbClr val="E8EAFD"/>
          </a:solidFill>
          <a:ln w="12700">
            <a:solidFill>
              <a:srgbClr val="E8EAFD"/>
            </a:solidFill>
            <a:prstDash val="solid"/>
          </a:ln>
        </p:spPr>
      </p:sp>
      <p:sp>
        <p:nvSpPr>
          <p:cNvPr id="10" name="Text 7"/>
          <p:cNvSpPr/>
          <p:nvPr/>
        </p:nvSpPr>
        <p:spPr>
          <a:xfrm>
            <a:off x="6217920" y="1947672"/>
            <a:ext cx="5102352" cy="411480"/>
          </a:xfrm>
          <a:prstGeom prst="rect">
            <a:avLst/>
          </a:prstGeom>
          <a:noFill/>
          <a:ln/>
        </p:spPr>
        <p:txBody>
          <a:bodyPr wrap="square" rtlCol="0" anchor="t"/>
          <a:lstStyle/>
          <a:p>
            <a:pPr indent="0" marL="0">
              <a:buNone/>
            </a:pPr>
            <a:r>
              <a:rPr lang="en-US" sz="1700" b="1" dirty="0">
                <a:solidFill>
                  <a:srgbClr val="3B4BD8"/>
                </a:solidFill>
                <a:latin typeface="Calibri" pitchFamily="34" charset="0"/>
                <a:ea typeface="Calibri" pitchFamily="34" charset="-122"/>
                <a:cs typeface="Calibri" pitchFamily="34" charset="-120"/>
              </a:rPr>
              <a:t>What we were told</a:t>
            </a:r>
            <a:endParaRPr lang="en-US" sz="1700" dirty="0"/>
          </a:p>
        </p:txBody>
      </p:sp>
      <p:sp>
        <p:nvSpPr>
          <p:cNvPr id="11" name="Text 8"/>
          <p:cNvSpPr/>
          <p:nvPr/>
        </p:nvSpPr>
        <p:spPr>
          <a:xfrm>
            <a:off x="6217920" y="2423160"/>
            <a:ext cx="5102352" cy="2423160"/>
          </a:xfrm>
          <a:prstGeom prst="rect">
            <a:avLst/>
          </a:prstGeom>
          <a:noFill/>
          <a:ln/>
        </p:spPr>
        <p:txBody>
          <a:bodyPr wrap="square" rtlCol="0" anchor="t"/>
          <a:lstStyle/>
          <a:p>
            <a:pPr marL="177800" indent="-177800">
              <a:spcAft>
                <a:spcPts val="700"/>
              </a:spcAft>
              <a:buSzPct val="100000"/>
              <a:buChar char="•"/>
            </a:pPr>
            <a:r>
              <a:rPr lang="en-US" sz="1600" dirty="0">
                <a:solidFill>
                  <a:srgbClr val="111827"/>
                </a:solidFill>
                <a:latin typeface="Calibri" pitchFamily="34" charset="0"/>
                <a:ea typeface="Calibri" pitchFamily="34" charset="-122"/>
                <a:cs typeface="Calibri" pitchFamily="34" charset="-120"/>
              </a:rPr>
              <a:t>Each manager (CSM) looks after about 120 accounts</a:t>
            </a:r>
            <a:endParaRPr lang="en-US" sz="1600" dirty="0"/>
          </a:p>
          <a:p>
            <a:pPr marL="177800" indent="-177800">
              <a:spcAft>
                <a:spcPts val="700"/>
              </a:spcAft>
              <a:buSzPct val="100000"/>
              <a:buChar char="•"/>
            </a:pPr>
            <a:r>
              <a:rPr lang="en-US" sz="1600" dirty="0">
                <a:solidFill>
                  <a:srgbClr val="111827"/>
                </a:solidFill>
                <a:latin typeface="Calibri" pitchFamily="34" charset="0"/>
                <a:ea typeface="Calibri" pitchFamily="34" charset="-122"/>
                <a:cs typeface="Calibri" pitchFamily="34" charset="-120"/>
              </a:rPr>
              <a:t>Warning signs sit in five tools: Salesforce, Gmail, Zendesk, product events, Stripe</a:t>
            </a:r>
            <a:endParaRPr lang="en-US" sz="1600" dirty="0"/>
          </a:p>
          <a:p>
            <a:pPr marL="177800" indent="-177800">
              <a:spcAft>
                <a:spcPts val="700"/>
              </a:spcAft>
              <a:buSzPct val="100000"/>
              <a:buChar char="•"/>
            </a:pPr>
            <a:r>
              <a:rPr lang="en-US" sz="1600" dirty="0">
                <a:solidFill>
                  <a:srgbClr val="111827"/>
                </a:solidFill>
                <a:latin typeface="Calibri" pitchFamily="34" charset="0"/>
                <a:ea typeface="Calibri" pitchFamily="34" charset="-122"/>
                <a:cs typeface="Calibri" pitchFamily="34" charset="-120"/>
              </a:rPr>
              <a:t>Two renewals were lost last quarter, with the signs already in the data</a:t>
            </a:r>
            <a:endParaRPr lang="en-US" sz="1600" dirty="0"/>
          </a:p>
        </p:txBody>
      </p:sp>
      <p:sp>
        <p:nvSpPr>
          <p:cNvPr id="12" name="Shape 9"/>
          <p:cNvSpPr/>
          <p:nvPr/>
        </p:nvSpPr>
        <p:spPr>
          <a:xfrm>
            <a:off x="640080" y="5257800"/>
            <a:ext cx="10908792" cy="640080"/>
          </a:xfrm>
          <a:prstGeom prst="roundRect">
            <a:avLst>
              <a:gd name="adj" fmla="val 17143"/>
            </a:avLst>
          </a:prstGeom>
          <a:solidFill>
            <a:srgbClr val="E8EAFD"/>
          </a:solidFill>
          <a:ln w="12700">
            <a:solidFill>
              <a:srgbClr val="E8EAFD"/>
            </a:solidFill>
            <a:prstDash val="solid"/>
          </a:ln>
        </p:spPr>
      </p:sp>
      <p:sp>
        <p:nvSpPr>
          <p:cNvPr id="13" name="Text 10"/>
          <p:cNvSpPr/>
          <p:nvPr/>
        </p:nvSpPr>
        <p:spPr>
          <a:xfrm>
            <a:off x="868680" y="5257800"/>
            <a:ext cx="10451592" cy="640080"/>
          </a:xfrm>
          <a:prstGeom prst="rect">
            <a:avLst/>
          </a:prstGeom>
          <a:noFill/>
          <a:ln/>
        </p:spPr>
        <p:txBody>
          <a:bodyPr wrap="square"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The assignment: generated data, a model learned from it, a nightly run, several companies kept apart, everything traceable.</a:t>
            </a:r>
            <a:endParaRPr lang="en-US" sz="1500" dirty="0"/>
          </a:p>
        </p:txBody>
      </p:sp>
      <p:sp>
        <p:nvSpPr>
          <p:cNvPr id="14" name="Text 11"/>
          <p:cNvSpPr/>
          <p:nvPr/>
        </p:nvSpPr>
        <p:spPr>
          <a:xfrm>
            <a:off x="640080" y="6035040"/>
            <a:ext cx="10908792" cy="274320"/>
          </a:xfrm>
          <a:prstGeom prst="rect">
            <a:avLst/>
          </a:prstGeom>
          <a:noFill/>
          <a:ln/>
        </p:spPr>
        <p:txBody>
          <a:bodyPr wrap="square" rtlCol="0" anchor="ctr"/>
          <a:lstStyle/>
          <a:p>
            <a:pPr indent="0" marL="0">
              <a:buNone/>
            </a:pPr>
            <a:r>
              <a:rPr lang="en-US" sz="1100" dirty="0">
                <a:solidFill>
                  <a:srgbClr val="6B7280"/>
                </a:solidFill>
                <a:latin typeface="Calibri" pitchFamily="34" charset="0"/>
                <a:ea typeface="Calibri" pitchFamily="34" charset="-122"/>
                <a:cs typeface="Calibri" pitchFamily="34" charset="-120"/>
              </a:rPr>
              <a:t>Renewal = the moment a customer decides whether to keep paying. CSM = customer success manager.</a:t>
            </a:r>
            <a:endParaRPr lang="en-US" sz="1100" dirty="0"/>
          </a:p>
        </p:txBody>
      </p:sp>
      <p:sp>
        <p:nvSpPr>
          <p:cNvPr id="25" name="Slide Number Placeholder 0"/>
          <p:cNvSpPr>
            <a:spLocks noGrp="1"/>
          </p:cNvSpPr>
          <p:nvPr>
            <p:ph type="sldNum" sz="quarter" idx="4294967295"/>
          </p:nvPr>
        </p:nvSpPr>
        <p:spPr>
          <a:xfrm>
            <a:off x="1088136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7315200" cy="274320"/>
          </a:xfrm>
          <a:prstGeom prst="rect">
            <a:avLst/>
          </a:prstGeom>
          <a:noFill/>
          <a:ln/>
        </p:spPr>
        <p:txBody>
          <a:bodyPr wrap="square" rtlCol="0" anchor="ctr"/>
          <a:lstStyle/>
          <a:p>
            <a:pPr indent="0" marL="0">
              <a:buNone/>
            </a:pPr>
            <a:r>
              <a:rPr lang="en-US" sz="1200" b="1" spc="300" kern="0" dirty="0">
                <a:solidFill>
                  <a:srgbClr val="3B4BD8"/>
                </a:solidFill>
                <a:latin typeface="Calibri" pitchFamily="34" charset="0"/>
                <a:ea typeface="Calibri" pitchFamily="34" charset="-122"/>
                <a:cs typeface="Calibri" pitchFamily="34" charset="-120"/>
              </a:rPr>
              <a:t>2 · HOW I PERCEIVE IT</a:t>
            </a:r>
            <a:endParaRPr lang="en-US" sz="1200" dirty="0"/>
          </a:p>
        </p:txBody>
      </p:sp>
      <p:sp>
        <p:nvSpPr>
          <p:cNvPr id="3" name="Text 1"/>
          <p:cNvSpPr/>
          <p:nvPr/>
        </p:nvSpPr>
        <p:spPr>
          <a:xfrm>
            <a:off x="640080" y="658368"/>
            <a:ext cx="10908792" cy="868680"/>
          </a:xfrm>
          <a:prstGeom prst="rect">
            <a:avLst/>
          </a:prstGeom>
          <a:noFill/>
          <a:ln/>
        </p:spPr>
        <p:txBody>
          <a:bodyPr wrap="square" rtlCol="0" anchor="t"/>
          <a:lstStyle/>
          <a:p>
            <a:pPr indent="0" marL="0">
              <a:buNone/>
            </a:pPr>
            <a:r>
              <a:rPr lang="en-US" sz="2800" b="1" dirty="0">
                <a:solidFill>
                  <a:srgbClr val="111827"/>
                </a:solidFill>
                <a:latin typeface="Calibri" pitchFamily="34" charset="0"/>
                <a:ea typeface="Calibri" pitchFamily="34" charset="-122"/>
                <a:cs typeface="Calibri" pitchFamily="34" charset="-120"/>
              </a:rPr>
              <a:t>The real need is a call list, not a dashboard</a:t>
            </a:r>
            <a:endParaRPr lang="en-US" sz="2800" dirty="0"/>
          </a:p>
        </p:txBody>
      </p:sp>
      <p:sp>
        <p:nvSpPr>
          <p:cNvPr id="4" name="Text 2"/>
          <p:cNvSpPr/>
          <p:nvPr/>
        </p:nvSpPr>
        <p:spPr>
          <a:xfrm>
            <a:off x="640080" y="6419088"/>
            <a:ext cx="5486400" cy="27432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Renewal Risk Call List · Fello take-home</a:t>
            </a:r>
            <a:endParaRPr lang="en-US" sz="1000" dirty="0"/>
          </a:p>
        </p:txBody>
      </p:sp>
      <p:sp>
        <p:nvSpPr>
          <p:cNvPr id="6" name="Shape 3"/>
          <p:cNvSpPr/>
          <p:nvPr/>
        </p:nvSpPr>
        <p:spPr>
          <a:xfrm>
            <a:off x="640080" y="1783080"/>
            <a:ext cx="3502152" cy="3200400"/>
          </a:xfrm>
          <a:prstGeom prst="roundRect">
            <a:avLst>
              <a:gd name="adj" fmla="val 3429"/>
            </a:avLst>
          </a:prstGeom>
          <a:solidFill>
            <a:srgbClr val="F4F5FB"/>
          </a:solidFill>
          <a:ln w="12700">
            <a:solidFill>
              <a:srgbClr val="F4F5FB"/>
            </a:solidFill>
            <a:prstDash val="solid"/>
          </a:ln>
        </p:spPr>
      </p:sp>
      <p:sp>
        <p:nvSpPr>
          <p:cNvPr id="7" name="Text 4"/>
          <p:cNvSpPr/>
          <p:nvPr/>
        </p:nvSpPr>
        <p:spPr>
          <a:xfrm>
            <a:off x="868680" y="1938528"/>
            <a:ext cx="3017520" cy="274320"/>
          </a:xfrm>
          <a:prstGeom prst="rect">
            <a:avLst/>
          </a:prstGeom>
          <a:noFill/>
          <a:ln/>
        </p:spPr>
        <p:txBody>
          <a:bodyPr wrap="square" rtlCol="0" anchor="ctr"/>
          <a:lstStyle/>
          <a:p>
            <a:pPr indent="0" marL="0">
              <a:buNone/>
            </a:pPr>
            <a:r>
              <a:rPr lang="en-US" sz="1200" b="1" spc="200" kern="0" dirty="0">
                <a:solidFill>
                  <a:srgbClr val="3B4BD8"/>
                </a:solidFill>
                <a:latin typeface="Calibri" pitchFamily="34" charset="0"/>
                <a:ea typeface="Calibri" pitchFamily="34" charset="-122"/>
                <a:cs typeface="Calibri" pitchFamily="34" charset="-120"/>
              </a:rPr>
              <a:t>TODAY</a:t>
            </a:r>
            <a:endParaRPr lang="en-US" sz="1200" dirty="0"/>
          </a:p>
        </p:txBody>
      </p:sp>
      <p:sp>
        <p:nvSpPr>
          <p:cNvPr id="8" name="Text 5"/>
          <p:cNvSpPr/>
          <p:nvPr/>
        </p:nvSpPr>
        <p:spPr>
          <a:xfrm>
            <a:off x="868680" y="2240280"/>
            <a:ext cx="3017520" cy="640080"/>
          </a:xfrm>
          <a:prstGeom prst="rect">
            <a:avLst/>
          </a:prstGeom>
          <a:noFill/>
          <a:ln/>
        </p:spPr>
        <p:txBody>
          <a:bodyPr wrap="square" rtlCol="0" anchor="t"/>
          <a:lstStyle/>
          <a:p>
            <a:pPr indent="0" marL="0">
              <a:buNone/>
            </a:pPr>
            <a:r>
              <a:rPr lang="en-US" sz="1800" b="1" dirty="0">
                <a:solidFill>
                  <a:srgbClr val="111827"/>
                </a:solidFill>
                <a:latin typeface="Calibri" pitchFamily="34" charset="0"/>
                <a:ea typeface="Calibri" pitchFamily="34" charset="-122"/>
                <a:cs typeface="Calibri" pitchFamily="34" charset="-120"/>
              </a:rPr>
              <a:t>A manager guesses</a:t>
            </a:r>
            <a:endParaRPr lang="en-US" sz="1800" dirty="0"/>
          </a:p>
        </p:txBody>
      </p:sp>
      <p:sp>
        <p:nvSpPr>
          <p:cNvPr id="9" name="Text 6"/>
          <p:cNvSpPr/>
          <p:nvPr/>
        </p:nvSpPr>
        <p:spPr>
          <a:xfrm>
            <a:off x="868680" y="2926080"/>
            <a:ext cx="3017520" cy="1920240"/>
          </a:xfrm>
          <a:prstGeom prst="rect">
            <a:avLst/>
          </a:prstGeom>
          <a:noFill/>
          <a:ln/>
        </p:spPr>
        <p:txBody>
          <a:bodyPr wrap="square" rtlCol="0" anchor="t"/>
          <a:lstStyle/>
          <a:p>
            <a:pPr marL="177800" indent="-177800">
              <a:spcAft>
                <a:spcPts val="800"/>
              </a:spcAft>
              <a:buSzPct val="100000"/>
              <a:buChar char="•"/>
            </a:pPr>
            <a:r>
              <a:rPr lang="en-US" sz="1400" dirty="0">
                <a:solidFill>
                  <a:srgbClr val="111827"/>
                </a:solidFill>
                <a:latin typeface="Calibri" pitchFamily="34" charset="0"/>
                <a:ea typeface="Calibri" pitchFamily="34" charset="-122"/>
                <a:cs typeface="Calibri" pitchFamily="34" charset="-120"/>
              </a:rPr>
              <a:t>120 accounts, limited time</a:t>
            </a:r>
            <a:endParaRPr lang="en-US" sz="1400" dirty="0"/>
          </a:p>
          <a:p>
            <a:pPr marL="177800" indent="-177800">
              <a:spcAft>
                <a:spcPts val="800"/>
              </a:spcAft>
              <a:buSzPct val="100000"/>
              <a:buChar char="•"/>
            </a:pPr>
            <a:r>
              <a:rPr lang="en-US" sz="1400" dirty="0">
                <a:solidFill>
                  <a:srgbClr val="111827"/>
                </a:solidFill>
                <a:latin typeface="Calibri" pitchFamily="34" charset="0"/>
                <a:ea typeface="Calibri" pitchFamily="34" charset="-122"/>
                <a:cs typeface="Calibri" pitchFamily="34" charset="-120"/>
              </a:rPr>
              <a:t>Signals in five tools</a:t>
            </a:r>
            <a:endParaRPr lang="en-US" sz="1400" dirty="0"/>
          </a:p>
          <a:p>
            <a:pPr marL="177800" indent="-177800">
              <a:spcAft>
                <a:spcPts val="800"/>
              </a:spcAft>
              <a:buSzPct val="100000"/>
              <a:buChar char="•"/>
            </a:pPr>
            <a:r>
              <a:rPr lang="en-US" sz="1400" dirty="0">
                <a:solidFill>
                  <a:srgbClr val="111827"/>
                </a:solidFill>
                <a:latin typeface="Calibri" pitchFamily="34" charset="0"/>
                <a:ea typeface="Calibri" pitchFamily="34" charset="-122"/>
                <a:cs typeface="Calibri" pitchFamily="34" charset="-120"/>
              </a:rPr>
              <a:t>Nobody sees the whole picture</a:t>
            </a:r>
            <a:endParaRPr lang="en-US" sz="1400" dirty="0"/>
          </a:p>
        </p:txBody>
      </p:sp>
      <p:sp>
        <p:nvSpPr>
          <p:cNvPr id="10" name="Shape 7"/>
          <p:cNvSpPr/>
          <p:nvPr/>
        </p:nvSpPr>
        <p:spPr>
          <a:xfrm>
            <a:off x="4343400" y="1783080"/>
            <a:ext cx="3502152" cy="3200400"/>
          </a:xfrm>
          <a:prstGeom prst="roundRect">
            <a:avLst>
              <a:gd name="adj" fmla="val 3429"/>
            </a:avLst>
          </a:prstGeom>
          <a:solidFill>
            <a:srgbClr val="E8EAFD"/>
          </a:solidFill>
          <a:ln w="12700">
            <a:solidFill>
              <a:srgbClr val="E8EAFD"/>
            </a:solidFill>
            <a:prstDash val="solid"/>
          </a:ln>
        </p:spPr>
      </p:sp>
      <p:sp>
        <p:nvSpPr>
          <p:cNvPr id="11" name="Text 8"/>
          <p:cNvSpPr/>
          <p:nvPr/>
        </p:nvSpPr>
        <p:spPr>
          <a:xfrm>
            <a:off x="4572000" y="1938528"/>
            <a:ext cx="3017520" cy="274320"/>
          </a:xfrm>
          <a:prstGeom prst="rect">
            <a:avLst/>
          </a:prstGeom>
          <a:noFill/>
          <a:ln/>
        </p:spPr>
        <p:txBody>
          <a:bodyPr wrap="square" rtlCol="0" anchor="ctr"/>
          <a:lstStyle/>
          <a:p>
            <a:pPr indent="0" marL="0">
              <a:buNone/>
            </a:pPr>
            <a:r>
              <a:rPr lang="en-US" sz="1200" b="1" spc="200" kern="0" dirty="0">
                <a:solidFill>
                  <a:srgbClr val="3B4BD8"/>
                </a:solidFill>
                <a:latin typeface="Calibri" pitchFamily="34" charset="0"/>
                <a:ea typeface="Calibri" pitchFamily="34" charset="-122"/>
                <a:cs typeface="Calibri" pitchFamily="34" charset="-120"/>
              </a:rPr>
              <a:t>WHAT IS NEEDED</a:t>
            </a:r>
            <a:endParaRPr lang="en-US" sz="1200" dirty="0"/>
          </a:p>
        </p:txBody>
      </p:sp>
      <p:sp>
        <p:nvSpPr>
          <p:cNvPr id="12" name="Text 9"/>
          <p:cNvSpPr/>
          <p:nvPr/>
        </p:nvSpPr>
        <p:spPr>
          <a:xfrm>
            <a:off x="4572000" y="2240280"/>
            <a:ext cx="3017520" cy="640080"/>
          </a:xfrm>
          <a:prstGeom prst="rect">
            <a:avLst/>
          </a:prstGeom>
          <a:noFill/>
          <a:ln/>
        </p:spPr>
        <p:txBody>
          <a:bodyPr wrap="square" rtlCol="0" anchor="t"/>
          <a:lstStyle/>
          <a:p>
            <a:pPr indent="0" marL="0">
              <a:buNone/>
            </a:pPr>
            <a:r>
              <a:rPr lang="en-US" sz="1800" b="1" dirty="0">
                <a:solidFill>
                  <a:srgbClr val="111827"/>
                </a:solidFill>
                <a:latin typeface="Calibri" pitchFamily="34" charset="0"/>
                <a:ea typeface="Calibri" pitchFamily="34" charset="-122"/>
                <a:cs typeface="Calibri" pitchFamily="34" charset="-120"/>
              </a:rPr>
              <a:t>A short ranked list, every Monday</a:t>
            </a:r>
            <a:endParaRPr lang="en-US" sz="1800" dirty="0"/>
          </a:p>
        </p:txBody>
      </p:sp>
      <p:sp>
        <p:nvSpPr>
          <p:cNvPr id="13" name="Text 10"/>
          <p:cNvSpPr/>
          <p:nvPr/>
        </p:nvSpPr>
        <p:spPr>
          <a:xfrm>
            <a:off x="4572000" y="2926080"/>
            <a:ext cx="3017520" cy="1920240"/>
          </a:xfrm>
          <a:prstGeom prst="rect">
            <a:avLst/>
          </a:prstGeom>
          <a:noFill/>
          <a:ln/>
        </p:spPr>
        <p:txBody>
          <a:bodyPr wrap="square" rtlCol="0" anchor="t"/>
          <a:lstStyle/>
          <a:p>
            <a:pPr marL="177800" indent="-177800">
              <a:spcAft>
                <a:spcPts val="800"/>
              </a:spcAft>
              <a:buSzPct val="100000"/>
              <a:buChar char="•"/>
            </a:pPr>
            <a:r>
              <a:rPr lang="en-US" sz="1400" dirty="0">
                <a:solidFill>
                  <a:srgbClr val="111827"/>
                </a:solidFill>
                <a:latin typeface="Calibri" pitchFamily="34" charset="0"/>
                <a:ea typeface="Calibri" pitchFamily="34" charset="-122"/>
                <a:cs typeface="Calibri" pitchFamily="34" charset="-120"/>
              </a:rPr>
              <a:t>Who to call first, and why</a:t>
            </a:r>
            <a:endParaRPr lang="en-US" sz="1400" dirty="0"/>
          </a:p>
          <a:p>
            <a:pPr marL="177800" indent="-177800">
              <a:spcAft>
                <a:spcPts val="800"/>
              </a:spcAft>
              <a:buSzPct val="100000"/>
              <a:buChar char="•"/>
            </a:pPr>
            <a:r>
              <a:rPr lang="en-US" sz="1400" dirty="0">
                <a:solidFill>
                  <a:srgbClr val="111827"/>
                </a:solidFill>
                <a:latin typeface="Calibri" pitchFamily="34" charset="0"/>
                <a:ea typeface="Calibri" pitchFamily="34" charset="-122"/>
                <a:cs typeface="Calibri" pitchFamily="34" charset="-120"/>
              </a:rPr>
              <a:t>I assume 15 calls a week: to confirm</a:t>
            </a:r>
            <a:endParaRPr lang="en-US" sz="1400" dirty="0"/>
          </a:p>
        </p:txBody>
      </p:sp>
      <p:sp>
        <p:nvSpPr>
          <p:cNvPr id="14" name="Shape 11"/>
          <p:cNvSpPr/>
          <p:nvPr/>
        </p:nvSpPr>
        <p:spPr>
          <a:xfrm>
            <a:off x="8046720" y="1783080"/>
            <a:ext cx="3502152" cy="3200400"/>
          </a:xfrm>
          <a:prstGeom prst="roundRect">
            <a:avLst>
              <a:gd name="adj" fmla="val 3429"/>
            </a:avLst>
          </a:prstGeom>
          <a:solidFill>
            <a:srgbClr val="F4F5FB"/>
          </a:solidFill>
          <a:ln w="12700">
            <a:solidFill>
              <a:srgbClr val="F4F5FB"/>
            </a:solidFill>
            <a:prstDash val="solid"/>
          </a:ln>
        </p:spPr>
      </p:sp>
      <p:sp>
        <p:nvSpPr>
          <p:cNvPr id="15" name="Text 12"/>
          <p:cNvSpPr/>
          <p:nvPr/>
        </p:nvSpPr>
        <p:spPr>
          <a:xfrm>
            <a:off x="8275320" y="1938528"/>
            <a:ext cx="3017520" cy="274320"/>
          </a:xfrm>
          <a:prstGeom prst="rect">
            <a:avLst/>
          </a:prstGeom>
          <a:noFill/>
          <a:ln/>
        </p:spPr>
        <p:txBody>
          <a:bodyPr wrap="square" rtlCol="0" anchor="ctr"/>
          <a:lstStyle/>
          <a:p>
            <a:pPr indent="0" marL="0">
              <a:buNone/>
            </a:pPr>
            <a:r>
              <a:rPr lang="en-US" sz="1200" b="1" spc="200" kern="0" dirty="0">
                <a:solidFill>
                  <a:srgbClr val="3B4BD8"/>
                </a:solidFill>
                <a:latin typeface="Calibri" pitchFamily="34" charset="0"/>
                <a:ea typeface="Calibri" pitchFamily="34" charset="-122"/>
                <a:cs typeface="Calibri" pitchFamily="34" charset="-120"/>
              </a:rPr>
              <a:t>WHAT SUCCESS LOOKS LIKE</a:t>
            </a:r>
            <a:endParaRPr lang="en-US" sz="1200" dirty="0"/>
          </a:p>
        </p:txBody>
      </p:sp>
      <p:sp>
        <p:nvSpPr>
          <p:cNvPr id="16" name="Text 13"/>
          <p:cNvSpPr/>
          <p:nvPr/>
        </p:nvSpPr>
        <p:spPr>
          <a:xfrm>
            <a:off x="8275320" y="2240280"/>
            <a:ext cx="3017520" cy="640080"/>
          </a:xfrm>
          <a:prstGeom prst="rect">
            <a:avLst/>
          </a:prstGeom>
          <a:noFill/>
          <a:ln/>
        </p:spPr>
        <p:txBody>
          <a:bodyPr wrap="square" rtlCol="0" anchor="t"/>
          <a:lstStyle/>
          <a:p>
            <a:pPr indent="0" marL="0">
              <a:buNone/>
            </a:pPr>
            <a:r>
              <a:rPr lang="en-US" sz="1800" b="1" dirty="0">
                <a:solidFill>
                  <a:srgbClr val="111827"/>
                </a:solidFill>
                <a:latin typeface="Calibri" pitchFamily="34" charset="0"/>
                <a:ea typeface="Calibri" pitchFamily="34" charset="-122"/>
                <a:cs typeface="Calibri" pitchFamily="34" charset="-120"/>
              </a:rPr>
              <a:t>Three things</a:t>
            </a:r>
            <a:endParaRPr lang="en-US" sz="1800" dirty="0"/>
          </a:p>
        </p:txBody>
      </p:sp>
      <p:sp>
        <p:nvSpPr>
          <p:cNvPr id="17" name="Text 14"/>
          <p:cNvSpPr/>
          <p:nvPr/>
        </p:nvSpPr>
        <p:spPr>
          <a:xfrm>
            <a:off x="8275320" y="2926080"/>
            <a:ext cx="3017520" cy="1920240"/>
          </a:xfrm>
          <a:prstGeom prst="rect">
            <a:avLst/>
          </a:prstGeom>
          <a:noFill/>
          <a:ln/>
        </p:spPr>
        <p:txBody>
          <a:bodyPr wrap="square" rtlCol="0" anchor="t"/>
          <a:lstStyle/>
          <a:p>
            <a:pPr marL="177800" indent="-177800">
              <a:spcAft>
                <a:spcPts val="800"/>
              </a:spcAft>
              <a:buSzPct val="100000"/>
              <a:buChar char="•"/>
            </a:pPr>
            <a:r>
              <a:rPr lang="en-US" sz="1400" dirty="0">
                <a:solidFill>
                  <a:srgbClr val="111827"/>
                </a:solidFill>
                <a:latin typeface="Calibri" pitchFamily="34" charset="0"/>
                <a:ea typeface="Calibri" pitchFamily="34" charset="-122"/>
                <a:cs typeface="Calibri" pitchFamily="34" charset="-120"/>
              </a:rPr>
              <a:t>The right accounts near the top</a:t>
            </a:r>
            <a:endParaRPr lang="en-US" sz="1400" dirty="0"/>
          </a:p>
          <a:p>
            <a:pPr marL="177800" indent="-177800">
              <a:spcAft>
                <a:spcPts val="800"/>
              </a:spcAft>
              <a:buSzPct val="100000"/>
              <a:buChar char="•"/>
            </a:pPr>
            <a:r>
              <a:rPr lang="en-US" sz="1400" dirty="0">
                <a:solidFill>
                  <a:srgbClr val="111827"/>
                </a:solidFill>
                <a:latin typeface="Calibri" pitchFamily="34" charset="0"/>
                <a:ea typeface="Calibri" pitchFamily="34" charset="-122"/>
                <a:cs typeface="Calibri" pitchFamily="34" charset="-120"/>
              </a:rPr>
              <a:t>Every reason checkable against real records</a:t>
            </a:r>
            <a:endParaRPr lang="en-US" sz="1400" dirty="0"/>
          </a:p>
          <a:p>
            <a:pPr marL="177800" indent="-177800">
              <a:spcAft>
                <a:spcPts val="800"/>
              </a:spcAft>
              <a:buSzPct val="100000"/>
              <a:buChar char="•"/>
            </a:pPr>
            <a:r>
              <a:rPr lang="en-US" sz="1400" dirty="0">
                <a:solidFill>
                  <a:srgbClr val="111827"/>
                </a:solidFill>
                <a:latin typeface="Calibri" pitchFamily="34" charset="0"/>
                <a:ea typeface="Calibri" pitchFamily="34" charset="-122"/>
                <a:cs typeface="Calibri" pitchFamily="34" charset="-120"/>
              </a:rPr>
              <a:t>Runs by itself, and says what it does not know</a:t>
            </a:r>
            <a:endParaRPr lang="en-US" sz="1400" dirty="0"/>
          </a:p>
        </p:txBody>
      </p:sp>
      <p:sp>
        <p:nvSpPr>
          <p:cNvPr id="18" name="Shape 15"/>
          <p:cNvSpPr/>
          <p:nvPr/>
        </p:nvSpPr>
        <p:spPr>
          <a:xfrm>
            <a:off x="640080" y="5257800"/>
            <a:ext cx="10908792" cy="640080"/>
          </a:xfrm>
          <a:prstGeom prst="roundRect">
            <a:avLst>
              <a:gd name="adj" fmla="val 17143"/>
            </a:avLst>
          </a:prstGeom>
          <a:solidFill>
            <a:srgbClr val="E8EAFD"/>
          </a:solidFill>
          <a:ln w="12700">
            <a:solidFill>
              <a:srgbClr val="E8EAFD"/>
            </a:solidFill>
            <a:prstDash val="solid"/>
          </a:ln>
        </p:spPr>
      </p:sp>
      <p:sp>
        <p:nvSpPr>
          <p:cNvPr id="19" name="Text 16"/>
          <p:cNvSpPr/>
          <p:nvPr/>
        </p:nvSpPr>
        <p:spPr>
          <a:xfrm>
            <a:off x="868680" y="5257800"/>
            <a:ext cx="10451592" cy="640080"/>
          </a:xfrm>
          <a:prstGeom prst="rect">
            <a:avLst/>
          </a:prstGeom>
          <a:noFill/>
          <a:ln/>
        </p:spPr>
        <p:txBody>
          <a:bodyPr wrap="square"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Two lost renewals cannot train or test a model. It needs the full renewal history, so I generate it.</a:t>
            </a:r>
            <a:endParaRPr lang="en-US" sz="1500" dirty="0"/>
          </a:p>
        </p:txBody>
      </p:sp>
      <p:sp>
        <p:nvSpPr>
          <p:cNvPr id="25" name="Slide Number Placeholder 0"/>
          <p:cNvSpPr>
            <a:spLocks noGrp="1"/>
          </p:cNvSpPr>
          <p:nvPr>
            <p:ph type="sldNum" sz="quarter" idx="4294967295"/>
          </p:nvPr>
        </p:nvSpPr>
        <p:spPr>
          <a:xfrm>
            <a:off x="1088136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7315200" cy="274320"/>
          </a:xfrm>
          <a:prstGeom prst="rect">
            <a:avLst/>
          </a:prstGeom>
          <a:noFill/>
          <a:ln/>
        </p:spPr>
        <p:txBody>
          <a:bodyPr wrap="square" rtlCol="0" anchor="ctr"/>
          <a:lstStyle/>
          <a:p>
            <a:pPr indent="0" marL="0">
              <a:buNone/>
            </a:pPr>
            <a:r>
              <a:rPr lang="en-US" sz="1200" b="1" spc="300" kern="0" dirty="0">
                <a:solidFill>
                  <a:srgbClr val="3B4BD8"/>
                </a:solidFill>
                <a:latin typeface="Calibri" pitchFamily="34" charset="0"/>
                <a:ea typeface="Calibri" pitchFamily="34" charset="-122"/>
                <a:cs typeface="Calibri" pitchFamily="34" charset="-120"/>
              </a:rPr>
              <a:t>3 · POSSIBLE SOLUTIONS</a:t>
            </a:r>
            <a:endParaRPr lang="en-US" sz="1200" dirty="0"/>
          </a:p>
        </p:txBody>
      </p:sp>
      <p:sp>
        <p:nvSpPr>
          <p:cNvPr id="3" name="Text 1"/>
          <p:cNvSpPr/>
          <p:nvPr/>
        </p:nvSpPr>
        <p:spPr>
          <a:xfrm>
            <a:off x="640080" y="658368"/>
            <a:ext cx="10908792" cy="868680"/>
          </a:xfrm>
          <a:prstGeom prst="rect">
            <a:avLst/>
          </a:prstGeom>
          <a:noFill/>
          <a:ln/>
        </p:spPr>
        <p:txBody>
          <a:bodyPr wrap="square" rtlCol="0" anchor="t"/>
          <a:lstStyle/>
          <a:p>
            <a:pPr indent="0" marL="0">
              <a:buNone/>
            </a:pPr>
            <a:r>
              <a:rPr lang="en-US" sz="2800" b="1" dirty="0">
                <a:solidFill>
                  <a:srgbClr val="111827"/>
                </a:solidFill>
                <a:latin typeface="Calibri" pitchFamily="34" charset="0"/>
                <a:ea typeface="Calibri" pitchFamily="34" charset="-122"/>
                <a:cs typeface="Calibri" pitchFamily="34" charset="-120"/>
              </a:rPr>
              <a:t>Five ways to solve it</a:t>
            </a:r>
            <a:endParaRPr lang="en-US" sz="2800" dirty="0"/>
          </a:p>
        </p:txBody>
      </p:sp>
      <p:sp>
        <p:nvSpPr>
          <p:cNvPr id="4" name="Text 2"/>
          <p:cNvSpPr/>
          <p:nvPr/>
        </p:nvSpPr>
        <p:spPr>
          <a:xfrm>
            <a:off x="640080" y="6419088"/>
            <a:ext cx="5486400" cy="27432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Renewal Risk Call List · Fello take-home</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914400"/>
        </p:xfrm>
        <a:graphic>
          <a:graphicData uri="http://schemas.openxmlformats.org/drawingml/2006/table">
            <a:tbl>
              <a:tblPr/>
              <a:tblGrid>
                <a:gridCol w="3200400"/>
                <a:gridCol w="3291840"/>
                <a:gridCol w="4416552"/>
              </a:tblGrid>
              <a:tr h="0">
                <a:tc>
                  <a:txBody>
                    <a:bodyPr/>
                    <a:lstStyle/>
                    <a:p>
                      <a:pPr indent="0" marL="0">
                        <a:buNone/>
                      </a:pPr>
                      <a:r>
                        <a:rPr lang="en-US" sz="1400" b="1" dirty="0">
                          <a:solidFill>
                            <a:srgbClr val="6B7280"/>
                          </a:solidFill>
                          <a:latin typeface="Calibri" pitchFamily="34" charset="0"/>
                          <a:ea typeface="Calibri" pitchFamily="34" charset="-122"/>
                          <a:cs typeface="Calibri" pitchFamily="34" charset="-120"/>
                        </a:rPr>
                        <a:t>Option</a:t>
                      </a:r>
                      <a:endParaRPr lang="en-US" sz="1400" dirty="0">
                        <a:latin typeface="Calibri" charset="0"/>
                        <a:ea typeface="Calibri" charset="0"/>
                        <a:cs typeface="Calibri" charset="0"/>
                      </a:endParaRPr>
                    </a:p>
                  </a:txBody>
                  <a:tcPr marL="128016" marR="128016" marT="100584" marB="100584"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F4F5FB"/>
                    </a:solidFill>
                  </a:tcPr>
                </a:tc>
                <a:tc>
                  <a:txBody>
                    <a:bodyPr/>
                    <a:lstStyle/>
                    <a:p>
                      <a:pPr indent="0" marL="0">
                        <a:buNone/>
                      </a:pPr>
                      <a:r>
                        <a:rPr lang="en-US" sz="1400" b="1" dirty="0">
                          <a:solidFill>
                            <a:srgbClr val="6B7280"/>
                          </a:solidFill>
                          <a:latin typeface="Calibri" pitchFamily="34" charset="0"/>
                          <a:ea typeface="Calibri" pitchFamily="34" charset="-122"/>
                          <a:cs typeface="Calibri" pitchFamily="34" charset="-120"/>
                        </a:rPr>
                        <a:t>What it gives</a:t>
                      </a:r>
                      <a:endParaRPr lang="en-US" sz="1400" dirty="0">
                        <a:latin typeface="Calibri" charset="0"/>
                        <a:ea typeface="Calibri" charset="0"/>
                        <a:cs typeface="Calibri" charset="0"/>
                      </a:endParaRPr>
                    </a:p>
                  </a:txBody>
                  <a:tcPr marL="128016" marR="128016" marT="100584" marB="100584"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F4F5FB"/>
                    </a:solidFill>
                  </a:tcPr>
                </a:tc>
                <a:tc>
                  <a:txBody>
                    <a:bodyPr/>
                    <a:lstStyle/>
                    <a:p>
                      <a:pPr indent="0" marL="0">
                        <a:buNone/>
                      </a:pPr>
                      <a:r>
                        <a:rPr lang="en-US" sz="1400" b="1" dirty="0">
                          <a:solidFill>
                            <a:srgbClr val="6B7280"/>
                          </a:solidFill>
                          <a:latin typeface="Calibri" pitchFamily="34" charset="0"/>
                          <a:ea typeface="Calibri" pitchFamily="34" charset="-122"/>
                          <a:cs typeface="Calibri" pitchFamily="34" charset="-120"/>
                        </a:rPr>
                        <a:t>The catch</a:t>
                      </a:r>
                      <a:endParaRPr lang="en-US" sz="1400" dirty="0">
                        <a:latin typeface="Calibri" charset="0"/>
                        <a:ea typeface="Calibri" charset="0"/>
                        <a:cs typeface="Calibri" charset="0"/>
                      </a:endParaRPr>
                    </a:p>
                  </a:txBody>
                  <a:tcPr marL="128016" marR="128016" marT="100584" marB="100584"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F4F5FB"/>
                    </a:solidFill>
                  </a:tcPr>
                </a:tc>
              </a:tr>
              <a:tr h="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A  Dashboard with a colour score</a:t>
                      </a:r>
                      <a:endParaRPr lang="en-US" sz="1400" dirty="0">
                        <a:latin typeface="Calibri" charset="0"/>
                        <a:ea typeface="Calibri" charset="0"/>
                        <a:cs typeface="Calibri" charset="0"/>
                      </a:endParaRPr>
                    </a:p>
                  </a:txBody>
                  <a:tcPr marL="128016" marR="128016" marT="100584" marB="100584"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Calibri" pitchFamily="34" charset="0"/>
                          <a:ea typeface="Calibri" pitchFamily="34" charset="-122"/>
                          <a:cs typeface="Calibri" pitchFamily="34" charset="-120"/>
                        </a:rPr>
                        <a:t>Familiar, quick to build</a:t>
                      </a:r>
                      <a:endParaRPr lang="en-US" sz="1400" dirty="0">
                        <a:latin typeface="Calibri" charset="0"/>
                        <a:ea typeface="Calibri" charset="0"/>
                        <a:cs typeface="Calibri" charset="0"/>
                      </a:endParaRPr>
                    </a:p>
                  </a:txBody>
                  <a:tcPr marL="128016" marR="128016" marT="100584" marB="100584"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Calibri" pitchFamily="34" charset="0"/>
                          <a:ea typeface="Calibri" pitchFamily="34" charset="-122"/>
                          <a:cs typeface="Calibri" pitchFamily="34" charset="-120"/>
                        </a:rPr>
                        <a:t>A colour hides how sure we are and how much money is at stake</a:t>
                      </a:r>
                      <a:endParaRPr lang="en-US" sz="1400" dirty="0">
                        <a:latin typeface="Calibri" charset="0"/>
                        <a:ea typeface="Calibri" charset="0"/>
                        <a:cs typeface="Calibri" charset="0"/>
                      </a:endParaRPr>
                    </a:p>
                  </a:txBody>
                  <a:tcPr marL="128016" marR="128016" marT="100584" marB="100584"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r h="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B  Hand-set rules</a:t>
                      </a:r>
                      <a:endParaRPr lang="en-US" sz="1400" dirty="0">
                        <a:latin typeface="Calibri" charset="0"/>
                        <a:ea typeface="Calibri" charset="0"/>
                        <a:cs typeface="Calibri" charset="0"/>
                      </a:endParaRPr>
                    </a:p>
                  </a:txBody>
                  <a:tcPr marL="128016" marR="128016" marT="100584" marB="100584"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Calibri" pitchFamily="34" charset="0"/>
                          <a:ea typeface="Calibri" pitchFamily="34" charset="-122"/>
                          <a:cs typeface="Calibri" pitchFamily="34" charset="-120"/>
                        </a:rPr>
                        <a:t>Easy to explain</a:t>
                      </a:r>
                      <a:endParaRPr lang="en-US" sz="1400" dirty="0">
                        <a:latin typeface="Calibri" charset="0"/>
                        <a:ea typeface="Calibri" charset="0"/>
                        <a:cs typeface="Calibri" charset="0"/>
                      </a:endParaRPr>
                    </a:p>
                  </a:txBody>
                  <a:tcPr marL="128016" marR="128016" marT="100584" marB="100584"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Calibri" pitchFamily="34" charset="0"/>
                          <a:ea typeface="Calibri" pitchFamily="34" charset="-122"/>
                          <a:cs typeface="Calibri" pitchFamily="34" charset="-120"/>
                        </a:rPr>
                        <a:t>The numbers are guesses. In our data a fall in usage alone barely separated leavers (2.4 in 100) from stayers (2.3 in 100)</a:t>
                      </a:r>
                      <a:endParaRPr lang="en-US" sz="1400" dirty="0">
                        <a:latin typeface="Calibri" charset="0"/>
                        <a:ea typeface="Calibri" charset="0"/>
                        <a:cs typeface="Calibri" charset="0"/>
                      </a:endParaRPr>
                    </a:p>
                  </a:txBody>
                  <a:tcPr marL="128016" marR="128016" marT="100584" marB="100584"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r h="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C  Points model learned from past renewals</a:t>
                      </a:r>
                      <a:endParaRPr lang="en-US" sz="1400" dirty="0">
                        <a:latin typeface="Calibri" charset="0"/>
                        <a:ea typeface="Calibri" charset="0"/>
                        <a:cs typeface="Calibri" charset="0"/>
                      </a:endParaRPr>
                    </a:p>
                  </a:txBody>
                  <a:tcPr marL="128016" marR="128016" marT="100584" marB="100584"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Calibri" pitchFamily="34" charset="0"/>
                          <a:ea typeface="Calibri" pitchFamily="34" charset="-122"/>
                          <a:cs typeface="Calibri" pitchFamily="34" charset="-120"/>
                        </a:rPr>
                        <a:t>Points come from past renewals. Every reason can be checked</a:t>
                      </a:r>
                      <a:endParaRPr lang="en-US" sz="1400" dirty="0">
                        <a:latin typeface="Calibri" charset="0"/>
                        <a:ea typeface="Calibri" charset="0"/>
                        <a:cs typeface="Calibri" charset="0"/>
                      </a:endParaRPr>
                    </a:p>
                  </a:txBody>
                  <a:tcPr marL="128016" marR="128016" marT="100584" marB="100584"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Calibri" pitchFamily="34" charset="0"/>
                          <a:ea typeface="Calibri" pitchFamily="34" charset="-122"/>
                          <a:cs typeface="Calibri" pitchFamily="34" charset="-120"/>
                        </a:rPr>
                        <a:t>Needs history. Ranks well but understates strong clues</a:t>
                      </a:r>
                      <a:endParaRPr lang="en-US" sz="1400" dirty="0">
                        <a:latin typeface="Calibri" charset="0"/>
                        <a:ea typeface="Calibri" charset="0"/>
                        <a:cs typeface="Calibri" charset="0"/>
                      </a:endParaRPr>
                    </a:p>
                  </a:txBody>
                  <a:tcPr marL="128016" marR="128016" marT="100584" marB="100584"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r h="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D  A model that cannot explain itself (like a chatbot)</a:t>
                      </a:r>
                      <a:endParaRPr lang="en-US" sz="1400" dirty="0">
                        <a:latin typeface="Calibri" charset="0"/>
                        <a:ea typeface="Calibri" charset="0"/>
                        <a:cs typeface="Calibri" charset="0"/>
                      </a:endParaRPr>
                    </a:p>
                  </a:txBody>
                  <a:tcPr marL="128016" marR="128016" marT="100584" marB="100584"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Calibri" pitchFamily="34" charset="0"/>
                          <a:ea typeface="Calibri" pitchFamily="34" charset="-122"/>
                          <a:cs typeface="Calibri" pitchFamily="34" charset="-120"/>
                        </a:rPr>
                        <a:t>Can read messy text</a:t>
                      </a:r>
                      <a:endParaRPr lang="en-US" sz="1400" dirty="0">
                        <a:latin typeface="Calibri" charset="0"/>
                        <a:ea typeface="Calibri" charset="0"/>
                        <a:cs typeface="Calibri" charset="0"/>
                      </a:endParaRPr>
                    </a:p>
                  </a:txBody>
                  <a:tcPr marL="128016" marR="128016" marT="100584" marB="100584"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Calibri" pitchFamily="34" charset="0"/>
                          <a:ea typeface="Calibri" pitchFamily="34" charset="-122"/>
                          <a:cs typeface="Calibri" pitchFamily="34" charset="-120"/>
                        </a:rPr>
                        <a:t>Cannot show its working. May answer differently each time</a:t>
                      </a:r>
                      <a:endParaRPr lang="en-US" sz="1400" dirty="0">
                        <a:latin typeface="Calibri" charset="0"/>
                        <a:ea typeface="Calibri" charset="0"/>
                        <a:cs typeface="Calibri" charset="0"/>
                      </a:endParaRPr>
                    </a:p>
                  </a:txBody>
                  <a:tcPr marL="128016" marR="128016" marT="100584" marB="100584"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r h="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E  Email customers automatically</a:t>
                      </a:r>
                      <a:endParaRPr lang="en-US" sz="1400" dirty="0">
                        <a:latin typeface="Calibri" charset="0"/>
                        <a:ea typeface="Calibri" charset="0"/>
                        <a:cs typeface="Calibri" charset="0"/>
                      </a:endParaRPr>
                    </a:p>
                  </a:txBody>
                  <a:tcPr marL="128016" marR="128016" marT="100584" marB="100584"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Calibri" pitchFamily="34" charset="0"/>
                          <a:ea typeface="Calibri" pitchFamily="34" charset="-122"/>
                          <a:cs typeface="Calibri" pitchFamily="34" charset="-120"/>
                        </a:rPr>
                        <a:t>Saves human time</a:t>
                      </a:r>
                      <a:endParaRPr lang="en-US" sz="1400" dirty="0">
                        <a:latin typeface="Calibri" charset="0"/>
                        <a:ea typeface="Calibri" charset="0"/>
                        <a:cs typeface="Calibri" charset="0"/>
                      </a:endParaRPr>
                    </a:p>
                  </a:txBody>
                  <a:tcPr marL="128016" marR="128016" marT="100584" marB="100584"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Calibri" pitchFamily="34" charset="0"/>
                          <a:ea typeface="Calibri" pitchFamily="34" charset="-122"/>
                          <a:cs typeface="Calibri" pitchFamily="34" charset="-120"/>
                        </a:rPr>
                        <a:t>"We think you are leaving" can cause the loss. Needs business approval</a:t>
                      </a:r>
                      <a:endParaRPr lang="en-US" sz="1400" dirty="0">
                        <a:latin typeface="Calibri" charset="0"/>
                        <a:ea typeface="Calibri" charset="0"/>
                        <a:cs typeface="Calibri" charset="0"/>
                      </a:endParaRPr>
                    </a:p>
                  </a:txBody>
                  <a:tcPr marL="128016" marR="128016" marT="100584" marB="100584"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88136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7315200" cy="274320"/>
          </a:xfrm>
          <a:prstGeom prst="rect">
            <a:avLst/>
          </a:prstGeom>
          <a:noFill/>
          <a:ln/>
        </p:spPr>
        <p:txBody>
          <a:bodyPr wrap="square" rtlCol="0" anchor="ctr"/>
          <a:lstStyle/>
          <a:p>
            <a:pPr indent="0" marL="0">
              <a:buNone/>
            </a:pPr>
            <a:r>
              <a:rPr lang="en-US" sz="1200" b="1" spc="300" kern="0" dirty="0">
                <a:solidFill>
                  <a:srgbClr val="3B4BD8"/>
                </a:solidFill>
                <a:latin typeface="Calibri" pitchFamily="34" charset="0"/>
                <a:ea typeface="Calibri" pitchFamily="34" charset="-122"/>
                <a:cs typeface="Calibri" pitchFamily="34" charset="-120"/>
              </a:rPr>
              <a:t>4 · WHAT I TAKE, WHAT I RULE OUT</a:t>
            </a:r>
            <a:endParaRPr lang="en-US" sz="1200" dirty="0"/>
          </a:p>
        </p:txBody>
      </p:sp>
      <p:sp>
        <p:nvSpPr>
          <p:cNvPr id="3" name="Text 1"/>
          <p:cNvSpPr/>
          <p:nvPr/>
        </p:nvSpPr>
        <p:spPr>
          <a:xfrm>
            <a:off x="640080" y="658368"/>
            <a:ext cx="10908792" cy="868680"/>
          </a:xfrm>
          <a:prstGeom prst="rect">
            <a:avLst/>
          </a:prstGeom>
          <a:noFill/>
          <a:ln/>
        </p:spPr>
        <p:txBody>
          <a:bodyPr wrap="square" rtlCol="0" anchor="t"/>
          <a:lstStyle/>
          <a:p>
            <a:pPr indent="0" marL="0">
              <a:buNone/>
            </a:pPr>
            <a:r>
              <a:rPr lang="en-US" sz="2800" b="1" dirty="0">
                <a:solidFill>
                  <a:srgbClr val="111827"/>
                </a:solidFill>
                <a:latin typeface="Calibri" pitchFamily="34" charset="0"/>
                <a:ea typeface="Calibri" pitchFamily="34" charset="-122"/>
                <a:cs typeface="Calibri" pitchFamily="34" charset="-120"/>
              </a:rPr>
              <a:t>What I take, and what I rule out</a:t>
            </a:r>
            <a:endParaRPr lang="en-US" sz="2800" dirty="0"/>
          </a:p>
        </p:txBody>
      </p:sp>
      <p:sp>
        <p:nvSpPr>
          <p:cNvPr id="4" name="Text 2"/>
          <p:cNvSpPr/>
          <p:nvPr/>
        </p:nvSpPr>
        <p:spPr>
          <a:xfrm>
            <a:off x="640080" y="6419088"/>
            <a:ext cx="5486400" cy="27432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Renewal Risk Call List · Fello take-home</a:t>
            </a:r>
            <a:endParaRPr lang="en-US" sz="1000" dirty="0"/>
          </a:p>
        </p:txBody>
      </p:sp>
      <p:sp>
        <p:nvSpPr>
          <p:cNvPr id="6" name="Shape 3"/>
          <p:cNvSpPr/>
          <p:nvPr/>
        </p:nvSpPr>
        <p:spPr>
          <a:xfrm>
            <a:off x="640080" y="1737360"/>
            <a:ext cx="5349240" cy="4297680"/>
          </a:xfrm>
          <a:prstGeom prst="roundRect">
            <a:avLst>
              <a:gd name="adj" fmla="val 2553"/>
            </a:avLst>
          </a:prstGeom>
          <a:solidFill>
            <a:srgbClr val="E8EAFD"/>
          </a:solidFill>
          <a:ln w="12700">
            <a:solidFill>
              <a:srgbClr val="E8EAFD"/>
            </a:solidFill>
            <a:prstDash val="solid"/>
          </a:ln>
        </p:spPr>
      </p:sp>
      <p:sp>
        <p:nvSpPr>
          <p:cNvPr id="7" name="Text 4"/>
          <p:cNvSpPr/>
          <p:nvPr/>
        </p:nvSpPr>
        <p:spPr>
          <a:xfrm>
            <a:off x="868680" y="1901952"/>
            <a:ext cx="4892040" cy="411480"/>
          </a:xfrm>
          <a:prstGeom prst="rect">
            <a:avLst/>
          </a:prstGeom>
          <a:noFill/>
          <a:ln/>
        </p:spPr>
        <p:txBody>
          <a:bodyPr wrap="square" rtlCol="0" anchor="t"/>
          <a:lstStyle/>
          <a:p>
            <a:pPr indent="0" marL="0">
              <a:buNone/>
            </a:pPr>
            <a:r>
              <a:rPr lang="en-US" sz="1700" b="1" dirty="0">
                <a:solidFill>
                  <a:srgbClr val="3B4BD8"/>
                </a:solidFill>
                <a:latin typeface="Calibri" pitchFamily="34" charset="0"/>
                <a:ea typeface="Calibri" pitchFamily="34" charset="-122"/>
                <a:cs typeface="Calibri" pitchFamily="34" charset="-120"/>
              </a:rPr>
              <a:t>What I take</a:t>
            </a:r>
            <a:endParaRPr lang="en-US" sz="1700" dirty="0"/>
          </a:p>
        </p:txBody>
      </p:sp>
      <p:sp>
        <p:nvSpPr>
          <p:cNvPr id="8" name="Text 5"/>
          <p:cNvSpPr/>
          <p:nvPr/>
        </p:nvSpPr>
        <p:spPr>
          <a:xfrm>
            <a:off x="868680" y="2377440"/>
            <a:ext cx="4892040" cy="3520440"/>
          </a:xfrm>
          <a:prstGeom prst="rect">
            <a:avLst/>
          </a:prstGeom>
          <a:noFill/>
          <a:ln/>
        </p:spPr>
        <p:txBody>
          <a:bodyPr wrap="square" rtlCol="0" anchor="t"/>
          <a:lstStyle/>
          <a:p>
            <a:pPr marL="177800" indent="-177800">
              <a:spcAft>
                <a:spcPts val="700"/>
              </a:spcAft>
              <a:buSzPct val="100000"/>
              <a:buChar char="•"/>
            </a:pPr>
            <a:r>
              <a:rPr lang="en-US" sz="1400" dirty="0">
                <a:solidFill>
                  <a:srgbClr val="111827"/>
                </a:solidFill>
                <a:latin typeface="Calibri" pitchFamily="34" charset="0"/>
                <a:ea typeface="Calibri" pitchFamily="34" charset="-122"/>
                <a:cs typeface="Calibri" pitchFamily="34" charset="-120"/>
              </a:rPr>
              <a:t>A points model learned from past renewals: every reason can be read and checked</a:t>
            </a:r>
            <a:endParaRPr lang="en-US" sz="1400" dirty="0"/>
          </a:p>
          <a:p>
            <a:pPr marL="177800" indent="-177800">
              <a:spcAft>
                <a:spcPts val="700"/>
              </a:spcAft>
              <a:buSzPct val="100000"/>
              <a:buChar char="•"/>
            </a:pPr>
            <a:r>
              <a:rPr lang="en-US" sz="1400" dirty="0">
                <a:solidFill>
                  <a:srgbClr val="111827"/>
                </a:solidFill>
                <a:latin typeface="Calibri" pitchFamily="34" charset="0"/>
                <a:ea typeface="Calibri" pitchFamily="34" charset="-122"/>
                <a:cs typeface="Calibri" pitchFamily="34" charset="-120"/>
              </a:rPr>
              <a:t>Rank by chance of leaving × contract value; top 15 per manager</a:t>
            </a:r>
            <a:endParaRPr lang="en-US" sz="1400" dirty="0"/>
          </a:p>
          <a:p>
            <a:pPr marL="177800" indent="-177800">
              <a:spcAft>
                <a:spcPts val="700"/>
              </a:spcAft>
              <a:buSzPct val="100000"/>
              <a:buChar char="•"/>
            </a:pPr>
            <a:r>
              <a:rPr lang="en-US" sz="1400" dirty="0">
                <a:solidFill>
                  <a:srgbClr val="111827"/>
                </a:solidFill>
                <a:latin typeface="Calibri" pitchFamily="34" charset="0"/>
                <a:ea typeface="Calibri" pitchFamily="34" charset="-122"/>
                <a:cs typeface="Calibri" pitchFamily="34" charset="-120"/>
              </a:rPr>
              <a:t>The manager decides; the system alerts</a:t>
            </a:r>
            <a:endParaRPr lang="en-US" sz="1400" dirty="0"/>
          </a:p>
          <a:p>
            <a:pPr marL="177800" indent="-177800">
              <a:spcAft>
                <a:spcPts val="700"/>
              </a:spcAft>
              <a:buSzPct val="100000"/>
              <a:buChar char="•"/>
            </a:pPr>
            <a:r>
              <a:rPr lang="en-US" sz="1400" dirty="0">
                <a:solidFill>
                  <a:srgbClr val="111827"/>
                </a:solidFill>
                <a:latin typeface="Calibri" pitchFamily="34" charset="0"/>
                <a:ea typeface="Calibri" pitchFamily="34" charset="-122"/>
                <a:cs typeface="Calibri" pitchFamily="34" charset="-120"/>
              </a:rPr>
              <a:t>Use only what was known at the time</a:t>
            </a:r>
            <a:endParaRPr lang="en-US" sz="1400" dirty="0"/>
          </a:p>
          <a:p>
            <a:pPr marL="177800" indent="-177800">
              <a:spcAft>
                <a:spcPts val="700"/>
              </a:spcAft>
              <a:buSzPct val="100000"/>
              <a:buChar char="•"/>
            </a:pPr>
            <a:r>
              <a:rPr lang="en-US" sz="1400" dirty="0">
                <a:solidFill>
                  <a:srgbClr val="111827"/>
                </a:solidFill>
                <a:latin typeface="Calibri" pitchFamily="34" charset="0"/>
                <a:ea typeface="Calibri" pitchFamily="34" charset="-122"/>
                <a:cs typeface="Calibri" pitchFamily="34" charset="-120"/>
              </a:rPr>
              <a:t>A nightly run with no person involved</a:t>
            </a:r>
            <a:endParaRPr lang="en-US" sz="1400" dirty="0"/>
          </a:p>
          <a:p>
            <a:pPr marL="177800" indent="-177800">
              <a:spcAft>
                <a:spcPts val="700"/>
              </a:spcAft>
              <a:buSzPct val="100000"/>
              <a:buChar char="•"/>
            </a:pPr>
            <a:r>
              <a:rPr lang="en-US" sz="1400" dirty="0">
                <a:solidFill>
                  <a:srgbClr val="111827"/>
                </a:solidFill>
                <a:latin typeface="Calibri" pitchFamily="34" charset="0"/>
                <a:ea typeface="Calibri" pitchFamily="34" charset="-122"/>
                <a:cs typeface="Calibri" pitchFamily="34" charset="-120"/>
              </a:rPr>
              <a:t>A simple usage-drop rule as the thing to beat</a:t>
            </a:r>
            <a:endParaRPr lang="en-US" sz="1400" dirty="0"/>
          </a:p>
        </p:txBody>
      </p:sp>
      <p:sp>
        <p:nvSpPr>
          <p:cNvPr id="9" name="Shape 6"/>
          <p:cNvSpPr/>
          <p:nvPr/>
        </p:nvSpPr>
        <p:spPr>
          <a:xfrm>
            <a:off x="6199632" y="1737360"/>
            <a:ext cx="5349240" cy="4297680"/>
          </a:xfrm>
          <a:prstGeom prst="roundRect">
            <a:avLst>
              <a:gd name="adj" fmla="val 2553"/>
            </a:avLst>
          </a:prstGeom>
          <a:solidFill>
            <a:srgbClr val="F4F5FB"/>
          </a:solidFill>
          <a:ln w="12700">
            <a:solidFill>
              <a:srgbClr val="F4F5FB"/>
            </a:solidFill>
            <a:prstDash val="solid"/>
          </a:ln>
        </p:spPr>
      </p:sp>
      <p:sp>
        <p:nvSpPr>
          <p:cNvPr id="10" name="Text 7"/>
          <p:cNvSpPr/>
          <p:nvPr/>
        </p:nvSpPr>
        <p:spPr>
          <a:xfrm>
            <a:off x="6428232" y="1901952"/>
            <a:ext cx="4892040" cy="411480"/>
          </a:xfrm>
          <a:prstGeom prst="rect">
            <a:avLst/>
          </a:prstGeom>
          <a:noFill/>
          <a:ln/>
        </p:spPr>
        <p:txBody>
          <a:bodyPr wrap="square" rtlCol="0" anchor="t"/>
          <a:lstStyle/>
          <a:p>
            <a:pPr indent="0" marL="0">
              <a:buNone/>
            </a:pPr>
            <a:r>
              <a:rPr lang="en-US" sz="1700" b="1" dirty="0">
                <a:solidFill>
                  <a:srgbClr val="6B7280"/>
                </a:solidFill>
                <a:latin typeface="Calibri" pitchFamily="34" charset="0"/>
                <a:ea typeface="Calibri" pitchFamily="34" charset="-122"/>
                <a:cs typeface="Calibri" pitchFamily="34" charset="-120"/>
              </a:rPr>
              <a:t>What I rule out</a:t>
            </a:r>
            <a:endParaRPr lang="en-US" sz="1700" dirty="0"/>
          </a:p>
        </p:txBody>
      </p:sp>
      <p:sp>
        <p:nvSpPr>
          <p:cNvPr id="11" name="Text 8"/>
          <p:cNvSpPr/>
          <p:nvPr/>
        </p:nvSpPr>
        <p:spPr>
          <a:xfrm>
            <a:off x="6428232" y="2377440"/>
            <a:ext cx="4892040" cy="3520440"/>
          </a:xfrm>
          <a:prstGeom prst="rect">
            <a:avLst/>
          </a:prstGeom>
          <a:noFill/>
          <a:ln/>
        </p:spPr>
        <p:txBody>
          <a:bodyPr wrap="square" rtlCol="0" anchor="t"/>
          <a:lstStyle/>
          <a:p>
            <a:pPr marL="177800" indent="-177800">
              <a:spcAft>
                <a:spcPts val="700"/>
              </a:spcAft>
              <a:buSzPct val="100000"/>
              <a:buChar char="•"/>
            </a:pPr>
            <a:r>
              <a:rPr lang="en-US" sz="1400" dirty="0">
                <a:solidFill>
                  <a:srgbClr val="111827"/>
                </a:solidFill>
                <a:latin typeface="Calibri" pitchFamily="34" charset="0"/>
                <a:ea typeface="Calibri" pitchFamily="34" charset="-122"/>
                <a:cs typeface="Calibri" pitchFamily="34" charset="-120"/>
              </a:rPr>
              <a:t>Colour-only scores: they hide how sure we are and the money at stake</a:t>
            </a:r>
            <a:endParaRPr lang="en-US" sz="1400" dirty="0"/>
          </a:p>
          <a:p>
            <a:pPr marL="177800" indent="-177800">
              <a:spcAft>
                <a:spcPts val="700"/>
              </a:spcAft>
              <a:buSzPct val="100000"/>
              <a:buChar char="•"/>
            </a:pPr>
            <a:r>
              <a:rPr lang="en-US" sz="1400" dirty="0">
                <a:solidFill>
                  <a:srgbClr val="111827"/>
                </a:solidFill>
                <a:latin typeface="Calibri" pitchFamily="34" charset="0"/>
                <a:ea typeface="Calibri" pitchFamily="34" charset="-122"/>
                <a:cs typeface="Calibri" pitchFamily="34" charset="-120"/>
              </a:rPr>
              <a:t>Hand-set guesses: no proof they work</a:t>
            </a:r>
            <a:endParaRPr lang="en-US" sz="1400" dirty="0"/>
          </a:p>
          <a:p>
            <a:pPr marL="177800" indent="-177800">
              <a:spcAft>
                <a:spcPts val="700"/>
              </a:spcAft>
              <a:buSzPct val="100000"/>
              <a:buChar char="•"/>
            </a:pPr>
            <a:r>
              <a:rPr lang="en-US" sz="1400" dirty="0">
                <a:solidFill>
                  <a:srgbClr val="111827"/>
                </a:solidFill>
                <a:latin typeface="Calibri" pitchFamily="34" charset="0"/>
                <a:ea typeface="Calibri" pitchFamily="34" charset="-122"/>
                <a:cs typeface="Calibri" pitchFamily="34" charset="-120"/>
              </a:rPr>
              <a:t>A model that cannot explain itself (like a chatbot): no working to show</a:t>
            </a:r>
            <a:endParaRPr lang="en-US" sz="1400" dirty="0"/>
          </a:p>
          <a:p>
            <a:pPr marL="177800" indent="-177800">
              <a:spcAft>
                <a:spcPts val="700"/>
              </a:spcAft>
              <a:buSzPct val="100000"/>
              <a:buChar char="•"/>
            </a:pPr>
            <a:r>
              <a:rPr lang="en-US" sz="1400" dirty="0">
                <a:solidFill>
                  <a:srgbClr val="111827"/>
                </a:solidFill>
                <a:latin typeface="Calibri" pitchFamily="34" charset="0"/>
                <a:ea typeface="Calibri" pitchFamily="34" charset="-122"/>
                <a:cs typeface="Calibri" pitchFamily="34" charset="-120"/>
              </a:rPr>
              <a:t>Automatic emails to customers (a card-update reminder is saved as a record; nothing is actually sent)</a:t>
            </a:r>
            <a:endParaRPr lang="en-US" sz="1400" dirty="0"/>
          </a:p>
          <a:p>
            <a:pPr marL="177800" indent="-177800">
              <a:spcAft>
                <a:spcPts val="700"/>
              </a:spcAft>
              <a:buSzPct val="100000"/>
              <a:buChar char="•"/>
            </a:pPr>
            <a:r>
              <a:rPr lang="en-US" sz="1400" dirty="0">
                <a:solidFill>
                  <a:srgbClr val="111827"/>
                </a:solidFill>
                <a:latin typeface="Calibri" pitchFamily="34" charset="0"/>
                <a:ea typeface="Calibri" pitchFamily="34" charset="-122"/>
                <a:cs typeface="Calibri" pitchFamily="34" charset="-120"/>
              </a:rPr>
              <a:t>Guessing at similar company names: a wrong match moves signals to another customer</a:t>
            </a:r>
            <a:endParaRPr lang="en-US" sz="1400" dirty="0"/>
          </a:p>
          <a:p>
            <a:pPr marL="177800" indent="-177800">
              <a:spcAft>
                <a:spcPts val="700"/>
              </a:spcAft>
              <a:buSzPct val="100000"/>
              <a:buChar char="•"/>
            </a:pPr>
            <a:r>
              <a:rPr lang="en-US" sz="1400" dirty="0">
                <a:solidFill>
                  <a:srgbClr val="111827"/>
                </a:solidFill>
                <a:latin typeface="Calibri" pitchFamily="34" charset="0"/>
                <a:ea typeface="Calibri" pitchFamily="34" charset="-122"/>
                <a:cs typeface="Calibri" pitchFamily="34" charset="-120"/>
              </a:rPr>
              <a:t>"Days until renewal" as a clue: it already decides who is on the list</a:t>
            </a:r>
            <a:endParaRPr lang="en-US" sz="1400" dirty="0"/>
          </a:p>
        </p:txBody>
      </p:sp>
      <p:sp>
        <p:nvSpPr>
          <p:cNvPr id="25" name="Slide Number Placeholder 0"/>
          <p:cNvSpPr>
            <a:spLocks noGrp="1"/>
          </p:cNvSpPr>
          <p:nvPr>
            <p:ph type="sldNum" sz="quarter" idx="4294967295"/>
          </p:nvPr>
        </p:nvSpPr>
        <p:spPr>
          <a:xfrm>
            <a:off x="1088136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7315200" cy="274320"/>
          </a:xfrm>
          <a:prstGeom prst="rect">
            <a:avLst/>
          </a:prstGeom>
          <a:noFill/>
          <a:ln/>
        </p:spPr>
        <p:txBody>
          <a:bodyPr wrap="square" rtlCol="0" anchor="ctr"/>
          <a:lstStyle/>
          <a:p>
            <a:pPr indent="0" marL="0">
              <a:buNone/>
            </a:pPr>
            <a:r>
              <a:rPr lang="en-US" sz="1200" b="1" spc="300" kern="0" dirty="0">
                <a:solidFill>
                  <a:srgbClr val="3B4BD8"/>
                </a:solidFill>
                <a:latin typeface="Calibri" pitchFamily="34" charset="0"/>
                <a:ea typeface="Calibri" pitchFamily="34" charset="-122"/>
                <a:cs typeface="Calibri" pitchFamily="34" charset="-120"/>
              </a:rPr>
              <a:t>5 · THE OVERALL SYSTEM</a:t>
            </a:r>
            <a:endParaRPr lang="en-US" sz="1200" dirty="0"/>
          </a:p>
        </p:txBody>
      </p:sp>
      <p:sp>
        <p:nvSpPr>
          <p:cNvPr id="3" name="Text 1"/>
          <p:cNvSpPr/>
          <p:nvPr/>
        </p:nvSpPr>
        <p:spPr>
          <a:xfrm>
            <a:off x="640080" y="658368"/>
            <a:ext cx="10908792" cy="868680"/>
          </a:xfrm>
          <a:prstGeom prst="rect">
            <a:avLst/>
          </a:prstGeom>
          <a:noFill/>
          <a:ln/>
        </p:spPr>
        <p:txBody>
          <a:bodyPr wrap="square" rtlCol="0" anchor="t"/>
          <a:lstStyle/>
          <a:p>
            <a:pPr indent="0" marL="0">
              <a:buNone/>
            </a:pPr>
            <a:r>
              <a:rPr lang="en-US" sz="2800" b="1" dirty="0">
                <a:solidFill>
                  <a:srgbClr val="111827"/>
                </a:solidFill>
                <a:latin typeface="Calibri" pitchFamily="34" charset="0"/>
                <a:ea typeface="Calibri" pitchFamily="34" charset="-122"/>
                <a:cs typeface="Calibri" pitchFamily="34" charset="-120"/>
              </a:rPr>
              <a:t>Overnight, the system prepares every list by itself</a:t>
            </a:r>
            <a:endParaRPr lang="en-US" sz="2800" dirty="0"/>
          </a:p>
        </p:txBody>
      </p:sp>
      <p:sp>
        <p:nvSpPr>
          <p:cNvPr id="4" name="Text 2"/>
          <p:cNvSpPr/>
          <p:nvPr/>
        </p:nvSpPr>
        <p:spPr>
          <a:xfrm>
            <a:off x="640080" y="6419088"/>
            <a:ext cx="5486400" cy="27432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Renewal Risk Call List · Fello take-home</a:t>
            </a:r>
            <a:endParaRPr lang="en-US" sz="1000" dirty="0"/>
          </a:p>
        </p:txBody>
      </p:sp>
      <p:sp>
        <p:nvSpPr>
          <p:cNvPr id="6" name="Text 3"/>
          <p:cNvSpPr/>
          <p:nvPr/>
        </p:nvSpPr>
        <p:spPr>
          <a:xfrm>
            <a:off x="640080" y="1481328"/>
            <a:ext cx="5486400" cy="256032"/>
          </a:xfrm>
          <a:prstGeom prst="rect">
            <a:avLst/>
          </a:prstGeom>
          <a:noFill/>
          <a:ln/>
        </p:spPr>
        <p:txBody>
          <a:bodyPr wrap="square" rtlCol="0" anchor="ctr"/>
          <a:lstStyle/>
          <a:p>
            <a:pPr indent="0" marL="0">
              <a:buNone/>
            </a:pPr>
            <a:r>
              <a:rPr lang="en-US" sz="1100" b="1" spc="200" kern="0" dirty="0">
                <a:solidFill>
                  <a:srgbClr val="6B7280"/>
                </a:solidFill>
                <a:latin typeface="Calibri" pitchFamily="34" charset="0"/>
                <a:ea typeface="Calibri" pitchFamily="34" charset="-122"/>
                <a:cs typeface="Calibri" pitchFamily="34" charset="-120"/>
              </a:rPr>
              <a:t>FIVE TOOLS (about 201,000 records)</a:t>
            </a:r>
            <a:endParaRPr lang="en-US" sz="1100" dirty="0"/>
          </a:p>
        </p:txBody>
      </p:sp>
      <p:sp>
        <p:nvSpPr>
          <p:cNvPr id="7" name="Shape 4"/>
          <p:cNvSpPr/>
          <p:nvPr/>
        </p:nvSpPr>
        <p:spPr>
          <a:xfrm>
            <a:off x="640080" y="1783080"/>
            <a:ext cx="1920240" cy="914400"/>
          </a:xfrm>
          <a:prstGeom prst="roundRect">
            <a:avLst>
              <a:gd name="adj" fmla="val 12000"/>
            </a:avLst>
          </a:prstGeom>
          <a:solidFill>
            <a:srgbClr val="F4F5FB"/>
          </a:solidFill>
          <a:ln w="12700">
            <a:solidFill>
              <a:srgbClr val="F4F5FB"/>
            </a:solidFill>
            <a:prstDash val="solid"/>
          </a:ln>
        </p:spPr>
      </p:sp>
      <p:sp>
        <p:nvSpPr>
          <p:cNvPr id="8" name="Text 5"/>
          <p:cNvSpPr/>
          <p:nvPr/>
        </p:nvSpPr>
        <p:spPr>
          <a:xfrm>
            <a:off x="749808" y="1856232"/>
            <a:ext cx="1700784" cy="320040"/>
          </a:xfrm>
          <a:prstGeom prst="rect">
            <a:avLst/>
          </a:prstGeom>
          <a:noFill/>
          <a:ln/>
        </p:spPr>
        <p:txBody>
          <a:bodyPr wrap="square" rtlCol="0" anchor="t"/>
          <a:lstStyle/>
          <a:p>
            <a:pPr indent="0" marL="0">
              <a:buNone/>
            </a:pPr>
            <a:r>
              <a:rPr lang="en-US" sz="1500" b="1" dirty="0">
                <a:solidFill>
                  <a:srgbClr val="111827"/>
                </a:solidFill>
                <a:latin typeface="Calibri" pitchFamily="34" charset="0"/>
                <a:ea typeface="Calibri" pitchFamily="34" charset="-122"/>
                <a:cs typeface="Calibri" pitchFamily="34" charset="-120"/>
              </a:rPr>
              <a:t>Salesforce</a:t>
            </a:r>
            <a:endParaRPr lang="en-US" sz="1500" dirty="0"/>
          </a:p>
        </p:txBody>
      </p:sp>
      <p:sp>
        <p:nvSpPr>
          <p:cNvPr id="9" name="Text 6"/>
          <p:cNvSpPr/>
          <p:nvPr/>
        </p:nvSpPr>
        <p:spPr>
          <a:xfrm>
            <a:off x="749808" y="2194560"/>
            <a:ext cx="1700784" cy="457200"/>
          </a:xfrm>
          <a:prstGeom prst="rect">
            <a:avLst/>
          </a:prstGeom>
          <a:noFill/>
          <a:ln/>
        </p:spPr>
        <p:txBody>
          <a:bodyPr wrap="square" rtlCol="0" anchor="t"/>
          <a:lstStyle/>
          <a:p>
            <a:pPr indent="0" marL="0">
              <a:buNone/>
            </a:pPr>
            <a:r>
              <a:rPr lang="en-US" sz="1200" dirty="0">
                <a:solidFill>
                  <a:srgbClr val="111827"/>
                </a:solidFill>
                <a:latin typeface="Calibri" pitchFamily="34" charset="0"/>
                <a:ea typeface="Calibri" pitchFamily="34" charset="-122"/>
                <a:cs typeface="Calibri" pitchFamily="34" charset="-120"/>
              </a:rPr>
              <a:t>Accounts, renewal dates, contacts</a:t>
            </a:r>
            <a:endParaRPr lang="en-US" sz="1200" dirty="0"/>
          </a:p>
        </p:txBody>
      </p:sp>
      <p:sp>
        <p:nvSpPr>
          <p:cNvPr id="10" name="Shape 7"/>
          <p:cNvSpPr/>
          <p:nvPr/>
        </p:nvSpPr>
        <p:spPr>
          <a:xfrm>
            <a:off x="2887218" y="1783080"/>
            <a:ext cx="1920240" cy="914400"/>
          </a:xfrm>
          <a:prstGeom prst="roundRect">
            <a:avLst>
              <a:gd name="adj" fmla="val 12000"/>
            </a:avLst>
          </a:prstGeom>
          <a:solidFill>
            <a:srgbClr val="F4F5FB"/>
          </a:solidFill>
          <a:ln w="12700">
            <a:solidFill>
              <a:srgbClr val="F4F5FB"/>
            </a:solidFill>
            <a:prstDash val="solid"/>
          </a:ln>
        </p:spPr>
      </p:sp>
      <p:sp>
        <p:nvSpPr>
          <p:cNvPr id="11" name="Text 8"/>
          <p:cNvSpPr/>
          <p:nvPr/>
        </p:nvSpPr>
        <p:spPr>
          <a:xfrm>
            <a:off x="2996946" y="1856232"/>
            <a:ext cx="1700784" cy="320040"/>
          </a:xfrm>
          <a:prstGeom prst="rect">
            <a:avLst/>
          </a:prstGeom>
          <a:noFill/>
          <a:ln/>
        </p:spPr>
        <p:txBody>
          <a:bodyPr wrap="square" rtlCol="0" anchor="t"/>
          <a:lstStyle/>
          <a:p>
            <a:pPr indent="0" marL="0">
              <a:buNone/>
            </a:pPr>
            <a:r>
              <a:rPr lang="en-US" sz="1500" b="1" dirty="0">
                <a:solidFill>
                  <a:srgbClr val="111827"/>
                </a:solidFill>
                <a:latin typeface="Calibri" pitchFamily="34" charset="0"/>
                <a:ea typeface="Calibri" pitchFamily="34" charset="-122"/>
                <a:cs typeface="Calibri" pitchFamily="34" charset="-120"/>
              </a:rPr>
              <a:t>Zendesk</a:t>
            </a:r>
            <a:endParaRPr lang="en-US" sz="1500" dirty="0"/>
          </a:p>
        </p:txBody>
      </p:sp>
      <p:sp>
        <p:nvSpPr>
          <p:cNvPr id="12" name="Text 9"/>
          <p:cNvSpPr/>
          <p:nvPr/>
        </p:nvSpPr>
        <p:spPr>
          <a:xfrm>
            <a:off x="2996946" y="2194560"/>
            <a:ext cx="1700784" cy="457200"/>
          </a:xfrm>
          <a:prstGeom prst="rect">
            <a:avLst/>
          </a:prstGeom>
          <a:noFill/>
          <a:ln/>
        </p:spPr>
        <p:txBody>
          <a:bodyPr wrap="square" rtlCol="0" anchor="t"/>
          <a:lstStyle/>
          <a:p>
            <a:pPr indent="0" marL="0">
              <a:buNone/>
            </a:pPr>
            <a:r>
              <a:rPr lang="en-US" sz="1200" dirty="0">
                <a:solidFill>
                  <a:srgbClr val="111827"/>
                </a:solidFill>
                <a:latin typeface="Calibri" pitchFamily="34" charset="0"/>
                <a:ea typeface="Calibri" pitchFamily="34" charset="-122"/>
                <a:cs typeface="Calibri" pitchFamily="34" charset="-120"/>
              </a:rPr>
              <a:t>Support tickets</a:t>
            </a:r>
            <a:endParaRPr lang="en-US" sz="1200" dirty="0"/>
          </a:p>
        </p:txBody>
      </p:sp>
      <p:sp>
        <p:nvSpPr>
          <p:cNvPr id="13" name="Shape 10"/>
          <p:cNvSpPr/>
          <p:nvPr/>
        </p:nvSpPr>
        <p:spPr>
          <a:xfrm>
            <a:off x="5134356" y="1783080"/>
            <a:ext cx="1920240" cy="914400"/>
          </a:xfrm>
          <a:prstGeom prst="roundRect">
            <a:avLst>
              <a:gd name="adj" fmla="val 12000"/>
            </a:avLst>
          </a:prstGeom>
          <a:solidFill>
            <a:srgbClr val="F4F5FB"/>
          </a:solidFill>
          <a:ln w="12700">
            <a:solidFill>
              <a:srgbClr val="F4F5FB"/>
            </a:solidFill>
            <a:prstDash val="solid"/>
          </a:ln>
        </p:spPr>
      </p:sp>
      <p:sp>
        <p:nvSpPr>
          <p:cNvPr id="14" name="Text 11"/>
          <p:cNvSpPr/>
          <p:nvPr/>
        </p:nvSpPr>
        <p:spPr>
          <a:xfrm>
            <a:off x="5244084" y="1856232"/>
            <a:ext cx="1700784" cy="320040"/>
          </a:xfrm>
          <a:prstGeom prst="rect">
            <a:avLst/>
          </a:prstGeom>
          <a:noFill/>
          <a:ln/>
        </p:spPr>
        <p:txBody>
          <a:bodyPr wrap="square" rtlCol="0" anchor="t"/>
          <a:lstStyle/>
          <a:p>
            <a:pPr indent="0" marL="0">
              <a:buNone/>
            </a:pPr>
            <a:r>
              <a:rPr lang="en-US" sz="1500" b="1" dirty="0">
                <a:solidFill>
                  <a:srgbClr val="111827"/>
                </a:solidFill>
                <a:latin typeface="Calibri" pitchFamily="34" charset="0"/>
                <a:ea typeface="Calibri" pitchFamily="34" charset="-122"/>
                <a:cs typeface="Calibri" pitchFamily="34" charset="-120"/>
              </a:rPr>
              <a:t>Product</a:t>
            </a:r>
            <a:endParaRPr lang="en-US" sz="1500" dirty="0"/>
          </a:p>
        </p:txBody>
      </p:sp>
      <p:sp>
        <p:nvSpPr>
          <p:cNvPr id="15" name="Text 12"/>
          <p:cNvSpPr/>
          <p:nvPr/>
        </p:nvSpPr>
        <p:spPr>
          <a:xfrm>
            <a:off x="5244084" y="2194560"/>
            <a:ext cx="1700784" cy="457200"/>
          </a:xfrm>
          <a:prstGeom prst="rect">
            <a:avLst/>
          </a:prstGeom>
          <a:noFill/>
          <a:ln/>
        </p:spPr>
        <p:txBody>
          <a:bodyPr wrap="square" rtlCol="0" anchor="t"/>
          <a:lstStyle/>
          <a:p>
            <a:pPr indent="0" marL="0">
              <a:buNone/>
            </a:pPr>
            <a:r>
              <a:rPr lang="en-US" sz="1200" dirty="0">
                <a:solidFill>
                  <a:srgbClr val="111827"/>
                </a:solidFill>
                <a:latin typeface="Calibri" pitchFamily="34" charset="0"/>
                <a:ea typeface="Calibri" pitchFamily="34" charset="-122"/>
                <a:cs typeface="Calibri" pitchFamily="34" charset="-120"/>
              </a:rPr>
              <a:t>Usage events</a:t>
            </a:r>
            <a:endParaRPr lang="en-US" sz="1200" dirty="0"/>
          </a:p>
        </p:txBody>
      </p:sp>
      <p:sp>
        <p:nvSpPr>
          <p:cNvPr id="16" name="Shape 13"/>
          <p:cNvSpPr/>
          <p:nvPr/>
        </p:nvSpPr>
        <p:spPr>
          <a:xfrm>
            <a:off x="7381494" y="1783080"/>
            <a:ext cx="1920240" cy="914400"/>
          </a:xfrm>
          <a:prstGeom prst="roundRect">
            <a:avLst>
              <a:gd name="adj" fmla="val 12000"/>
            </a:avLst>
          </a:prstGeom>
          <a:solidFill>
            <a:srgbClr val="F4F5FB"/>
          </a:solidFill>
          <a:ln w="12700">
            <a:solidFill>
              <a:srgbClr val="F4F5FB"/>
            </a:solidFill>
            <a:prstDash val="solid"/>
          </a:ln>
        </p:spPr>
      </p:sp>
      <p:sp>
        <p:nvSpPr>
          <p:cNvPr id="17" name="Text 14"/>
          <p:cNvSpPr/>
          <p:nvPr/>
        </p:nvSpPr>
        <p:spPr>
          <a:xfrm>
            <a:off x="7491222" y="1856232"/>
            <a:ext cx="1700784" cy="320040"/>
          </a:xfrm>
          <a:prstGeom prst="rect">
            <a:avLst/>
          </a:prstGeom>
          <a:noFill/>
          <a:ln/>
        </p:spPr>
        <p:txBody>
          <a:bodyPr wrap="square" rtlCol="0" anchor="t"/>
          <a:lstStyle/>
          <a:p>
            <a:pPr indent="0" marL="0">
              <a:buNone/>
            </a:pPr>
            <a:r>
              <a:rPr lang="en-US" sz="1500" b="1" dirty="0">
                <a:solidFill>
                  <a:srgbClr val="111827"/>
                </a:solidFill>
                <a:latin typeface="Calibri" pitchFamily="34" charset="0"/>
                <a:ea typeface="Calibri" pitchFamily="34" charset="-122"/>
                <a:cs typeface="Calibri" pitchFamily="34" charset="-120"/>
              </a:rPr>
              <a:t>Stripe</a:t>
            </a:r>
            <a:endParaRPr lang="en-US" sz="1500" dirty="0"/>
          </a:p>
        </p:txBody>
      </p:sp>
      <p:sp>
        <p:nvSpPr>
          <p:cNvPr id="18" name="Text 15"/>
          <p:cNvSpPr/>
          <p:nvPr/>
        </p:nvSpPr>
        <p:spPr>
          <a:xfrm>
            <a:off x="7491222" y="2194560"/>
            <a:ext cx="1700784" cy="457200"/>
          </a:xfrm>
          <a:prstGeom prst="rect">
            <a:avLst/>
          </a:prstGeom>
          <a:noFill/>
          <a:ln/>
        </p:spPr>
        <p:txBody>
          <a:bodyPr wrap="square" rtlCol="0" anchor="t"/>
          <a:lstStyle/>
          <a:p>
            <a:pPr indent="0" marL="0">
              <a:buNone/>
            </a:pPr>
            <a:r>
              <a:rPr lang="en-US" sz="1200" dirty="0">
                <a:solidFill>
                  <a:srgbClr val="111827"/>
                </a:solidFill>
                <a:latin typeface="Calibri" pitchFamily="34" charset="0"/>
                <a:ea typeface="Calibri" pitchFamily="34" charset="-122"/>
                <a:cs typeface="Calibri" pitchFamily="34" charset="-120"/>
              </a:rPr>
              <a:t>Invoices, cancel requests</a:t>
            </a:r>
            <a:endParaRPr lang="en-US" sz="1200" dirty="0"/>
          </a:p>
        </p:txBody>
      </p:sp>
      <p:sp>
        <p:nvSpPr>
          <p:cNvPr id="19" name="Shape 16"/>
          <p:cNvSpPr/>
          <p:nvPr/>
        </p:nvSpPr>
        <p:spPr>
          <a:xfrm>
            <a:off x="9628632" y="1783080"/>
            <a:ext cx="1920240" cy="914400"/>
          </a:xfrm>
          <a:prstGeom prst="roundRect">
            <a:avLst>
              <a:gd name="adj" fmla="val 12000"/>
            </a:avLst>
          </a:prstGeom>
          <a:solidFill>
            <a:srgbClr val="F4F5FB"/>
          </a:solidFill>
          <a:ln w="12700">
            <a:solidFill>
              <a:srgbClr val="F4F5FB"/>
            </a:solidFill>
            <a:prstDash val="solid"/>
          </a:ln>
        </p:spPr>
      </p:sp>
      <p:sp>
        <p:nvSpPr>
          <p:cNvPr id="20" name="Text 17"/>
          <p:cNvSpPr/>
          <p:nvPr/>
        </p:nvSpPr>
        <p:spPr>
          <a:xfrm>
            <a:off x="9738360" y="1856232"/>
            <a:ext cx="1700784" cy="320040"/>
          </a:xfrm>
          <a:prstGeom prst="rect">
            <a:avLst/>
          </a:prstGeom>
          <a:noFill/>
          <a:ln/>
        </p:spPr>
        <p:txBody>
          <a:bodyPr wrap="square" rtlCol="0" anchor="t"/>
          <a:lstStyle/>
          <a:p>
            <a:pPr indent="0" marL="0">
              <a:buNone/>
            </a:pPr>
            <a:r>
              <a:rPr lang="en-US" sz="1500" b="1" dirty="0">
                <a:solidFill>
                  <a:srgbClr val="111827"/>
                </a:solidFill>
                <a:latin typeface="Calibri" pitchFamily="34" charset="0"/>
                <a:ea typeface="Calibri" pitchFamily="34" charset="-122"/>
                <a:cs typeface="Calibri" pitchFamily="34" charset="-120"/>
              </a:rPr>
              <a:t>Gmail</a:t>
            </a:r>
            <a:endParaRPr lang="en-US" sz="1500" dirty="0"/>
          </a:p>
        </p:txBody>
      </p:sp>
      <p:sp>
        <p:nvSpPr>
          <p:cNvPr id="21" name="Text 18"/>
          <p:cNvSpPr/>
          <p:nvPr/>
        </p:nvSpPr>
        <p:spPr>
          <a:xfrm>
            <a:off x="9738360" y="2194560"/>
            <a:ext cx="1700784" cy="457200"/>
          </a:xfrm>
          <a:prstGeom prst="rect">
            <a:avLst/>
          </a:prstGeom>
          <a:noFill/>
          <a:ln/>
        </p:spPr>
        <p:txBody>
          <a:bodyPr wrap="square" rtlCol="0" anchor="t"/>
          <a:lstStyle/>
          <a:p>
            <a:pPr indent="0" marL="0">
              <a:buNone/>
            </a:pPr>
            <a:r>
              <a:rPr lang="en-US" sz="1200" dirty="0">
                <a:solidFill>
                  <a:srgbClr val="111827"/>
                </a:solidFill>
                <a:latin typeface="Calibri" pitchFamily="34" charset="0"/>
                <a:ea typeface="Calibri" pitchFamily="34" charset="-122"/>
                <a:cs typeface="Calibri" pitchFamily="34" charset="-120"/>
              </a:rPr>
              <a:t>Email metadata. Loaded, not scored</a:t>
            </a:r>
            <a:endParaRPr lang="en-US" sz="1200" dirty="0"/>
          </a:p>
        </p:txBody>
      </p:sp>
      <p:sp>
        <p:nvSpPr>
          <p:cNvPr id="22" name="Shape 19"/>
          <p:cNvSpPr/>
          <p:nvPr/>
        </p:nvSpPr>
        <p:spPr>
          <a:xfrm>
            <a:off x="1600200" y="2697480"/>
            <a:ext cx="0" cy="320040"/>
          </a:xfrm>
          <a:prstGeom prst="line">
            <a:avLst/>
          </a:prstGeom>
          <a:noFill/>
          <a:ln w="22225">
            <a:solidFill>
              <a:srgbClr val="6B7280"/>
            </a:solidFill>
            <a:prstDash val="solid"/>
            <a:tailEnd type="triangle"/>
          </a:ln>
        </p:spPr>
      </p:sp>
      <p:sp>
        <p:nvSpPr>
          <p:cNvPr id="23" name="Shape 20"/>
          <p:cNvSpPr/>
          <p:nvPr/>
        </p:nvSpPr>
        <p:spPr>
          <a:xfrm>
            <a:off x="3847338" y="2697480"/>
            <a:ext cx="0" cy="320040"/>
          </a:xfrm>
          <a:prstGeom prst="line">
            <a:avLst/>
          </a:prstGeom>
          <a:noFill/>
          <a:ln w="22225">
            <a:solidFill>
              <a:srgbClr val="6B7280"/>
            </a:solidFill>
            <a:prstDash val="solid"/>
            <a:tailEnd type="triangle"/>
          </a:ln>
        </p:spPr>
      </p:sp>
      <p:sp>
        <p:nvSpPr>
          <p:cNvPr id="24" name="Shape 21"/>
          <p:cNvSpPr/>
          <p:nvPr/>
        </p:nvSpPr>
        <p:spPr>
          <a:xfrm>
            <a:off x="6094476" y="2697480"/>
            <a:ext cx="0" cy="320040"/>
          </a:xfrm>
          <a:prstGeom prst="line">
            <a:avLst/>
          </a:prstGeom>
          <a:noFill/>
          <a:ln w="22225">
            <a:solidFill>
              <a:srgbClr val="6B7280"/>
            </a:solidFill>
            <a:prstDash val="solid"/>
            <a:tailEnd type="triangle"/>
          </a:ln>
        </p:spPr>
      </p:sp>
      <p:sp>
        <p:nvSpPr>
          <p:cNvPr id="25" name="Shape 22"/>
          <p:cNvSpPr/>
          <p:nvPr/>
        </p:nvSpPr>
        <p:spPr>
          <a:xfrm>
            <a:off x="8341614" y="2697480"/>
            <a:ext cx="0" cy="320040"/>
          </a:xfrm>
          <a:prstGeom prst="line">
            <a:avLst/>
          </a:prstGeom>
          <a:noFill/>
          <a:ln w="22225">
            <a:solidFill>
              <a:srgbClr val="6B7280"/>
            </a:solidFill>
            <a:prstDash val="solid"/>
            <a:tailEnd type="triangle"/>
          </a:ln>
        </p:spPr>
      </p:sp>
      <p:sp>
        <p:nvSpPr>
          <p:cNvPr id="26" name="Shape 23"/>
          <p:cNvSpPr/>
          <p:nvPr/>
        </p:nvSpPr>
        <p:spPr>
          <a:xfrm>
            <a:off x="10588752" y="2697480"/>
            <a:ext cx="0" cy="320040"/>
          </a:xfrm>
          <a:prstGeom prst="line">
            <a:avLst/>
          </a:prstGeom>
          <a:noFill/>
          <a:ln w="22225">
            <a:solidFill>
              <a:srgbClr val="6B7280"/>
            </a:solidFill>
            <a:prstDash val="solid"/>
            <a:tailEnd type="triangle"/>
          </a:ln>
        </p:spPr>
      </p:sp>
      <p:sp>
        <p:nvSpPr>
          <p:cNvPr id="27" name="Text 24"/>
          <p:cNvSpPr/>
          <p:nvPr/>
        </p:nvSpPr>
        <p:spPr>
          <a:xfrm>
            <a:off x="640080" y="3017520"/>
            <a:ext cx="5486400" cy="256032"/>
          </a:xfrm>
          <a:prstGeom prst="rect">
            <a:avLst/>
          </a:prstGeom>
          <a:noFill/>
          <a:ln/>
        </p:spPr>
        <p:txBody>
          <a:bodyPr wrap="square" rtlCol="0" anchor="ctr"/>
          <a:lstStyle/>
          <a:p>
            <a:pPr indent="0" marL="0">
              <a:buNone/>
            </a:pPr>
            <a:r>
              <a:rPr lang="en-US" sz="1100" b="1" spc="200" kern="0" dirty="0">
                <a:solidFill>
                  <a:srgbClr val="6B7280"/>
                </a:solidFill>
                <a:latin typeface="Calibri" pitchFamily="34" charset="0"/>
                <a:ea typeface="Calibri" pitchFamily="34" charset="-122"/>
                <a:cs typeface="Calibri" pitchFamily="34" charset="-120"/>
              </a:rPr>
              <a:t>EVERY NIGHT, AUTOMATICALLY</a:t>
            </a:r>
            <a:endParaRPr lang="en-US" sz="1100" dirty="0"/>
          </a:p>
        </p:txBody>
      </p:sp>
      <p:sp>
        <p:nvSpPr>
          <p:cNvPr id="28" name="Shape 25"/>
          <p:cNvSpPr/>
          <p:nvPr/>
        </p:nvSpPr>
        <p:spPr>
          <a:xfrm>
            <a:off x="640080" y="3310128"/>
            <a:ext cx="1920240" cy="1234440"/>
          </a:xfrm>
          <a:prstGeom prst="roundRect">
            <a:avLst>
              <a:gd name="adj" fmla="val 8889"/>
            </a:avLst>
          </a:prstGeom>
          <a:solidFill>
            <a:srgbClr val="111827"/>
          </a:solidFill>
          <a:ln w="12700">
            <a:solidFill>
              <a:srgbClr val="111827"/>
            </a:solidFill>
            <a:prstDash val="solid"/>
          </a:ln>
        </p:spPr>
      </p:sp>
      <p:sp>
        <p:nvSpPr>
          <p:cNvPr id="29" name="Text 26"/>
          <p:cNvSpPr/>
          <p:nvPr/>
        </p:nvSpPr>
        <p:spPr>
          <a:xfrm>
            <a:off x="749808" y="3383280"/>
            <a:ext cx="1700784" cy="320040"/>
          </a:xfrm>
          <a:prstGeom prst="rect">
            <a:avLst/>
          </a:prstGeom>
          <a:noFill/>
          <a:ln/>
        </p:spPr>
        <p:txBody>
          <a:bodyPr wrap="square"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1  Match</a:t>
            </a:r>
            <a:endParaRPr lang="en-US" sz="1500" dirty="0"/>
          </a:p>
        </p:txBody>
      </p:sp>
      <p:sp>
        <p:nvSpPr>
          <p:cNvPr id="30" name="Text 27"/>
          <p:cNvSpPr/>
          <p:nvPr/>
        </p:nvSpPr>
        <p:spPr>
          <a:xfrm>
            <a:off x="749808" y="3721608"/>
            <a:ext cx="1700784" cy="777240"/>
          </a:xfrm>
          <a:prstGeom prst="rect">
            <a:avLst/>
          </a:prstGeom>
          <a:noFill/>
          <a:ln/>
        </p:spPr>
        <p:txBody>
          <a:bodyPr wrap="square" rtlCol="0" anchor="t"/>
          <a:lstStyle/>
          <a:p>
            <a:pPr indent="0" marL="0">
              <a:buNone/>
            </a:pPr>
            <a:r>
              <a:rPr lang="en-US" sz="1200" dirty="0">
                <a:solidFill>
                  <a:srgbClr val="FFFFFF"/>
                </a:solidFill>
                <a:latin typeface="Calibri" pitchFamily="34" charset="0"/>
                <a:ea typeface="Calibri" pitchFamily="34" charset="-122"/>
                <a:cs typeface="Calibri" pitchFamily="34" charset="-120"/>
              </a:rPr>
              <a:t>Link each record to one customer by email domain, then company name</a:t>
            </a:r>
            <a:endParaRPr lang="en-US" sz="1200" dirty="0"/>
          </a:p>
        </p:txBody>
      </p:sp>
      <p:sp>
        <p:nvSpPr>
          <p:cNvPr id="31" name="Shape 28"/>
          <p:cNvSpPr/>
          <p:nvPr/>
        </p:nvSpPr>
        <p:spPr>
          <a:xfrm>
            <a:off x="2887218" y="3310128"/>
            <a:ext cx="1920240" cy="1234440"/>
          </a:xfrm>
          <a:prstGeom prst="roundRect">
            <a:avLst>
              <a:gd name="adj" fmla="val 8889"/>
            </a:avLst>
          </a:prstGeom>
          <a:solidFill>
            <a:srgbClr val="111827"/>
          </a:solidFill>
          <a:ln w="12700">
            <a:solidFill>
              <a:srgbClr val="111827"/>
            </a:solidFill>
            <a:prstDash val="solid"/>
          </a:ln>
        </p:spPr>
      </p:sp>
      <p:sp>
        <p:nvSpPr>
          <p:cNvPr id="32" name="Text 29"/>
          <p:cNvSpPr/>
          <p:nvPr/>
        </p:nvSpPr>
        <p:spPr>
          <a:xfrm>
            <a:off x="2996946" y="3383280"/>
            <a:ext cx="1700784" cy="320040"/>
          </a:xfrm>
          <a:prstGeom prst="rect">
            <a:avLst/>
          </a:prstGeom>
          <a:noFill/>
          <a:ln/>
        </p:spPr>
        <p:txBody>
          <a:bodyPr wrap="square"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2  Summarise</a:t>
            </a:r>
            <a:endParaRPr lang="en-US" sz="1500" dirty="0"/>
          </a:p>
        </p:txBody>
      </p:sp>
      <p:sp>
        <p:nvSpPr>
          <p:cNvPr id="33" name="Text 30"/>
          <p:cNvSpPr/>
          <p:nvPr/>
        </p:nvSpPr>
        <p:spPr>
          <a:xfrm>
            <a:off x="2996946" y="3721608"/>
            <a:ext cx="1700784" cy="777240"/>
          </a:xfrm>
          <a:prstGeom prst="rect">
            <a:avLst/>
          </a:prstGeom>
          <a:noFill/>
          <a:ln/>
        </p:spPr>
        <p:txBody>
          <a:bodyPr wrap="square" rtlCol="0" anchor="t"/>
          <a:lstStyle/>
          <a:p>
            <a:pPr indent="0" marL="0">
              <a:buNone/>
            </a:pPr>
            <a:r>
              <a:rPr lang="en-US" sz="1200" dirty="0">
                <a:solidFill>
                  <a:srgbClr val="FFFFFF"/>
                </a:solidFill>
                <a:latin typeface="Calibri" pitchFamily="34" charset="0"/>
                <a:ea typeface="Calibri" pitchFamily="34" charset="-122"/>
                <a:cs typeface="Calibri" pitchFamily="34" charset="-120"/>
              </a:rPr>
              <a:t>11 simple facts per customer, using only what was known on that date</a:t>
            </a:r>
            <a:endParaRPr lang="en-US" sz="1200" dirty="0"/>
          </a:p>
        </p:txBody>
      </p:sp>
      <p:sp>
        <p:nvSpPr>
          <p:cNvPr id="34" name="Shape 31"/>
          <p:cNvSpPr/>
          <p:nvPr/>
        </p:nvSpPr>
        <p:spPr>
          <a:xfrm>
            <a:off x="5134356" y="3310128"/>
            <a:ext cx="1920240" cy="1234440"/>
          </a:xfrm>
          <a:prstGeom prst="roundRect">
            <a:avLst>
              <a:gd name="adj" fmla="val 8889"/>
            </a:avLst>
          </a:prstGeom>
          <a:solidFill>
            <a:srgbClr val="111827"/>
          </a:solidFill>
          <a:ln w="12700">
            <a:solidFill>
              <a:srgbClr val="111827"/>
            </a:solidFill>
            <a:prstDash val="solid"/>
          </a:ln>
        </p:spPr>
      </p:sp>
      <p:sp>
        <p:nvSpPr>
          <p:cNvPr id="35" name="Text 32"/>
          <p:cNvSpPr/>
          <p:nvPr/>
        </p:nvSpPr>
        <p:spPr>
          <a:xfrm>
            <a:off x="5244084" y="3383280"/>
            <a:ext cx="1700784" cy="320040"/>
          </a:xfrm>
          <a:prstGeom prst="rect">
            <a:avLst/>
          </a:prstGeom>
          <a:noFill/>
          <a:ln/>
        </p:spPr>
        <p:txBody>
          <a:bodyPr wrap="square"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3  Score</a:t>
            </a:r>
            <a:endParaRPr lang="en-US" sz="1500" dirty="0"/>
          </a:p>
        </p:txBody>
      </p:sp>
      <p:sp>
        <p:nvSpPr>
          <p:cNvPr id="36" name="Text 33"/>
          <p:cNvSpPr/>
          <p:nvPr/>
        </p:nvSpPr>
        <p:spPr>
          <a:xfrm>
            <a:off x="5244084" y="3721608"/>
            <a:ext cx="1700784" cy="777240"/>
          </a:xfrm>
          <a:prstGeom prst="rect">
            <a:avLst/>
          </a:prstGeom>
          <a:noFill/>
          <a:ln/>
        </p:spPr>
        <p:txBody>
          <a:bodyPr wrap="square" rtlCol="0" anchor="t"/>
          <a:lstStyle/>
          <a:p>
            <a:pPr indent="0" marL="0">
              <a:buNone/>
            </a:pPr>
            <a:r>
              <a:rPr lang="en-US" sz="1200" dirty="0">
                <a:solidFill>
                  <a:srgbClr val="FFFFFF"/>
                </a:solidFill>
                <a:latin typeface="Calibri" pitchFamily="34" charset="0"/>
                <a:ea typeface="Calibri" pitchFamily="34" charset="-122"/>
                <a:cs typeface="Calibri" pitchFamily="34" charset="-120"/>
              </a:rPr>
              <a:t>Chance of leaving, times what the customer pays</a:t>
            </a:r>
            <a:endParaRPr lang="en-US" sz="1200" dirty="0"/>
          </a:p>
        </p:txBody>
      </p:sp>
      <p:sp>
        <p:nvSpPr>
          <p:cNvPr id="37" name="Shape 34"/>
          <p:cNvSpPr/>
          <p:nvPr/>
        </p:nvSpPr>
        <p:spPr>
          <a:xfrm>
            <a:off x="7381494" y="3310128"/>
            <a:ext cx="1920240" cy="1234440"/>
          </a:xfrm>
          <a:prstGeom prst="roundRect">
            <a:avLst>
              <a:gd name="adj" fmla="val 8889"/>
            </a:avLst>
          </a:prstGeom>
          <a:solidFill>
            <a:srgbClr val="111827"/>
          </a:solidFill>
          <a:ln w="12700">
            <a:solidFill>
              <a:srgbClr val="111827"/>
            </a:solidFill>
            <a:prstDash val="solid"/>
          </a:ln>
        </p:spPr>
      </p:sp>
      <p:sp>
        <p:nvSpPr>
          <p:cNvPr id="38" name="Text 35"/>
          <p:cNvSpPr/>
          <p:nvPr/>
        </p:nvSpPr>
        <p:spPr>
          <a:xfrm>
            <a:off x="7491222" y="3383280"/>
            <a:ext cx="1700784" cy="320040"/>
          </a:xfrm>
          <a:prstGeom prst="rect">
            <a:avLst/>
          </a:prstGeom>
          <a:noFill/>
          <a:ln/>
        </p:spPr>
        <p:txBody>
          <a:bodyPr wrap="square"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4  Publish</a:t>
            </a:r>
            <a:endParaRPr lang="en-US" sz="1500" dirty="0"/>
          </a:p>
        </p:txBody>
      </p:sp>
      <p:sp>
        <p:nvSpPr>
          <p:cNvPr id="39" name="Text 36"/>
          <p:cNvSpPr/>
          <p:nvPr/>
        </p:nvSpPr>
        <p:spPr>
          <a:xfrm>
            <a:off x="7491222" y="3721608"/>
            <a:ext cx="1700784" cy="777240"/>
          </a:xfrm>
          <a:prstGeom prst="rect">
            <a:avLst/>
          </a:prstGeom>
          <a:noFill/>
          <a:ln/>
        </p:spPr>
        <p:txBody>
          <a:bodyPr wrap="square" rtlCol="0" anchor="t"/>
          <a:lstStyle/>
          <a:p>
            <a:pPr indent="0" marL="0">
              <a:buNone/>
            </a:pPr>
            <a:r>
              <a:rPr lang="en-US" sz="1200" dirty="0">
                <a:solidFill>
                  <a:srgbClr val="FFFFFF"/>
                </a:solidFill>
                <a:latin typeface="Calibri" pitchFamily="34" charset="0"/>
                <a:ea typeface="Calibri" pitchFamily="34" charset="-122"/>
                <a:cs typeface="Calibri" pitchFamily="34" charset="-120"/>
              </a:rPr>
              <a:t>Complete runs only, at 2am. A failed run keeps the last list</a:t>
            </a:r>
            <a:endParaRPr lang="en-US" sz="1200" dirty="0"/>
          </a:p>
        </p:txBody>
      </p:sp>
      <p:sp>
        <p:nvSpPr>
          <p:cNvPr id="40" name="Shape 37"/>
          <p:cNvSpPr/>
          <p:nvPr/>
        </p:nvSpPr>
        <p:spPr>
          <a:xfrm>
            <a:off x="9628632" y="3310128"/>
            <a:ext cx="1920240" cy="1234440"/>
          </a:xfrm>
          <a:prstGeom prst="roundRect">
            <a:avLst>
              <a:gd name="adj" fmla="val 8889"/>
            </a:avLst>
          </a:prstGeom>
          <a:solidFill>
            <a:srgbClr val="3B4BD8"/>
          </a:solidFill>
          <a:ln w="12700">
            <a:solidFill>
              <a:srgbClr val="3B4BD8"/>
            </a:solidFill>
            <a:prstDash val="solid"/>
          </a:ln>
        </p:spPr>
      </p:sp>
      <p:sp>
        <p:nvSpPr>
          <p:cNvPr id="41" name="Text 38"/>
          <p:cNvSpPr/>
          <p:nvPr/>
        </p:nvSpPr>
        <p:spPr>
          <a:xfrm>
            <a:off x="9738360" y="3383280"/>
            <a:ext cx="1700784" cy="320040"/>
          </a:xfrm>
          <a:prstGeom prst="rect">
            <a:avLst/>
          </a:prstGeom>
          <a:noFill/>
          <a:ln/>
        </p:spPr>
        <p:txBody>
          <a:bodyPr wrap="square"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5  Call list</a:t>
            </a:r>
            <a:endParaRPr lang="en-US" sz="1500" dirty="0"/>
          </a:p>
        </p:txBody>
      </p:sp>
      <p:sp>
        <p:nvSpPr>
          <p:cNvPr id="42" name="Text 39"/>
          <p:cNvSpPr/>
          <p:nvPr/>
        </p:nvSpPr>
        <p:spPr>
          <a:xfrm>
            <a:off x="9738360" y="3721608"/>
            <a:ext cx="1700784" cy="777240"/>
          </a:xfrm>
          <a:prstGeom prst="rect">
            <a:avLst/>
          </a:prstGeom>
          <a:noFill/>
          <a:ln/>
        </p:spPr>
        <p:txBody>
          <a:bodyPr wrap="square" rtlCol="0" anchor="t"/>
          <a:lstStyle/>
          <a:p>
            <a:pPr indent="0" marL="0">
              <a:buNone/>
            </a:pPr>
            <a:r>
              <a:rPr lang="en-US" sz="1200" dirty="0">
                <a:solidFill>
                  <a:srgbClr val="FFFFFF"/>
                </a:solidFill>
                <a:latin typeface="Calibri" pitchFamily="34" charset="0"/>
                <a:ea typeface="Calibri" pitchFamily="34" charset="-122"/>
                <a:cs typeface="Calibri" pitchFamily="34" charset="-120"/>
              </a:rPr>
              <a:t>Top 15 per manager, with reasons and the records behind them</a:t>
            </a:r>
            <a:endParaRPr lang="en-US" sz="1200" dirty="0"/>
          </a:p>
        </p:txBody>
      </p:sp>
      <p:sp>
        <p:nvSpPr>
          <p:cNvPr id="43" name="Shape 40"/>
          <p:cNvSpPr/>
          <p:nvPr/>
        </p:nvSpPr>
        <p:spPr>
          <a:xfrm>
            <a:off x="2578608" y="3931920"/>
            <a:ext cx="290322" cy="0"/>
          </a:xfrm>
          <a:prstGeom prst="line">
            <a:avLst/>
          </a:prstGeom>
          <a:noFill/>
          <a:ln w="22225">
            <a:solidFill>
              <a:srgbClr val="6B7280"/>
            </a:solidFill>
            <a:prstDash val="solid"/>
            <a:tailEnd type="triangle"/>
          </a:ln>
        </p:spPr>
      </p:sp>
      <p:sp>
        <p:nvSpPr>
          <p:cNvPr id="44" name="Shape 41"/>
          <p:cNvSpPr/>
          <p:nvPr/>
        </p:nvSpPr>
        <p:spPr>
          <a:xfrm>
            <a:off x="4825746" y="3931920"/>
            <a:ext cx="290322" cy="0"/>
          </a:xfrm>
          <a:prstGeom prst="line">
            <a:avLst/>
          </a:prstGeom>
          <a:noFill/>
          <a:ln w="22225">
            <a:solidFill>
              <a:srgbClr val="6B7280"/>
            </a:solidFill>
            <a:prstDash val="solid"/>
            <a:tailEnd type="triangle"/>
          </a:ln>
        </p:spPr>
      </p:sp>
      <p:sp>
        <p:nvSpPr>
          <p:cNvPr id="45" name="Shape 42"/>
          <p:cNvSpPr/>
          <p:nvPr/>
        </p:nvSpPr>
        <p:spPr>
          <a:xfrm>
            <a:off x="7072884" y="3931920"/>
            <a:ext cx="290322" cy="0"/>
          </a:xfrm>
          <a:prstGeom prst="line">
            <a:avLst/>
          </a:prstGeom>
          <a:noFill/>
          <a:ln w="22225">
            <a:solidFill>
              <a:srgbClr val="6B7280"/>
            </a:solidFill>
            <a:prstDash val="solid"/>
            <a:tailEnd type="triangle"/>
          </a:ln>
        </p:spPr>
      </p:sp>
      <p:sp>
        <p:nvSpPr>
          <p:cNvPr id="46" name="Shape 43"/>
          <p:cNvSpPr/>
          <p:nvPr/>
        </p:nvSpPr>
        <p:spPr>
          <a:xfrm>
            <a:off x="9320022" y="3931920"/>
            <a:ext cx="290322" cy="0"/>
          </a:xfrm>
          <a:prstGeom prst="line">
            <a:avLst/>
          </a:prstGeom>
          <a:noFill/>
          <a:ln w="22225">
            <a:solidFill>
              <a:srgbClr val="6B7280"/>
            </a:solidFill>
            <a:prstDash val="solid"/>
            <a:tailEnd type="triangle"/>
          </a:ln>
        </p:spPr>
      </p:sp>
      <p:sp>
        <p:nvSpPr>
          <p:cNvPr id="47" name="Shape 44"/>
          <p:cNvSpPr/>
          <p:nvPr/>
        </p:nvSpPr>
        <p:spPr>
          <a:xfrm>
            <a:off x="640080" y="4983480"/>
            <a:ext cx="1920240" cy="914400"/>
          </a:xfrm>
          <a:prstGeom prst="roundRect">
            <a:avLst>
              <a:gd name="adj" fmla="val 12000"/>
            </a:avLst>
          </a:prstGeom>
          <a:solidFill>
            <a:srgbClr val="E8EAFD"/>
          </a:solidFill>
          <a:ln w="12700">
            <a:solidFill>
              <a:srgbClr val="E8EAFD"/>
            </a:solidFill>
            <a:prstDash val="solid"/>
          </a:ln>
        </p:spPr>
      </p:sp>
      <p:sp>
        <p:nvSpPr>
          <p:cNvPr id="48" name="Text 45"/>
          <p:cNvSpPr/>
          <p:nvPr/>
        </p:nvSpPr>
        <p:spPr>
          <a:xfrm>
            <a:off x="749808" y="5056632"/>
            <a:ext cx="1700784" cy="320040"/>
          </a:xfrm>
          <a:prstGeom prst="rect">
            <a:avLst/>
          </a:prstGeom>
          <a:noFill/>
          <a:ln/>
        </p:spPr>
        <p:txBody>
          <a:bodyPr wrap="square" rtlCol="0" anchor="t"/>
          <a:lstStyle/>
          <a:p>
            <a:pPr indent="0" marL="0">
              <a:buNone/>
            </a:pPr>
            <a:r>
              <a:rPr lang="en-US" sz="1500" b="1" dirty="0">
                <a:solidFill>
                  <a:srgbClr val="3B4BD8"/>
                </a:solidFill>
                <a:latin typeface="Calibri" pitchFamily="34" charset="0"/>
                <a:ea typeface="Calibri" pitchFamily="34" charset="-122"/>
                <a:cs typeface="Calibri" pitchFamily="34" charset="-120"/>
              </a:rPr>
              <a:t>Unmatched</a:t>
            </a:r>
            <a:endParaRPr lang="en-US" sz="1500" dirty="0"/>
          </a:p>
        </p:txBody>
      </p:sp>
      <p:sp>
        <p:nvSpPr>
          <p:cNvPr id="49" name="Text 46"/>
          <p:cNvSpPr/>
          <p:nvPr/>
        </p:nvSpPr>
        <p:spPr>
          <a:xfrm>
            <a:off x="749808" y="5394960"/>
            <a:ext cx="1700784" cy="457200"/>
          </a:xfrm>
          <a:prstGeom prst="rect">
            <a:avLst/>
          </a:prstGeom>
          <a:noFill/>
          <a:ln/>
        </p:spPr>
        <p:txBody>
          <a:bodyPr wrap="square" rtlCol="0" anchor="t"/>
          <a:lstStyle/>
          <a:p>
            <a:pPr indent="0" marL="0">
              <a:buNone/>
            </a:pPr>
            <a:r>
              <a:rPr lang="en-US" sz="1200" dirty="0">
                <a:solidFill>
                  <a:srgbClr val="111827"/>
                </a:solidFill>
                <a:latin typeface="Calibri" pitchFamily="34" charset="0"/>
                <a:ea typeface="Calibri" pitchFamily="34" charset="-122"/>
                <a:cs typeface="Calibri" pitchFamily="34" charset="-120"/>
              </a:rPr>
              <a:t>Review queue. Never dropped</a:t>
            </a:r>
            <a:endParaRPr lang="en-US" sz="1200" dirty="0"/>
          </a:p>
        </p:txBody>
      </p:sp>
      <p:sp>
        <p:nvSpPr>
          <p:cNvPr id="50" name="Shape 47"/>
          <p:cNvSpPr/>
          <p:nvPr/>
        </p:nvSpPr>
        <p:spPr>
          <a:xfrm>
            <a:off x="1600200" y="4544568"/>
            <a:ext cx="0" cy="438912"/>
          </a:xfrm>
          <a:prstGeom prst="line">
            <a:avLst/>
          </a:prstGeom>
          <a:noFill/>
          <a:ln w="22225">
            <a:solidFill>
              <a:srgbClr val="6B7280"/>
            </a:solidFill>
            <a:prstDash val="solid"/>
            <a:tailEnd type="triangle"/>
          </a:ln>
        </p:spPr>
      </p:sp>
      <p:sp>
        <p:nvSpPr>
          <p:cNvPr id="51" name="Shape 48"/>
          <p:cNvSpPr/>
          <p:nvPr/>
        </p:nvSpPr>
        <p:spPr>
          <a:xfrm>
            <a:off x="4951476" y="4983480"/>
            <a:ext cx="1920240" cy="914400"/>
          </a:xfrm>
          <a:prstGeom prst="roundRect">
            <a:avLst>
              <a:gd name="adj" fmla="val 12000"/>
            </a:avLst>
          </a:prstGeom>
          <a:solidFill>
            <a:srgbClr val="E8EAFD"/>
          </a:solidFill>
          <a:ln w="12700">
            <a:solidFill>
              <a:srgbClr val="E8EAFD"/>
            </a:solidFill>
            <a:prstDash val="solid"/>
          </a:ln>
        </p:spPr>
      </p:sp>
      <p:sp>
        <p:nvSpPr>
          <p:cNvPr id="52" name="Text 49"/>
          <p:cNvSpPr/>
          <p:nvPr/>
        </p:nvSpPr>
        <p:spPr>
          <a:xfrm>
            <a:off x="5061204" y="5056632"/>
            <a:ext cx="1700784" cy="320040"/>
          </a:xfrm>
          <a:prstGeom prst="rect">
            <a:avLst/>
          </a:prstGeom>
          <a:noFill/>
          <a:ln/>
        </p:spPr>
        <p:txBody>
          <a:bodyPr wrap="square" rtlCol="0" anchor="t"/>
          <a:lstStyle/>
          <a:p>
            <a:pPr indent="0" marL="0">
              <a:buNone/>
            </a:pPr>
            <a:r>
              <a:rPr lang="en-US" sz="1500" b="1" dirty="0">
                <a:solidFill>
                  <a:srgbClr val="3B4BD8"/>
                </a:solidFill>
                <a:latin typeface="Calibri" pitchFamily="34" charset="0"/>
                <a:ea typeface="Calibri" pitchFamily="34" charset="-122"/>
                <a:cs typeface="Calibri" pitchFamily="34" charset="-120"/>
              </a:rPr>
              <a:t>Past renewals</a:t>
            </a:r>
            <a:endParaRPr lang="en-US" sz="1500" dirty="0"/>
          </a:p>
        </p:txBody>
      </p:sp>
      <p:sp>
        <p:nvSpPr>
          <p:cNvPr id="53" name="Text 50"/>
          <p:cNvSpPr/>
          <p:nvPr/>
        </p:nvSpPr>
        <p:spPr>
          <a:xfrm>
            <a:off x="5061204" y="5394960"/>
            <a:ext cx="1700784" cy="457200"/>
          </a:xfrm>
          <a:prstGeom prst="rect">
            <a:avLst/>
          </a:prstGeom>
          <a:noFill/>
          <a:ln/>
        </p:spPr>
        <p:txBody>
          <a:bodyPr wrap="square" rtlCol="0" anchor="t"/>
          <a:lstStyle/>
          <a:p>
            <a:pPr indent="0" marL="0">
              <a:buNone/>
            </a:pPr>
            <a:r>
              <a:rPr lang="en-US" sz="1200" dirty="0">
                <a:solidFill>
                  <a:srgbClr val="111827"/>
                </a:solidFill>
                <a:latin typeface="Calibri" pitchFamily="34" charset="0"/>
                <a:ea typeface="Calibri" pitchFamily="34" charset="-122"/>
                <a:cs typeface="Calibri" pitchFamily="34" charset="-120"/>
              </a:rPr>
              <a:t>Points re-learned monthly</a:t>
            </a:r>
            <a:endParaRPr lang="en-US" sz="1200" dirty="0"/>
          </a:p>
        </p:txBody>
      </p:sp>
      <p:sp>
        <p:nvSpPr>
          <p:cNvPr id="54" name="Shape 51"/>
          <p:cNvSpPr/>
          <p:nvPr/>
        </p:nvSpPr>
        <p:spPr>
          <a:xfrm flipV="1">
            <a:off x="6094476" y="4544568"/>
            <a:ext cx="0" cy="438912"/>
          </a:xfrm>
          <a:prstGeom prst="line">
            <a:avLst/>
          </a:prstGeom>
          <a:noFill/>
          <a:ln w="22225">
            <a:solidFill>
              <a:srgbClr val="6B7280"/>
            </a:solidFill>
            <a:prstDash val="solid"/>
            <a:tailEnd type="triangle"/>
          </a:ln>
        </p:spPr>
      </p:sp>
      <p:sp>
        <p:nvSpPr>
          <p:cNvPr id="55" name="Shape 52"/>
          <p:cNvSpPr/>
          <p:nvPr/>
        </p:nvSpPr>
        <p:spPr>
          <a:xfrm>
            <a:off x="9628632" y="4983480"/>
            <a:ext cx="1920240" cy="914400"/>
          </a:xfrm>
          <a:prstGeom prst="roundRect">
            <a:avLst>
              <a:gd name="adj" fmla="val 12000"/>
            </a:avLst>
          </a:prstGeom>
          <a:solidFill>
            <a:srgbClr val="E8EAFD"/>
          </a:solidFill>
          <a:ln w="12700">
            <a:solidFill>
              <a:srgbClr val="E8EAFD"/>
            </a:solidFill>
            <a:prstDash val="solid"/>
          </a:ln>
        </p:spPr>
      </p:sp>
      <p:sp>
        <p:nvSpPr>
          <p:cNvPr id="56" name="Text 53"/>
          <p:cNvSpPr/>
          <p:nvPr/>
        </p:nvSpPr>
        <p:spPr>
          <a:xfrm>
            <a:off x="9738360" y="5056632"/>
            <a:ext cx="1700784" cy="320040"/>
          </a:xfrm>
          <a:prstGeom prst="rect">
            <a:avLst/>
          </a:prstGeom>
          <a:noFill/>
          <a:ln/>
        </p:spPr>
        <p:txBody>
          <a:bodyPr wrap="square" rtlCol="0" anchor="t"/>
          <a:lstStyle/>
          <a:p>
            <a:pPr indent="0" marL="0">
              <a:buNone/>
            </a:pPr>
            <a:r>
              <a:rPr lang="en-US" sz="1500" b="1" dirty="0">
                <a:solidFill>
                  <a:srgbClr val="3B4BD8"/>
                </a:solidFill>
                <a:latin typeface="Calibri" pitchFamily="34" charset="0"/>
                <a:ea typeface="Calibri" pitchFamily="34" charset="-122"/>
                <a:cs typeface="Calibri" pitchFamily="34" charset="-120"/>
              </a:rPr>
              <a:t>After a call</a:t>
            </a:r>
            <a:endParaRPr lang="en-US" sz="1500" dirty="0"/>
          </a:p>
        </p:txBody>
      </p:sp>
      <p:sp>
        <p:nvSpPr>
          <p:cNvPr id="57" name="Text 54"/>
          <p:cNvSpPr/>
          <p:nvPr/>
        </p:nvSpPr>
        <p:spPr>
          <a:xfrm>
            <a:off x="9738360" y="5394960"/>
            <a:ext cx="1700784" cy="457200"/>
          </a:xfrm>
          <a:prstGeom prst="rect">
            <a:avLst/>
          </a:prstGeom>
          <a:noFill/>
          <a:ln/>
        </p:spPr>
        <p:txBody>
          <a:bodyPr wrap="square" rtlCol="0" anchor="t"/>
          <a:lstStyle/>
          <a:p>
            <a:pPr indent="0" marL="0">
              <a:buNone/>
            </a:pPr>
            <a:r>
              <a:rPr lang="en-US" sz="1200" dirty="0">
                <a:solidFill>
                  <a:srgbClr val="111827"/>
                </a:solidFill>
                <a:latin typeface="Calibri" pitchFamily="34" charset="0"/>
                <a:ea typeface="Calibri" pitchFamily="34" charset="-122"/>
                <a:cs typeface="Calibri" pitchFamily="34" charset="-120"/>
              </a:rPr>
              <a:t>One click: off the list for 14 days</a:t>
            </a:r>
            <a:endParaRPr lang="en-US" sz="1200" dirty="0"/>
          </a:p>
        </p:txBody>
      </p:sp>
      <p:sp>
        <p:nvSpPr>
          <p:cNvPr id="58" name="Shape 55"/>
          <p:cNvSpPr/>
          <p:nvPr/>
        </p:nvSpPr>
        <p:spPr>
          <a:xfrm flipV="1">
            <a:off x="10588752" y="4544568"/>
            <a:ext cx="0" cy="438912"/>
          </a:xfrm>
          <a:prstGeom prst="line">
            <a:avLst/>
          </a:prstGeom>
          <a:noFill/>
          <a:ln w="22225">
            <a:solidFill>
              <a:srgbClr val="6B7280"/>
            </a:solidFill>
            <a:prstDash val="solid"/>
            <a:tailEnd type="triangle"/>
          </a:ln>
        </p:spPr>
      </p:sp>
      <p:sp>
        <p:nvSpPr>
          <p:cNvPr id="59" name="Text 56"/>
          <p:cNvSpPr/>
          <p:nvPr/>
        </p:nvSpPr>
        <p:spPr>
          <a:xfrm>
            <a:off x="640080" y="5961888"/>
            <a:ext cx="10908792" cy="411480"/>
          </a:xfrm>
          <a:prstGeom prst="rect">
            <a:avLst/>
          </a:prstGeom>
          <a:noFill/>
          <a:ln/>
        </p:spPr>
        <p:txBody>
          <a:bodyPr wrap="square" rtlCol="0" anchor="t"/>
          <a:lstStyle/>
          <a:p>
            <a:pPr indent="0" marL="0">
              <a:buNone/>
            </a:pPr>
            <a:r>
              <a:rPr lang="en-US" sz="1100" dirty="0">
                <a:solidFill>
                  <a:srgbClr val="6B7280"/>
                </a:solidFill>
                <a:latin typeface="Calibri" pitchFamily="34" charset="0"/>
                <a:ea typeface="Calibri" pitchFamily="34" charset="-122"/>
                <a:cs typeface="Calibri" pitchFamily="34" charset="-120"/>
              </a:rPr>
              <a:t>Runs by itself: steps 1 to 5, for each company. Stays with the CSM: who to call, what to say, any customer email. Each company's data is kept apart by the database itself, using a signed login.</a:t>
            </a:r>
            <a:endParaRPr lang="en-US" sz="1100" dirty="0"/>
          </a:p>
        </p:txBody>
      </p:sp>
      <p:sp>
        <p:nvSpPr>
          <p:cNvPr id="25" name="Slide Number Placeholder 0"/>
          <p:cNvSpPr>
            <a:spLocks noGrp="1"/>
          </p:cNvSpPr>
          <p:nvPr>
            <p:ph type="sldNum" sz="quarter" idx="4294967295"/>
          </p:nvPr>
        </p:nvSpPr>
        <p:spPr>
          <a:xfrm>
            <a:off x="1088136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7315200" cy="274320"/>
          </a:xfrm>
          <a:prstGeom prst="rect">
            <a:avLst/>
          </a:prstGeom>
          <a:noFill/>
          <a:ln/>
        </p:spPr>
        <p:txBody>
          <a:bodyPr wrap="square" rtlCol="0" anchor="ctr"/>
          <a:lstStyle/>
          <a:p>
            <a:pPr indent="0" marL="0">
              <a:buNone/>
            </a:pPr>
            <a:r>
              <a:rPr lang="en-US" sz="1200" b="1" spc="300" kern="0" dirty="0">
                <a:solidFill>
                  <a:srgbClr val="3B4BD8"/>
                </a:solidFill>
                <a:latin typeface="Calibri" pitchFamily="34" charset="0"/>
                <a:ea typeface="Calibri" pitchFamily="34" charset="-122"/>
                <a:cs typeface="Calibri" pitchFamily="34" charset="-120"/>
              </a:rPr>
              <a:t>5 · THE OVERALL SYSTEM</a:t>
            </a:r>
            <a:endParaRPr lang="en-US" sz="1200" dirty="0"/>
          </a:p>
        </p:txBody>
      </p:sp>
      <p:sp>
        <p:nvSpPr>
          <p:cNvPr id="3" name="Text 1"/>
          <p:cNvSpPr/>
          <p:nvPr/>
        </p:nvSpPr>
        <p:spPr>
          <a:xfrm>
            <a:off x="640080" y="658368"/>
            <a:ext cx="8778240" cy="868680"/>
          </a:xfrm>
          <a:prstGeom prst="rect">
            <a:avLst/>
          </a:prstGeom>
          <a:noFill/>
          <a:ln/>
        </p:spPr>
        <p:txBody>
          <a:bodyPr wrap="square" rtlCol="0" anchor="t"/>
          <a:lstStyle/>
          <a:p>
            <a:pPr indent="0" marL="0">
              <a:buNone/>
            </a:pPr>
            <a:r>
              <a:rPr lang="en-US" sz="2800" b="1" dirty="0">
                <a:solidFill>
                  <a:srgbClr val="111827"/>
                </a:solidFill>
                <a:latin typeface="Calibri" pitchFamily="34" charset="0"/>
                <a:ea typeface="Calibri" pitchFamily="34" charset="-122"/>
                <a:cs typeface="Calibri" pitchFamily="34" charset="-120"/>
              </a:rPr>
              <a:t>The CSM opens a ranked call list</a:t>
            </a:r>
            <a:endParaRPr lang="en-US" sz="2800" dirty="0"/>
          </a:p>
        </p:txBody>
      </p:sp>
      <p:sp>
        <p:nvSpPr>
          <p:cNvPr id="4" name="Text 2"/>
          <p:cNvSpPr/>
          <p:nvPr/>
        </p:nvSpPr>
        <p:spPr>
          <a:xfrm>
            <a:off x="9902952" y="411480"/>
            <a:ext cx="1645920" cy="347472"/>
          </a:xfrm>
          <a:prstGeom prst="rect">
            <a:avLst/>
          </a:prstGeom>
          <a:solidFill>
            <a:srgbClr val="3B4BD8"/>
          </a:solid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LIVE DEMO</a:t>
            </a:r>
            <a:endParaRPr lang="en-US" sz="1200" dirty="0"/>
          </a:p>
        </p:txBody>
      </p:sp>
      <p:sp>
        <p:nvSpPr>
          <p:cNvPr id="5" name="Text 3"/>
          <p:cNvSpPr/>
          <p:nvPr/>
        </p:nvSpPr>
        <p:spPr>
          <a:xfrm>
            <a:off x="9326880" y="822960"/>
            <a:ext cx="2221992" cy="685800"/>
          </a:xfrm>
          <a:prstGeom prst="rect">
            <a:avLst/>
          </a:prstGeom>
          <a:noFill/>
          <a:ln/>
        </p:spPr>
        <p:txBody>
          <a:bodyPr wrap="square" rtlCol="0" anchor="t"/>
          <a:lstStyle/>
          <a:p>
            <a:pPr algn="r" indent="0" marL="0">
              <a:buNone/>
            </a:pPr>
            <a:r>
              <a:rPr lang="en-US" sz="1000" b="1" dirty="0">
                <a:solidFill>
                  <a:srgbClr val="6B7280"/>
                </a:solidFill>
                <a:latin typeface="Calibri" pitchFamily="34" charset="0"/>
                <a:ea typeface="Calibri" pitchFamily="34" charset="-122"/>
                <a:cs typeface="Calibri" pitchFamily="34" charset="-120"/>
              </a:rPr>
              <a:t>fello-renewal-risk.vercel.app</a:t>
            </a:r>
            <a:endParaRPr lang="en-US" sz="1000" dirty="0"/>
          </a:p>
          <a:p>
            <a:pPr algn="r" indent="0" marL="0">
              <a:buNone/>
            </a:pPr>
            <a:r>
              <a:rPr lang="en-US" sz="1000" dirty="0">
                <a:solidFill>
                  <a:srgbClr val="6B7280"/>
                </a:solidFill>
                <a:latin typeface="Calibri" pitchFamily="34" charset="0"/>
                <a:ea typeface="Calibri" pitchFamily="34" charset="-122"/>
                <a:cs typeface="Calibri" pitchFamily="34" charset="-120"/>
              </a:rPr>
              <a:t>Sign in as: org_a · org_a-CSM3</a:t>
            </a:r>
            <a:endParaRPr lang="en-US" sz="1000" dirty="0"/>
          </a:p>
          <a:p>
            <a:pPr algn="r" indent="0" marL="0">
              <a:buNone/>
            </a:pPr>
            <a:r>
              <a:rPr lang="en-US" sz="1000" dirty="0">
                <a:solidFill>
                  <a:srgbClr val="6B7280"/>
                </a:solidFill>
                <a:latin typeface="Calibri" pitchFamily="34" charset="0"/>
                <a:ea typeface="Calibri" pitchFamily="34" charset="-122"/>
                <a:cs typeface="Calibri" pitchFamily="34" charset="-120"/>
              </a:rPr>
              <a:t>Access code: shared separately</a:t>
            </a:r>
            <a:endParaRPr lang="en-US" sz="1000" dirty="0"/>
          </a:p>
        </p:txBody>
      </p:sp>
      <p:sp>
        <p:nvSpPr>
          <p:cNvPr id="6" name="Text 4"/>
          <p:cNvSpPr/>
          <p:nvPr/>
        </p:nvSpPr>
        <p:spPr>
          <a:xfrm>
            <a:off x="640080" y="6419088"/>
            <a:ext cx="5486400" cy="27432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Renewal Risk Call List · Fello take-home</a:t>
            </a:r>
            <a:endParaRPr lang="en-US" sz="1000" dirty="0"/>
          </a:p>
        </p:txBody>
      </p:sp>
      <p:pic>
        <p:nvPicPr>
          <p:cNvPr id="8" name="Image 0" descr="/home/udhayakumar/projects/interviews/assignments/fello-take-home/docs/screenshots/deck/call-list.png">    </p:cNvPr>
          <p:cNvPicPr>
            <a:picLocks noChangeAspect="1"/>
          </p:cNvPicPr>
          <p:nvPr/>
        </p:nvPicPr>
        <p:blipFill>
          <a:blip r:embed="rId1"/>
          <a:stretch>
            <a:fillRect/>
          </a:stretch>
        </p:blipFill>
        <p:spPr>
          <a:xfrm>
            <a:off x="640080" y="1691640"/>
            <a:ext cx="6583680" cy="3174274"/>
          </a:xfrm>
          <a:prstGeom prst="rect">
            <a:avLst/>
          </a:prstGeom>
        </p:spPr>
      </p:pic>
      <p:sp>
        <p:nvSpPr>
          <p:cNvPr id="9" name="Shape 5"/>
          <p:cNvSpPr/>
          <p:nvPr/>
        </p:nvSpPr>
        <p:spPr>
          <a:xfrm>
            <a:off x="1194206" y="2262226"/>
            <a:ext cx="274320" cy="274320"/>
          </a:xfrm>
          <a:prstGeom prst="ellipse">
            <a:avLst/>
          </a:prstGeom>
          <a:solidFill>
            <a:srgbClr val="3B4BD8"/>
          </a:solidFill>
          <a:ln w="12700">
            <a:solidFill>
              <a:srgbClr val="FFFFFF"/>
            </a:solidFill>
            <a:prstDash val="solid"/>
          </a:ln>
        </p:spPr>
      </p:sp>
      <p:sp>
        <p:nvSpPr>
          <p:cNvPr id="10" name="Text 6"/>
          <p:cNvSpPr/>
          <p:nvPr/>
        </p:nvSpPr>
        <p:spPr>
          <a:xfrm>
            <a:off x="1194206" y="2262226"/>
            <a:ext cx="274320" cy="2743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Shape 7"/>
          <p:cNvSpPr/>
          <p:nvPr/>
        </p:nvSpPr>
        <p:spPr>
          <a:xfrm>
            <a:off x="2231136" y="2262226"/>
            <a:ext cx="274320" cy="274320"/>
          </a:xfrm>
          <a:prstGeom prst="ellipse">
            <a:avLst/>
          </a:prstGeom>
          <a:solidFill>
            <a:srgbClr val="3B4BD8"/>
          </a:solidFill>
          <a:ln w="12700">
            <a:solidFill>
              <a:srgbClr val="FFFFFF"/>
            </a:solidFill>
            <a:prstDash val="solid"/>
          </a:ln>
        </p:spPr>
      </p:sp>
      <p:sp>
        <p:nvSpPr>
          <p:cNvPr id="12" name="Text 8"/>
          <p:cNvSpPr/>
          <p:nvPr/>
        </p:nvSpPr>
        <p:spPr>
          <a:xfrm>
            <a:off x="2231136" y="2262226"/>
            <a:ext cx="274320" cy="2743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Shape 9"/>
          <p:cNvSpPr/>
          <p:nvPr/>
        </p:nvSpPr>
        <p:spPr>
          <a:xfrm>
            <a:off x="2955341" y="2262226"/>
            <a:ext cx="274320" cy="274320"/>
          </a:xfrm>
          <a:prstGeom prst="ellipse">
            <a:avLst/>
          </a:prstGeom>
          <a:solidFill>
            <a:srgbClr val="3B4BD8"/>
          </a:solidFill>
          <a:ln w="12700">
            <a:solidFill>
              <a:srgbClr val="FFFFFF"/>
            </a:solidFill>
            <a:prstDash val="solid"/>
          </a:ln>
        </p:spPr>
      </p:sp>
      <p:sp>
        <p:nvSpPr>
          <p:cNvPr id="14" name="Text 10"/>
          <p:cNvSpPr/>
          <p:nvPr/>
        </p:nvSpPr>
        <p:spPr>
          <a:xfrm>
            <a:off x="2955341" y="2262226"/>
            <a:ext cx="274320" cy="2743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Shape 11"/>
          <p:cNvSpPr/>
          <p:nvPr/>
        </p:nvSpPr>
        <p:spPr>
          <a:xfrm>
            <a:off x="4881067" y="2262226"/>
            <a:ext cx="274320" cy="274320"/>
          </a:xfrm>
          <a:prstGeom prst="ellipse">
            <a:avLst/>
          </a:prstGeom>
          <a:solidFill>
            <a:srgbClr val="3B4BD8"/>
          </a:solidFill>
          <a:ln w="12700">
            <a:solidFill>
              <a:srgbClr val="FFFFFF"/>
            </a:solidFill>
            <a:prstDash val="solid"/>
          </a:ln>
        </p:spPr>
      </p:sp>
      <p:sp>
        <p:nvSpPr>
          <p:cNvPr id="16" name="Text 12"/>
          <p:cNvSpPr/>
          <p:nvPr/>
        </p:nvSpPr>
        <p:spPr>
          <a:xfrm>
            <a:off x="4881067" y="2262226"/>
            <a:ext cx="274320" cy="2743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7" name="Shape 13"/>
          <p:cNvSpPr/>
          <p:nvPr/>
        </p:nvSpPr>
        <p:spPr>
          <a:xfrm>
            <a:off x="7498080" y="1719072"/>
            <a:ext cx="274320" cy="274320"/>
          </a:xfrm>
          <a:prstGeom prst="ellipse">
            <a:avLst/>
          </a:prstGeom>
          <a:solidFill>
            <a:srgbClr val="3B4BD8"/>
          </a:solidFill>
          <a:ln w="12700">
            <a:solidFill>
              <a:srgbClr val="3B4BD8"/>
            </a:solidFill>
            <a:prstDash val="solid"/>
          </a:ln>
        </p:spPr>
      </p:sp>
      <p:sp>
        <p:nvSpPr>
          <p:cNvPr id="18" name="Text 14"/>
          <p:cNvSpPr/>
          <p:nvPr/>
        </p:nvSpPr>
        <p:spPr>
          <a:xfrm>
            <a:off x="7498080" y="1719072"/>
            <a:ext cx="274320" cy="2743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5"/>
          <p:cNvSpPr/>
          <p:nvPr/>
        </p:nvSpPr>
        <p:spPr>
          <a:xfrm>
            <a:off x="7909560" y="1691640"/>
            <a:ext cx="3611880" cy="329184"/>
          </a:xfrm>
          <a:prstGeom prst="rect">
            <a:avLst/>
          </a:prstGeom>
          <a:noFill/>
          <a:ln/>
        </p:spPr>
        <p:txBody>
          <a:bodyPr wrap="square"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Ranked by money at risk</a:t>
            </a:r>
            <a:endParaRPr lang="en-US" sz="1500" dirty="0"/>
          </a:p>
        </p:txBody>
      </p:sp>
      <p:sp>
        <p:nvSpPr>
          <p:cNvPr id="20" name="Text 16"/>
          <p:cNvSpPr/>
          <p:nvPr/>
        </p:nvSpPr>
        <p:spPr>
          <a:xfrm>
            <a:off x="7909560" y="2039112"/>
            <a:ext cx="3611880" cy="411480"/>
          </a:xfrm>
          <a:prstGeom prst="rect">
            <a:avLst/>
          </a:prstGeom>
          <a:noFill/>
          <a:ln/>
        </p:spPr>
        <p:txBody>
          <a:bodyPr wrap="square" rtlCol="0" anchor="t"/>
          <a:lstStyle/>
          <a:p>
            <a:pPr indent="0" marL="0">
              <a:buNone/>
            </a:pPr>
            <a:r>
              <a:rPr lang="en-US" sz="1300" dirty="0">
                <a:solidFill>
                  <a:srgbClr val="111827"/>
                </a:solidFill>
                <a:latin typeface="Calibri" pitchFamily="34" charset="0"/>
                <a:ea typeface="Calibri" pitchFamily="34" charset="-122"/>
                <a:cs typeface="Calibri" pitchFamily="34" charset="-120"/>
              </a:rPr>
              <a:t>Highest first. The top 15 are this week's calls.</a:t>
            </a:r>
            <a:endParaRPr lang="en-US" sz="1300" dirty="0"/>
          </a:p>
        </p:txBody>
      </p:sp>
      <p:sp>
        <p:nvSpPr>
          <p:cNvPr id="21" name="Shape 17"/>
          <p:cNvSpPr/>
          <p:nvPr/>
        </p:nvSpPr>
        <p:spPr>
          <a:xfrm>
            <a:off x="7498080" y="2560320"/>
            <a:ext cx="274320" cy="274320"/>
          </a:xfrm>
          <a:prstGeom prst="ellipse">
            <a:avLst/>
          </a:prstGeom>
          <a:solidFill>
            <a:srgbClr val="3B4BD8"/>
          </a:solidFill>
          <a:ln w="12700">
            <a:solidFill>
              <a:srgbClr val="3B4BD8"/>
            </a:solidFill>
            <a:prstDash val="solid"/>
          </a:ln>
        </p:spPr>
      </p:sp>
      <p:sp>
        <p:nvSpPr>
          <p:cNvPr id="22" name="Text 18"/>
          <p:cNvSpPr/>
          <p:nvPr/>
        </p:nvSpPr>
        <p:spPr>
          <a:xfrm>
            <a:off x="7498080" y="2560320"/>
            <a:ext cx="274320" cy="2743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3" name="Text 19"/>
          <p:cNvSpPr/>
          <p:nvPr/>
        </p:nvSpPr>
        <p:spPr>
          <a:xfrm>
            <a:off x="7909560" y="2532888"/>
            <a:ext cx="3611880" cy="329184"/>
          </a:xfrm>
          <a:prstGeom prst="rect">
            <a:avLst/>
          </a:prstGeom>
          <a:noFill/>
          <a:ln/>
        </p:spPr>
        <p:txBody>
          <a:bodyPr wrap="square"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Chance of leaving in 90 days</a:t>
            </a:r>
            <a:endParaRPr lang="en-US" sz="1500" dirty="0"/>
          </a:p>
        </p:txBody>
      </p:sp>
      <p:sp>
        <p:nvSpPr>
          <p:cNvPr id="24" name="Text 20"/>
          <p:cNvSpPr/>
          <p:nvPr/>
        </p:nvSpPr>
        <p:spPr>
          <a:xfrm>
            <a:off x="7909560" y="2880360"/>
            <a:ext cx="3611880" cy="411480"/>
          </a:xfrm>
          <a:prstGeom prst="rect">
            <a:avLst/>
          </a:prstGeom>
          <a:noFill/>
          <a:ln/>
        </p:spPr>
        <p:txBody>
          <a:bodyPr wrap="square" rtlCol="0" anchor="t"/>
          <a:lstStyle/>
          <a:p>
            <a:pPr indent="0" marL="0">
              <a:buNone/>
            </a:pPr>
            <a:r>
              <a:rPr lang="en-US" sz="1300" dirty="0">
                <a:solidFill>
                  <a:srgbClr val="111827"/>
                </a:solidFill>
                <a:latin typeface="Calibri" pitchFamily="34" charset="0"/>
                <a:ea typeface="Calibri" pitchFamily="34" charset="-122"/>
                <a:cs typeface="Calibri" pitchFamily="34" charset="-120"/>
              </a:rPr>
              <a:t>From the score learned from past renewals.</a:t>
            </a:r>
            <a:endParaRPr lang="en-US" sz="1300" dirty="0"/>
          </a:p>
        </p:txBody>
      </p:sp>
      <p:sp>
        <p:nvSpPr>
          <p:cNvPr id="25" name="Shape 21"/>
          <p:cNvSpPr/>
          <p:nvPr/>
        </p:nvSpPr>
        <p:spPr>
          <a:xfrm>
            <a:off x="7498080" y="3401568"/>
            <a:ext cx="274320" cy="274320"/>
          </a:xfrm>
          <a:prstGeom prst="ellipse">
            <a:avLst/>
          </a:prstGeom>
          <a:solidFill>
            <a:srgbClr val="3B4BD8"/>
          </a:solidFill>
          <a:ln w="12700">
            <a:solidFill>
              <a:srgbClr val="3B4BD8"/>
            </a:solidFill>
            <a:prstDash val="solid"/>
          </a:ln>
        </p:spPr>
      </p:sp>
      <p:sp>
        <p:nvSpPr>
          <p:cNvPr id="26" name="Text 22"/>
          <p:cNvSpPr/>
          <p:nvPr/>
        </p:nvSpPr>
        <p:spPr>
          <a:xfrm>
            <a:off x="7498080" y="3401568"/>
            <a:ext cx="274320" cy="2743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7" name="Text 23"/>
          <p:cNvSpPr/>
          <p:nvPr/>
        </p:nvSpPr>
        <p:spPr>
          <a:xfrm>
            <a:off x="7909560" y="3374136"/>
            <a:ext cx="3611880" cy="329184"/>
          </a:xfrm>
          <a:prstGeom prst="rect">
            <a:avLst/>
          </a:prstGeom>
          <a:noFill/>
          <a:ln/>
        </p:spPr>
        <p:txBody>
          <a:bodyPr wrap="square"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Money at risk</a:t>
            </a:r>
            <a:endParaRPr lang="en-US" sz="1500" dirty="0"/>
          </a:p>
        </p:txBody>
      </p:sp>
      <p:sp>
        <p:nvSpPr>
          <p:cNvPr id="28" name="Text 24"/>
          <p:cNvSpPr/>
          <p:nvPr/>
        </p:nvSpPr>
        <p:spPr>
          <a:xfrm>
            <a:off x="7909560" y="3721608"/>
            <a:ext cx="3611880" cy="411480"/>
          </a:xfrm>
          <a:prstGeom prst="rect">
            <a:avLst/>
          </a:prstGeom>
          <a:noFill/>
          <a:ln/>
        </p:spPr>
        <p:txBody>
          <a:bodyPr wrap="square" rtlCol="0" anchor="t"/>
          <a:lstStyle/>
          <a:p>
            <a:pPr indent="0" marL="0">
              <a:buNone/>
            </a:pPr>
            <a:r>
              <a:rPr lang="en-US" sz="1300" dirty="0">
                <a:solidFill>
                  <a:srgbClr val="111827"/>
                </a:solidFill>
                <a:latin typeface="Calibri" pitchFamily="34" charset="0"/>
                <a:ea typeface="Calibri" pitchFamily="34" charset="-122"/>
                <a:cs typeface="Calibri" pitchFamily="34" charset="-120"/>
              </a:rPr>
              <a:t>Chance × contract value.</a:t>
            </a:r>
            <a:endParaRPr lang="en-US" sz="1300" dirty="0"/>
          </a:p>
        </p:txBody>
      </p:sp>
      <p:sp>
        <p:nvSpPr>
          <p:cNvPr id="29" name="Shape 25"/>
          <p:cNvSpPr/>
          <p:nvPr/>
        </p:nvSpPr>
        <p:spPr>
          <a:xfrm>
            <a:off x="7498080" y="4242816"/>
            <a:ext cx="274320" cy="274320"/>
          </a:xfrm>
          <a:prstGeom prst="ellipse">
            <a:avLst/>
          </a:prstGeom>
          <a:solidFill>
            <a:srgbClr val="3B4BD8"/>
          </a:solidFill>
          <a:ln w="12700">
            <a:solidFill>
              <a:srgbClr val="3B4BD8"/>
            </a:solidFill>
            <a:prstDash val="solid"/>
          </a:ln>
        </p:spPr>
      </p:sp>
      <p:sp>
        <p:nvSpPr>
          <p:cNvPr id="30" name="Text 26"/>
          <p:cNvSpPr/>
          <p:nvPr/>
        </p:nvSpPr>
        <p:spPr>
          <a:xfrm>
            <a:off x="7498080" y="4242816"/>
            <a:ext cx="274320" cy="2743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31" name="Text 27"/>
          <p:cNvSpPr/>
          <p:nvPr/>
        </p:nvSpPr>
        <p:spPr>
          <a:xfrm>
            <a:off x="7909560" y="4215384"/>
            <a:ext cx="3611880" cy="329184"/>
          </a:xfrm>
          <a:prstGeom prst="rect">
            <a:avLst/>
          </a:prstGeom>
          <a:noFill/>
          <a:ln/>
        </p:spPr>
        <p:txBody>
          <a:bodyPr wrap="square"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Reasons in plain words</a:t>
            </a:r>
            <a:endParaRPr lang="en-US" sz="1500" dirty="0"/>
          </a:p>
        </p:txBody>
      </p:sp>
      <p:sp>
        <p:nvSpPr>
          <p:cNvPr id="32" name="Text 28"/>
          <p:cNvSpPr/>
          <p:nvPr/>
        </p:nvSpPr>
        <p:spPr>
          <a:xfrm>
            <a:off x="7909560" y="4562856"/>
            <a:ext cx="3611880" cy="411480"/>
          </a:xfrm>
          <a:prstGeom prst="rect">
            <a:avLst/>
          </a:prstGeom>
          <a:noFill/>
          <a:ln/>
        </p:spPr>
        <p:txBody>
          <a:bodyPr wrap="square" rtlCol="0" anchor="t"/>
          <a:lstStyle/>
          <a:p>
            <a:pPr indent="0" marL="0">
              <a:buNone/>
            </a:pPr>
            <a:r>
              <a:rPr lang="en-US" sz="1300" dirty="0">
                <a:solidFill>
                  <a:srgbClr val="111827"/>
                </a:solidFill>
                <a:latin typeface="Calibri" pitchFamily="34" charset="0"/>
                <a:ea typeface="Calibri" pitchFamily="34" charset="-122"/>
                <a:cs typeface="Calibri" pitchFamily="34" charset="-120"/>
              </a:rPr>
              <a:t>Each one gives the call a talking point.</a:t>
            </a:r>
            <a:endParaRPr lang="en-US" sz="1300" dirty="0"/>
          </a:p>
        </p:txBody>
      </p:sp>
      <p:sp>
        <p:nvSpPr>
          <p:cNvPr id="33" name="Shape 29"/>
          <p:cNvSpPr/>
          <p:nvPr/>
        </p:nvSpPr>
        <p:spPr>
          <a:xfrm>
            <a:off x="640080" y="4983480"/>
            <a:ext cx="10908792" cy="1188720"/>
          </a:xfrm>
          <a:prstGeom prst="roundRect">
            <a:avLst>
              <a:gd name="adj" fmla="val 9231"/>
            </a:avLst>
          </a:prstGeom>
          <a:solidFill>
            <a:srgbClr val="E8EAFD"/>
          </a:solidFill>
          <a:ln w="12700">
            <a:solidFill>
              <a:srgbClr val="E8EAFD"/>
            </a:solidFill>
            <a:prstDash val="solid"/>
          </a:ln>
        </p:spPr>
      </p:sp>
      <p:sp>
        <p:nvSpPr>
          <p:cNvPr id="34" name="Text 30"/>
          <p:cNvSpPr/>
          <p:nvPr/>
        </p:nvSpPr>
        <p:spPr>
          <a:xfrm>
            <a:off x="868680" y="5029200"/>
            <a:ext cx="10451592" cy="1097280"/>
          </a:xfrm>
          <a:prstGeom prst="rect">
            <a:avLst/>
          </a:prstGeom>
          <a:noFill/>
          <a:ln/>
        </p:spPr>
        <p:txBody>
          <a:bodyPr wrap="square" rtlCol="0" anchor="ctr"/>
          <a:lstStyle/>
          <a:p>
            <a:pPr indent="0" marL="0">
              <a:buNone/>
            </a:pPr>
            <a:r>
              <a:rPr lang="en-US" sz="1400" b="1" dirty="0">
                <a:solidFill>
                  <a:srgbClr val="3B4BD8"/>
                </a:solidFill>
                <a:latin typeface="Calibri" pitchFamily="34" charset="0"/>
                <a:ea typeface="Calibri" pitchFamily="34" charset="-122"/>
                <a:cs typeface="Calibri" pitchFamily="34" charset="-120"/>
              </a:rPr>
              <a:t>Priority is not the same as chance. </a:t>
            </a:r>
            <a:pPr indent="0" marL="0">
              <a:buNone/>
            </a:pPr>
            <a:r>
              <a:rPr lang="en-US" sz="1400" dirty="0">
                <a:solidFill>
                  <a:srgbClr val="111827"/>
                </a:solidFill>
                <a:latin typeface="Calibri" pitchFamily="34" charset="0"/>
                <a:ea typeface="Calibri" pitchFamily="34" charset="-122"/>
                <a:cs typeface="Calibri" pitchFamily="34" charset="-120"/>
              </a:rPr>
              <a:t>Harbor Health: 2.6% chance × $160,400 = $4,213 at risk, ranked first. Hollow Finance: 4.9% × $30,900 = $1,524, ranked second. The list ranks money exposed, not who is likeliest to leave. It does not estimate how much a call would save.</a:t>
            </a:r>
            <a:endParaRPr lang="en-US" sz="1400" dirty="0"/>
          </a:p>
        </p:txBody>
      </p:sp>
      <p:sp>
        <p:nvSpPr>
          <p:cNvPr id="25" name="Slide Number Placeholder 0"/>
          <p:cNvSpPr>
            <a:spLocks noGrp="1"/>
          </p:cNvSpPr>
          <p:nvPr>
            <p:ph type="sldNum" sz="quarter" idx="4294967295"/>
          </p:nvPr>
        </p:nvSpPr>
        <p:spPr>
          <a:xfrm>
            <a:off x="1088136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7315200" cy="274320"/>
          </a:xfrm>
          <a:prstGeom prst="rect">
            <a:avLst/>
          </a:prstGeom>
          <a:noFill/>
          <a:ln/>
        </p:spPr>
        <p:txBody>
          <a:bodyPr wrap="square" rtlCol="0" anchor="ctr"/>
          <a:lstStyle/>
          <a:p>
            <a:pPr indent="0" marL="0">
              <a:buNone/>
            </a:pPr>
            <a:r>
              <a:rPr lang="en-US" sz="1200" b="1" spc="300" kern="0" dirty="0">
                <a:solidFill>
                  <a:srgbClr val="3B4BD8"/>
                </a:solidFill>
                <a:latin typeface="Calibri" pitchFamily="34" charset="0"/>
                <a:ea typeface="Calibri" pitchFamily="34" charset="-122"/>
                <a:cs typeface="Calibri" pitchFamily="34" charset="-120"/>
              </a:rPr>
              <a:t>5 · THE OVERALL SYSTEM</a:t>
            </a:r>
            <a:endParaRPr lang="en-US" sz="1200" dirty="0"/>
          </a:p>
        </p:txBody>
      </p:sp>
      <p:sp>
        <p:nvSpPr>
          <p:cNvPr id="3" name="Text 1"/>
          <p:cNvSpPr/>
          <p:nvPr/>
        </p:nvSpPr>
        <p:spPr>
          <a:xfrm>
            <a:off x="640080" y="658368"/>
            <a:ext cx="8778240" cy="868680"/>
          </a:xfrm>
          <a:prstGeom prst="rect">
            <a:avLst/>
          </a:prstGeom>
          <a:noFill/>
          <a:ln/>
        </p:spPr>
        <p:txBody>
          <a:bodyPr wrap="square" rtlCol="0" anchor="t"/>
          <a:lstStyle/>
          <a:p>
            <a:pPr indent="0" marL="0">
              <a:buNone/>
            </a:pPr>
            <a:r>
              <a:rPr lang="en-US" sz="2800" b="1" dirty="0">
                <a:solidFill>
                  <a:srgbClr val="111827"/>
                </a:solidFill>
                <a:latin typeface="Calibri" pitchFamily="34" charset="0"/>
                <a:ea typeface="Calibri" pitchFamily="34" charset="-122"/>
                <a:cs typeface="Calibri" pitchFamily="34" charset="-120"/>
              </a:rPr>
              <a:t>One account: from warning signs to a call</a:t>
            </a:r>
            <a:endParaRPr lang="en-US" sz="2800" dirty="0"/>
          </a:p>
        </p:txBody>
      </p:sp>
      <p:sp>
        <p:nvSpPr>
          <p:cNvPr id="4" name="Text 2"/>
          <p:cNvSpPr/>
          <p:nvPr/>
        </p:nvSpPr>
        <p:spPr>
          <a:xfrm>
            <a:off x="9902952" y="411480"/>
            <a:ext cx="1645920" cy="347472"/>
          </a:xfrm>
          <a:prstGeom prst="rect">
            <a:avLst/>
          </a:prstGeom>
          <a:solidFill>
            <a:srgbClr val="3B4BD8"/>
          </a:solid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LIVE DEMO</a:t>
            </a:r>
            <a:endParaRPr lang="en-US" sz="1200" dirty="0"/>
          </a:p>
        </p:txBody>
      </p:sp>
      <p:sp>
        <p:nvSpPr>
          <p:cNvPr id="5" name="Text 3"/>
          <p:cNvSpPr/>
          <p:nvPr/>
        </p:nvSpPr>
        <p:spPr>
          <a:xfrm>
            <a:off x="9326880" y="822960"/>
            <a:ext cx="2221992" cy="685800"/>
          </a:xfrm>
          <a:prstGeom prst="rect">
            <a:avLst/>
          </a:prstGeom>
          <a:noFill/>
          <a:ln/>
        </p:spPr>
        <p:txBody>
          <a:bodyPr wrap="square" rtlCol="0" anchor="t"/>
          <a:lstStyle/>
          <a:p>
            <a:pPr algn="r" indent="0" marL="0">
              <a:buNone/>
            </a:pPr>
            <a:r>
              <a:rPr lang="en-US" sz="1000" b="1" dirty="0">
                <a:solidFill>
                  <a:srgbClr val="6B7280"/>
                </a:solidFill>
                <a:latin typeface="Calibri" pitchFamily="34" charset="0"/>
                <a:ea typeface="Calibri" pitchFamily="34" charset="-122"/>
                <a:cs typeface="Calibri" pitchFamily="34" charset="-120"/>
              </a:rPr>
              <a:t>fello-renewal-risk.vercel.app</a:t>
            </a:r>
            <a:endParaRPr lang="en-US" sz="1000" dirty="0"/>
          </a:p>
          <a:p>
            <a:pPr algn="r" indent="0" marL="0">
              <a:buNone/>
            </a:pPr>
            <a:r>
              <a:rPr lang="en-US" sz="1000" dirty="0">
                <a:solidFill>
                  <a:srgbClr val="6B7280"/>
                </a:solidFill>
                <a:latin typeface="Calibri" pitchFamily="34" charset="0"/>
                <a:ea typeface="Calibri" pitchFamily="34" charset="-122"/>
                <a:cs typeface="Calibri" pitchFamily="34" charset="-120"/>
              </a:rPr>
              <a:t>Sign in as: org_a · org_a-CSM3</a:t>
            </a:r>
            <a:endParaRPr lang="en-US" sz="1000" dirty="0"/>
          </a:p>
          <a:p>
            <a:pPr algn="r" indent="0" marL="0">
              <a:buNone/>
            </a:pPr>
            <a:r>
              <a:rPr lang="en-US" sz="1000" dirty="0">
                <a:solidFill>
                  <a:srgbClr val="6B7280"/>
                </a:solidFill>
                <a:latin typeface="Calibri" pitchFamily="34" charset="0"/>
                <a:ea typeface="Calibri" pitchFamily="34" charset="-122"/>
                <a:cs typeface="Calibri" pitchFamily="34" charset="-120"/>
              </a:rPr>
              <a:t>Access code: shared separately</a:t>
            </a:r>
            <a:endParaRPr lang="en-US" sz="1000" dirty="0"/>
          </a:p>
        </p:txBody>
      </p:sp>
      <p:sp>
        <p:nvSpPr>
          <p:cNvPr id="6" name="Text 4"/>
          <p:cNvSpPr/>
          <p:nvPr/>
        </p:nvSpPr>
        <p:spPr>
          <a:xfrm>
            <a:off x="640080" y="6419088"/>
            <a:ext cx="5486400" cy="27432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Renewal Risk Call List · Fello take-home</a:t>
            </a:r>
            <a:endParaRPr lang="en-US" sz="1000" dirty="0"/>
          </a:p>
        </p:txBody>
      </p:sp>
      <p:pic>
        <p:nvPicPr>
          <p:cNvPr id="8" name="Image 0" descr="/home/udhayakumar/projects/interviews/assignments/fello-take-home/docs/screenshots/deck/account.png">    </p:cNvPr>
          <p:cNvPicPr>
            <a:picLocks noChangeAspect="1"/>
          </p:cNvPicPr>
          <p:nvPr/>
        </p:nvPicPr>
        <p:blipFill>
          <a:blip r:embed="rId1"/>
          <a:stretch>
            <a:fillRect/>
          </a:stretch>
        </p:blipFill>
        <p:spPr>
          <a:xfrm>
            <a:off x="640080" y="1691640"/>
            <a:ext cx="6309360" cy="3887016"/>
          </a:xfrm>
          <a:prstGeom prst="rect">
            <a:avLst/>
          </a:prstGeom>
        </p:spPr>
      </p:pic>
      <p:sp>
        <p:nvSpPr>
          <p:cNvPr id="9" name="Text 5"/>
          <p:cNvSpPr/>
          <p:nvPr/>
        </p:nvSpPr>
        <p:spPr>
          <a:xfrm>
            <a:off x="7269480" y="1691640"/>
            <a:ext cx="4297680" cy="329184"/>
          </a:xfrm>
          <a:prstGeom prst="rect">
            <a:avLst/>
          </a:prstGeom>
          <a:noFill/>
          <a:ln/>
        </p:spPr>
        <p:txBody>
          <a:bodyPr wrap="square" rtlCol="0" anchor="ctr"/>
          <a:lstStyle/>
          <a:p>
            <a:pPr indent="0" marL="0">
              <a:buNone/>
            </a:pPr>
            <a:r>
              <a:rPr lang="en-US" sz="1500" b="1" dirty="0">
                <a:solidFill>
                  <a:srgbClr val="3B4BD8"/>
                </a:solidFill>
                <a:latin typeface="Calibri" pitchFamily="34" charset="0"/>
                <a:ea typeface="Calibri" pitchFamily="34" charset="-122"/>
                <a:cs typeface="Calibri" pitchFamily="34" charset="-120"/>
              </a:rPr>
              <a:t>1  It is number one on the list</a:t>
            </a:r>
            <a:endParaRPr lang="en-US" sz="1500" dirty="0"/>
          </a:p>
        </p:txBody>
      </p:sp>
      <p:sp>
        <p:nvSpPr>
          <p:cNvPr id="10" name="Text 6"/>
          <p:cNvSpPr/>
          <p:nvPr/>
        </p:nvSpPr>
        <p:spPr>
          <a:xfrm>
            <a:off x="7269480" y="2039112"/>
            <a:ext cx="4297680" cy="594360"/>
          </a:xfrm>
          <a:prstGeom prst="rect">
            <a:avLst/>
          </a:prstGeom>
          <a:noFill/>
          <a:ln/>
        </p:spPr>
        <p:txBody>
          <a:bodyPr wrap="square" rtlCol="0" anchor="t"/>
          <a:lstStyle/>
          <a:p>
            <a:pPr indent="0" marL="0">
              <a:buNone/>
            </a:pPr>
            <a:r>
              <a:rPr lang="en-US" sz="1300" dirty="0">
                <a:solidFill>
                  <a:srgbClr val="111827"/>
                </a:solidFill>
                <a:latin typeface="Calibri" pitchFamily="34" charset="0"/>
                <a:ea typeface="Calibri" pitchFamily="34" charset="-122"/>
                <a:cs typeface="Calibri" pitchFamily="34" charset="-120"/>
              </a:rPr>
              <a:t>7.3% chance of leaving, $7,307 at risk, renewal in 9 days.</a:t>
            </a:r>
            <a:endParaRPr lang="en-US" sz="1300" dirty="0"/>
          </a:p>
        </p:txBody>
      </p:sp>
      <p:sp>
        <p:nvSpPr>
          <p:cNvPr id="11" name="Text 7"/>
          <p:cNvSpPr/>
          <p:nvPr/>
        </p:nvSpPr>
        <p:spPr>
          <a:xfrm>
            <a:off x="7269480" y="2670048"/>
            <a:ext cx="4297680" cy="329184"/>
          </a:xfrm>
          <a:prstGeom prst="rect">
            <a:avLst/>
          </a:prstGeom>
          <a:noFill/>
          <a:ln/>
        </p:spPr>
        <p:txBody>
          <a:bodyPr wrap="square" rtlCol="0" anchor="ctr"/>
          <a:lstStyle/>
          <a:p>
            <a:pPr indent="0" marL="0">
              <a:buNone/>
            </a:pPr>
            <a:r>
              <a:rPr lang="en-US" sz="1500" b="1" dirty="0">
                <a:solidFill>
                  <a:srgbClr val="3B4BD8"/>
                </a:solidFill>
                <a:latin typeface="Calibri" pitchFamily="34" charset="0"/>
                <a:ea typeface="Calibri" pitchFamily="34" charset="-122"/>
                <a:cs typeface="Calibri" pitchFamily="34" charset="-120"/>
              </a:rPr>
              <a:t>2  The reasons are specific</a:t>
            </a:r>
            <a:endParaRPr lang="en-US" sz="1500" dirty="0"/>
          </a:p>
        </p:txBody>
      </p:sp>
      <p:sp>
        <p:nvSpPr>
          <p:cNvPr id="12" name="Text 8"/>
          <p:cNvSpPr/>
          <p:nvPr/>
        </p:nvSpPr>
        <p:spPr>
          <a:xfrm>
            <a:off x="7269480" y="3017520"/>
            <a:ext cx="4297680" cy="594360"/>
          </a:xfrm>
          <a:prstGeom prst="rect">
            <a:avLst/>
          </a:prstGeom>
          <a:noFill/>
          <a:ln/>
        </p:spPr>
        <p:txBody>
          <a:bodyPr wrap="square" rtlCol="0" anchor="t"/>
          <a:lstStyle/>
          <a:p>
            <a:pPr indent="0" marL="0">
              <a:buNone/>
            </a:pPr>
            <a:r>
              <a:rPr lang="en-US" sz="1300" dirty="0">
                <a:solidFill>
                  <a:srgbClr val="111827"/>
                </a:solidFill>
                <a:latin typeface="Calibri" pitchFamily="34" charset="0"/>
                <a:ea typeface="Calibri" pitchFamily="34" charset="-122"/>
                <a:cs typeface="Calibri" pitchFamily="34" charset="-120"/>
              </a:rPr>
              <a:t>2 support tickets in 90 days (a typical customer has 0.5), and 1 contact marked inactive.</a:t>
            </a:r>
            <a:endParaRPr lang="en-US" sz="1300" dirty="0"/>
          </a:p>
        </p:txBody>
      </p:sp>
      <p:sp>
        <p:nvSpPr>
          <p:cNvPr id="13" name="Text 9"/>
          <p:cNvSpPr/>
          <p:nvPr/>
        </p:nvSpPr>
        <p:spPr>
          <a:xfrm>
            <a:off x="7269480" y="3648456"/>
            <a:ext cx="4297680" cy="329184"/>
          </a:xfrm>
          <a:prstGeom prst="rect">
            <a:avLst/>
          </a:prstGeom>
          <a:noFill/>
          <a:ln/>
        </p:spPr>
        <p:txBody>
          <a:bodyPr wrap="square" rtlCol="0" anchor="ctr"/>
          <a:lstStyle/>
          <a:p>
            <a:pPr indent="0" marL="0">
              <a:buNone/>
            </a:pPr>
            <a:r>
              <a:rPr lang="en-US" sz="1500" b="1" dirty="0">
                <a:solidFill>
                  <a:srgbClr val="3B4BD8"/>
                </a:solidFill>
                <a:latin typeface="Calibri" pitchFamily="34" charset="0"/>
                <a:ea typeface="Calibri" pitchFamily="34" charset="-122"/>
                <a:cs typeface="Calibri" pitchFamily="34" charset="-120"/>
              </a:rPr>
              <a:t>3  Every reason links to records</a:t>
            </a:r>
            <a:endParaRPr lang="en-US" sz="1500" dirty="0"/>
          </a:p>
        </p:txBody>
      </p:sp>
      <p:sp>
        <p:nvSpPr>
          <p:cNvPr id="14" name="Text 10"/>
          <p:cNvSpPr/>
          <p:nvPr/>
        </p:nvSpPr>
        <p:spPr>
          <a:xfrm>
            <a:off x="7269480" y="3995928"/>
            <a:ext cx="4297680" cy="594360"/>
          </a:xfrm>
          <a:prstGeom prst="rect">
            <a:avLst/>
          </a:prstGeom>
          <a:noFill/>
          <a:ln/>
        </p:spPr>
        <p:txBody>
          <a:bodyPr wrap="square" rtlCol="0" anchor="t"/>
          <a:lstStyle/>
          <a:p>
            <a:pPr indent="0" marL="0">
              <a:buNone/>
            </a:pPr>
            <a:r>
              <a:rPr lang="en-US" sz="1300" dirty="0">
                <a:solidFill>
                  <a:srgbClr val="111827"/>
                </a:solidFill>
                <a:latin typeface="Calibri" pitchFamily="34" charset="0"/>
                <a:ea typeface="Calibri" pitchFamily="34" charset="-122"/>
                <a:cs typeface="Calibri" pitchFamily="34" charset="-120"/>
              </a:rPr>
              <a:t>Ticket IDs zd9f398346b6 and zd231971d522, and contact SC86b7decf.</a:t>
            </a:r>
            <a:endParaRPr lang="en-US" sz="1300" dirty="0"/>
          </a:p>
        </p:txBody>
      </p:sp>
      <p:sp>
        <p:nvSpPr>
          <p:cNvPr id="15" name="Text 11"/>
          <p:cNvSpPr/>
          <p:nvPr/>
        </p:nvSpPr>
        <p:spPr>
          <a:xfrm>
            <a:off x="7269480" y="4626864"/>
            <a:ext cx="4297680" cy="329184"/>
          </a:xfrm>
          <a:prstGeom prst="rect">
            <a:avLst/>
          </a:prstGeom>
          <a:noFill/>
          <a:ln/>
        </p:spPr>
        <p:txBody>
          <a:bodyPr wrap="square" rtlCol="0" anchor="ctr"/>
          <a:lstStyle/>
          <a:p>
            <a:pPr indent="0" marL="0">
              <a:buNone/>
            </a:pPr>
            <a:r>
              <a:rPr lang="en-US" sz="1500" b="1" dirty="0">
                <a:solidFill>
                  <a:srgbClr val="3B4BD8"/>
                </a:solidFill>
                <a:latin typeface="Calibri" pitchFamily="34" charset="0"/>
                <a:ea typeface="Calibri" pitchFamily="34" charset="-122"/>
                <a:cs typeface="Calibri" pitchFamily="34" charset="-120"/>
              </a:rPr>
              <a:t>4  The call is logged</a:t>
            </a:r>
            <a:endParaRPr lang="en-US" sz="1500" dirty="0"/>
          </a:p>
        </p:txBody>
      </p:sp>
      <p:sp>
        <p:nvSpPr>
          <p:cNvPr id="16" name="Text 12"/>
          <p:cNvSpPr/>
          <p:nvPr/>
        </p:nvSpPr>
        <p:spPr>
          <a:xfrm>
            <a:off x="7269480" y="4974336"/>
            <a:ext cx="4297680" cy="594360"/>
          </a:xfrm>
          <a:prstGeom prst="rect">
            <a:avLst/>
          </a:prstGeom>
          <a:noFill/>
          <a:ln/>
        </p:spPr>
        <p:txBody>
          <a:bodyPr wrap="square" rtlCol="0" anchor="t"/>
          <a:lstStyle/>
          <a:p>
            <a:pPr indent="0" marL="0">
              <a:buNone/>
            </a:pPr>
            <a:r>
              <a:rPr lang="en-US" sz="1300" dirty="0">
                <a:solidFill>
                  <a:srgbClr val="111827"/>
                </a:solidFill>
                <a:latin typeface="Calibri" pitchFamily="34" charset="0"/>
                <a:ea typeface="Calibri" pitchFamily="34" charset="-122"/>
                <a:cs typeface="Calibri" pitchFamily="34" charset="-120"/>
              </a:rPr>
              <a:t>One click: the account leaves this week's list for 14 days and the next one moves up.</a:t>
            </a:r>
            <a:endParaRPr lang="en-US" sz="1300" dirty="0"/>
          </a:p>
        </p:txBody>
      </p:sp>
      <p:sp>
        <p:nvSpPr>
          <p:cNvPr id="17" name="Shape 13"/>
          <p:cNvSpPr/>
          <p:nvPr/>
        </p:nvSpPr>
        <p:spPr>
          <a:xfrm>
            <a:off x="640080" y="5760720"/>
            <a:ext cx="10908792" cy="502920"/>
          </a:xfrm>
          <a:prstGeom prst="roundRect">
            <a:avLst>
              <a:gd name="adj" fmla="val 21818"/>
            </a:avLst>
          </a:prstGeom>
          <a:solidFill>
            <a:srgbClr val="E8EAFD"/>
          </a:solidFill>
          <a:ln w="12700">
            <a:solidFill>
              <a:srgbClr val="E8EAFD"/>
            </a:solidFill>
            <a:prstDash val="solid"/>
          </a:ln>
        </p:spPr>
      </p:sp>
      <p:sp>
        <p:nvSpPr>
          <p:cNvPr id="18" name="Text 14"/>
          <p:cNvSpPr/>
          <p:nvPr/>
        </p:nvSpPr>
        <p:spPr>
          <a:xfrm>
            <a:off x="868680" y="5760720"/>
            <a:ext cx="10451592" cy="502920"/>
          </a:xfrm>
          <a:prstGeom prst="rect">
            <a:avLst/>
          </a:prstGeom>
          <a:noFill/>
          <a:ln/>
        </p:spPr>
        <p:txBody>
          <a:bodyPr wrap="square"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A person decides who to call and what to say. The system finds the accounts and shows the evidence.</a:t>
            </a:r>
            <a:endParaRPr lang="en-US" sz="1500" dirty="0"/>
          </a:p>
        </p:txBody>
      </p:sp>
      <p:sp>
        <p:nvSpPr>
          <p:cNvPr id="25" name="Slide Number Placeholder 0"/>
          <p:cNvSpPr>
            <a:spLocks noGrp="1"/>
          </p:cNvSpPr>
          <p:nvPr>
            <p:ph type="sldNum" sz="quarter" idx="4294967295"/>
          </p:nvPr>
        </p:nvSpPr>
        <p:spPr>
          <a:xfrm>
            <a:off x="1088136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7315200" cy="274320"/>
          </a:xfrm>
          <a:prstGeom prst="rect">
            <a:avLst/>
          </a:prstGeom>
          <a:noFill/>
          <a:ln/>
        </p:spPr>
        <p:txBody>
          <a:bodyPr wrap="square" rtlCol="0" anchor="ctr"/>
          <a:lstStyle/>
          <a:p>
            <a:pPr indent="0" marL="0">
              <a:buNone/>
            </a:pPr>
            <a:r>
              <a:rPr lang="en-US" sz="1200" b="1" spc="300" kern="0" dirty="0">
                <a:solidFill>
                  <a:srgbClr val="3B4BD8"/>
                </a:solidFill>
                <a:latin typeface="Calibri" pitchFamily="34" charset="0"/>
                <a:ea typeface="Calibri" pitchFamily="34" charset="-122"/>
                <a:cs typeface="Calibri" pitchFamily="34" charset="-120"/>
              </a:rPr>
              <a:t>5 · THE OVERALL SYSTEM</a:t>
            </a:r>
            <a:endParaRPr lang="en-US" sz="1200" dirty="0"/>
          </a:p>
        </p:txBody>
      </p:sp>
      <p:sp>
        <p:nvSpPr>
          <p:cNvPr id="3" name="Text 1"/>
          <p:cNvSpPr/>
          <p:nvPr/>
        </p:nvSpPr>
        <p:spPr>
          <a:xfrm>
            <a:off x="640080" y="658368"/>
            <a:ext cx="8778240" cy="868680"/>
          </a:xfrm>
          <a:prstGeom prst="rect">
            <a:avLst/>
          </a:prstGeom>
          <a:noFill/>
          <a:ln/>
        </p:spPr>
        <p:txBody>
          <a:bodyPr wrap="square" rtlCol="0" anchor="t"/>
          <a:lstStyle/>
          <a:p>
            <a:pPr indent="0" marL="0">
              <a:buNone/>
            </a:pPr>
            <a:r>
              <a:rPr lang="en-US" sz="2800" b="1" dirty="0">
                <a:solidFill>
                  <a:srgbClr val="111827"/>
                </a:solidFill>
                <a:latin typeface="Calibri" pitchFamily="34" charset="0"/>
                <a:ea typeface="Calibri" pitchFamily="34" charset="-122"/>
                <a:cs typeface="Calibri" pitchFamily="34" charset="-120"/>
              </a:rPr>
              <a:t>How Meridian Marine's score adds up</a:t>
            </a:r>
            <a:endParaRPr lang="en-US" sz="2800" dirty="0"/>
          </a:p>
        </p:txBody>
      </p:sp>
      <p:sp>
        <p:nvSpPr>
          <p:cNvPr id="4" name="Text 2"/>
          <p:cNvSpPr/>
          <p:nvPr/>
        </p:nvSpPr>
        <p:spPr>
          <a:xfrm>
            <a:off x="9902952" y="411480"/>
            <a:ext cx="1645920" cy="347472"/>
          </a:xfrm>
          <a:prstGeom prst="rect">
            <a:avLst/>
          </a:prstGeom>
          <a:solidFill>
            <a:srgbClr val="3B4BD8"/>
          </a:solid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LIVE DEMO</a:t>
            </a:r>
            <a:endParaRPr lang="en-US" sz="1200" dirty="0"/>
          </a:p>
        </p:txBody>
      </p:sp>
      <p:sp>
        <p:nvSpPr>
          <p:cNvPr id="5" name="Text 3"/>
          <p:cNvSpPr/>
          <p:nvPr/>
        </p:nvSpPr>
        <p:spPr>
          <a:xfrm>
            <a:off x="9326880" y="822960"/>
            <a:ext cx="2221992" cy="685800"/>
          </a:xfrm>
          <a:prstGeom prst="rect">
            <a:avLst/>
          </a:prstGeom>
          <a:noFill/>
          <a:ln/>
        </p:spPr>
        <p:txBody>
          <a:bodyPr wrap="square" rtlCol="0" anchor="t"/>
          <a:lstStyle/>
          <a:p>
            <a:pPr algn="r" indent="0" marL="0">
              <a:buNone/>
            </a:pPr>
            <a:r>
              <a:rPr lang="en-US" sz="1000" b="1" dirty="0">
                <a:solidFill>
                  <a:srgbClr val="6B7280"/>
                </a:solidFill>
                <a:latin typeface="Calibri" pitchFamily="34" charset="0"/>
                <a:ea typeface="Calibri" pitchFamily="34" charset="-122"/>
                <a:cs typeface="Calibri" pitchFamily="34" charset="-120"/>
              </a:rPr>
              <a:t>fello-renewal-risk.vercel.app</a:t>
            </a:r>
            <a:endParaRPr lang="en-US" sz="1000" dirty="0"/>
          </a:p>
          <a:p>
            <a:pPr algn="r" indent="0" marL="0">
              <a:buNone/>
            </a:pPr>
            <a:r>
              <a:rPr lang="en-US" sz="1000" dirty="0">
                <a:solidFill>
                  <a:srgbClr val="6B7280"/>
                </a:solidFill>
                <a:latin typeface="Calibri" pitchFamily="34" charset="0"/>
                <a:ea typeface="Calibri" pitchFamily="34" charset="-122"/>
                <a:cs typeface="Calibri" pitchFamily="34" charset="-120"/>
              </a:rPr>
              <a:t>Sign in as: org_a · org_a-CSM3</a:t>
            </a:r>
            <a:endParaRPr lang="en-US" sz="1000" dirty="0"/>
          </a:p>
          <a:p>
            <a:pPr algn="r" indent="0" marL="0">
              <a:buNone/>
            </a:pPr>
            <a:r>
              <a:rPr lang="en-US" sz="1000" dirty="0">
                <a:solidFill>
                  <a:srgbClr val="6B7280"/>
                </a:solidFill>
                <a:latin typeface="Calibri" pitchFamily="34" charset="0"/>
                <a:ea typeface="Calibri" pitchFamily="34" charset="-122"/>
                <a:cs typeface="Calibri" pitchFamily="34" charset="-120"/>
              </a:rPr>
              <a:t>Access code: shared separately</a:t>
            </a:r>
            <a:endParaRPr lang="en-US" sz="1000" dirty="0"/>
          </a:p>
        </p:txBody>
      </p:sp>
      <p:sp>
        <p:nvSpPr>
          <p:cNvPr id="6" name="Text 4"/>
          <p:cNvSpPr/>
          <p:nvPr/>
        </p:nvSpPr>
        <p:spPr>
          <a:xfrm>
            <a:off x="640080" y="6419088"/>
            <a:ext cx="5486400" cy="27432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Renewal Risk Call List · Fello take-home</a:t>
            </a:r>
            <a:endParaRPr lang="en-US" sz="1000" dirty="0"/>
          </a:p>
        </p:txBody>
      </p:sp>
      <p:sp>
        <p:nvSpPr>
          <p:cNvPr id="8" name="Text 5"/>
          <p:cNvSpPr/>
          <p:nvPr/>
        </p:nvSpPr>
        <p:spPr>
          <a:xfrm>
            <a:off x="640080" y="1783080"/>
            <a:ext cx="3931920" cy="365760"/>
          </a:xfrm>
          <a:prstGeom prst="rect">
            <a:avLst/>
          </a:prstGeom>
          <a:noFill/>
          <a:ln/>
        </p:spPr>
        <p:txBody>
          <a:bodyPr wrap="square" rtlCol="0" anchor="ctr"/>
          <a:lstStyle/>
          <a:p>
            <a:pPr indent="0" marL="0">
              <a:buNone/>
            </a:pPr>
            <a:r>
              <a:rPr lang="en-US" sz="1700" b="1" dirty="0">
                <a:solidFill>
                  <a:srgbClr val="3B4BD8"/>
                </a:solidFill>
                <a:latin typeface="Calibri" pitchFamily="34" charset="0"/>
                <a:ea typeface="Calibri" pitchFamily="34" charset="-122"/>
                <a:cs typeface="Calibri" pitchFamily="34" charset="-120"/>
              </a:rPr>
              <a:t>1. Start from a typical customer</a:t>
            </a:r>
            <a:endParaRPr lang="en-US" sz="1700" dirty="0"/>
          </a:p>
        </p:txBody>
      </p:sp>
      <p:sp>
        <p:nvSpPr>
          <p:cNvPr id="9" name="Text 6"/>
          <p:cNvSpPr/>
          <p:nvPr/>
        </p:nvSpPr>
        <p:spPr>
          <a:xfrm>
            <a:off x="640080" y="2167128"/>
            <a:ext cx="3931920" cy="822960"/>
          </a:xfrm>
          <a:prstGeom prst="rect">
            <a:avLst/>
          </a:prstGeom>
          <a:noFill/>
          <a:ln/>
        </p:spPr>
        <p:txBody>
          <a:bodyPr wrap="square" rtlCol="0" anchor="t"/>
          <a:lstStyle/>
          <a:p>
            <a:pPr indent="0" marL="0">
              <a:buNone/>
            </a:pPr>
            <a:r>
              <a:rPr lang="en-US" sz="1400" dirty="0">
                <a:solidFill>
                  <a:srgbClr val="111827"/>
                </a:solidFill>
                <a:latin typeface="Calibri" pitchFamily="34" charset="0"/>
                <a:ea typeface="Calibri" pitchFamily="34" charset="-122"/>
                <a:cs typeface="Calibri" pitchFamily="34" charset="-120"/>
              </a:rPr>
              <a:t>A typical customer is 0 points: a 1.8% estimated chance of leaving.</a:t>
            </a:r>
            <a:endParaRPr lang="en-US" sz="1400" dirty="0"/>
          </a:p>
        </p:txBody>
      </p:sp>
      <p:sp>
        <p:nvSpPr>
          <p:cNvPr id="10" name="Text 7"/>
          <p:cNvSpPr/>
          <p:nvPr/>
        </p:nvSpPr>
        <p:spPr>
          <a:xfrm>
            <a:off x="640080" y="3108960"/>
            <a:ext cx="3931920" cy="365760"/>
          </a:xfrm>
          <a:prstGeom prst="rect">
            <a:avLst/>
          </a:prstGeom>
          <a:noFill/>
          <a:ln/>
        </p:spPr>
        <p:txBody>
          <a:bodyPr wrap="square" rtlCol="0" anchor="ctr"/>
          <a:lstStyle/>
          <a:p>
            <a:pPr indent="0" marL="0">
              <a:buNone/>
            </a:pPr>
            <a:r>
              <a:rPr lang="en-US" sz="1700" b="1" dirty="0">
                <a:solidFill>
                  <a:srgbClr val="3B4BD8"/>
                </a:solidFill>
                <a:latin typeface="Calibri" pitchFamily="34" charset="0"/>
                <a:ea typeface="Calibri" pitchFamily="34" charset="-122"/>
                <a:cs typeface="Calibri" pitchFamily="34" charset="-120"/>
              </a:rPr>
              <a:t>2. Add or remove points</a:t>
            </a:r>
            <a:endParaRPr lang="en-US" sz="1700" dirty="0"/>
          </a:p>
        </p:txBody>
      </p:sp>
      <p:sp>
        <p:nvSpPr>
          <p:cNvPr id="11" name="Text 8"/>
          <p:cNvSpPr/>
          <p:nvPr/>
        </p:nvSpPr>
        <p:spPr>
          <a:xfrm>
            <a:off x="640080" y="3493008"/>
            <a:ext cx="3931920" cy="822960"/>
          </a:xfrm>
          <a:prstGeom prst="rect">
            <a:avLst/>
          </a:prstGeom>
          <a:noFill/>
          <a:ln/>
        </p:spPr>
        <p:txBody>
          <a:bodyPr wrap="square" rtlCol="0" anchor="t"/>
          <a:lstStyle/>
          <a:p>
            <a:pPr indent="0" marL="0">
              <a:buNone/>
            </a:pPr>
            <a:r>
              <a:rPr lang="en-US" sz="1400" dirty="0">
                <a:solidFill>
                  <a:srgbClr val="111827"/>
                </a:solidFill>
                <a:latin typeface="Calibri" pitchFamily="34" charset="0"/>
                <a:ea typeface="Calibri" pitchFamily="34" charset="-122"/>
                <a:cs typeface="Calibri" pitchFamily="34" charset="-120"/>
              </a:rPr>
              <a:t>Each clue pushes the estimate up or down, depending on how this customer compares with a typical one.</a:t>
            </a:r>
            <a:endParaRPr lang="en-US" sz="1400" dirty="0"/>
          </a:p>
        </p:txBody>
      </p:sp>
      <p:sp>
        <p:nvSpPr>
          <p:cNvPr id="12" name="Text 9"/>
          <p:cNvSpPr/>
          <p:nvPr/>
        </p:nvSpPr>
        <p:spPr>
          <a:xfrm>
            <a:off x="640080" y="4434840"/>
            <a:ext cx="3931920" cy="365760"/>
          </a:xfrm>
          <a:prstGeom prst="rect">
            <a:avLst/>
          </a:prstGeom>
          <a:noFill/>
          <a:ln/>
        </p:spPr>
        <p:txBody>
          <a:bodyPr wrap="square" rtlCol="0" anchor="ctr"/>
          <a:lstStyle/>
          <a:p>
            <a:pPr indent="0" marL="0">
              <a:buNone/>
            </a:pPr>
            <a:r>
              <a:rPr lang="en-US" sz="1700" b="1" dirty="0">
                <a:solidFill>
                  <a:srgbClr val="3B4BD8"/>
                </a:solidFill>
                <a:latin typeface="Calibri" pitchFamily="34" charset="0"/>
                <a:ea typeface="Calibri" pitchFamily="34" charset="-122"/>
                <a:cs typeface="Calibri" pitchFamily="34" charset="-120"/>
              </a:rPr>
              <a:t>3. Turn the total into a chance</a:t>
            </a:r>
            <a:endParaRPr lang="en-US" sz="1700" dirty="0"/>
          </a:p>
        </p:txBody>
      </p:sp>
      <p:sp>
        <p:nvSpPr>
          <p:cNvPr id="13" name="Text 10"/>
          <p:cNvSpPr/>
          <p:nvPr/>
        </p:nvSpPr>
        <p:spPr>
          <a:xfrm>
            <a:off x="640080" y="4818888"/>
            <a:ext cx="3931920" cy="822960"/>
          </a:xfrm>
          <a:prstGeom prst="rect">
            <a:avLst/>
          </a:prstGeom>
          <a:noFill/>
          <a:ln/>
        </p:spPr>
        <p:txBody>
          <a:bodyPr wrap="square" rtlCol="0" anchor="t"/>
          <a:lstStyle/>
          <a:p>
            <a:pPr indent="0" marL="0">
              <a:buNone/>
            </a:pPr>
            <a:r>
              <a:rPr lang="en-US" sz="1400" dirty="0">
                <a:solidFill>
                  <a:srgbClr val="111827"/>
                </a:solidFill>
                <a:latin typeface="Calibri" pitchFamily="34" charset="0"/>
                <a:ea typeface="Calibri" pitchFamily="34" charset="-122"/>
                <a:cs typeface="Calibri" pitchFamily="34" charset="-120"/>
              </a:rPr>
              <a:t>About +1.45 points moves 1.8% up to 7.3%.</a:t>
            </a:r>
            <a:endParaRPr lang="en-US" sz="1400" dirty="0"/>
          </a:p>
        </p:txBody>
      </p:sp>
      <p:sp>
        <p:nvSpPr>
          <p:cNvPr id="14" name="Text 11"/>
          <p:cNvSpPr/>
          <p:nvPr/>
        </p:nvSpPr>
        <p:spPr>
          <a:xfrm>
            <a:off x="4846320" y="1737360"/>
            <a:ext cx="6675120" cy="320040"/>
          </a:xfrm>
          <a:prstGeom prst="rect">
            <a:avLst/>
          </a:prstGeom>
          <a:noFill/>
          <a:ln/>
        </p:spPr>
        <p:txBody>
          <a:bodyPr wrap="square" rtlCol="0" anchor="ctr"/>
          <a:lstStyle/>
          <a:p>
            <a:pPr indent="0" marL="0">
              <a:buNone/>
            </a:pPr>
            <a:r>
              <a:rPr lang="en-US" sz="1400" b="1" dirty="0">
                <a:solidFill>
                  <a:srgbClr val="111827"/>
                </a:solidFill>
                <a:latin typeface="Calibri" pitchFamily="34" charset="0"/>
                <a:ea typeface="Calibri" pitchFamily="34" charset="-122"/>
                <a:cs typeface="Calibri" pitchFamily="34" charset="-120"/>
              </a:rPr>
              <a:t>Points added or removed for Meridian Marine (negative = safer)</a:t>
            </a:r>
            <a:endParaRPr lang="en-US" sz="1400" dirty="0"/>
          </a:p>
        </p:txBody>
      </p:sp>
      <p:graphicFrame>
        <p:nvGraphicFramePr>
          <p:cNvPr id="15" name="Chart 0" descr=""/>
          <p:cNvGraphicFramePr/>
          <p:nvPr/>
        </p:nvGraphicFramePr>
        <p:xfrm>
          <a:off x="4754880" y="2057400"/>
          <a:ext cx="6766560" cy="2926080"/>
        </p:xfrm>
        <a:graphic xmlns:a="http://schemas.openxmlformats.org/drawingml/2006/main">
          <a:graphicData uri="http://schemas.openxmlformats.org/drawingml/2006/chart">
            <c:chart xmlns:c="http://schemas.openxmlformats.org/drawingml/2006/chart" r:id="rId1"/>
          </a:graphicData>
        </a:graphic>
      </p:graphicFrame>
      <p:sp>
        <p:nvSpPr>
          <p:cNvPr id="16" name="Shape 12"/>
          <p:cNvSpPr/>
          <p:nvPr/>
        </p:nvSpPr>
        <p:spPr>
          <a:xfrm>
            <a:off x="640080" y="5257800"/>
            <a:ext cx="10908792" cy="640080"/>
          </a:xfrm>
          <a:prstGeom prst="roundRect">
            <a:avLst>
              <a:gd name="adj" fmla="val 17143"/>
            </a:avLst>
          </a:prstGeom>
          <a:solidFill>
            <a:srgbClr val="E8EAFD"/>
          </a:solidFill>
          <a:ln w="12700">
            <a:solidFill>
              <a:srgbClr val="E8EAFD"/>
            </a:solidFill>
            <a:prstDash val="solid"/>
          </a:ln>
        </p:spPr>
      </p:sp>
      <p:sp>
        <p:nvSpPr>
          <p:cNvPr id="17" name="Text 13"/>
          <p:cNvSpPr/>
          <p:nvPr/>
        </p:nvSpPr>
        <p:spPr>
          <a:xfrm>
            <a:off x="868680" y="5257800"/>
            <a:ext cx="10451592" cy="640080"/>
          </a:xfrm>
          <a:prstGeom prst="rect">
            <a:avLst/>
          </a:prstGeom>
          <a:noFill/>
          <a:ln/>
        </p:spPr>
        <p:txBody>
          <a:bodyPr wrap="square"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Total about +1.45 points: a 1.8% starting point becomes a 7.3% estimate for this customer</a:t>
            </a:r>
            <a:endParaRPr lang="en-US" sz="1500" dirty="0"/>
          </a:p>
        </p:txBody>
      </p:sp>
      <p:sp>
        <p:nvSpPr>
          <p:cNvPr id="25" name="Slide Number Placeholder 0"/>
          <p:cNvSpPr>
            <a:spLocks noGrp="1"/>
          </p:cNvSpPr>
          <p:nvPr>
            <p:ph type="sldNum" sz="quarter" idx="4294967295"/>
          </p:nvPr>
        </p:nvSpPr>
        <p:spPr>
          <a:xfrm>
            <a:off x="1088136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7315200" cy="274320"/>
          </a:xfrm>
          <a:prstGeom prst="rect">
            <a:avLst/>
          </a:prstGeom>
          <a:noFill/>
          <a:ln/>
        </p:spPr>
        <p:txBody>
          <a:bodyPr wrap="square" rtlCol="0" anchor="ctr"/>
          <a:lstStyle/>
          <a:p>
            <a:pPr indent="0" marL="0">
              <a:buNone/>
            </a:pPr>
            <a:r>
              <a:rPr lang="en-US" sz="1200" b="1" spc="300" kern="0" dirty="0">
                <a:solidFill>
                  <a:srgbClr val="3B4BD8"/>
                </a:solidFill>
                <a:latin typeface="Calibri" pitchFamily="34" charset="0"/>
                <a:ea typeface="Calibri" pitchFamily="34" charset="-122"/>
                <a:cs typeface="Calibri" pitchFamily="34" charset="-120"/>
              </a:rPr>
              <a:t>5 · THE OVERALL SYSTEM</a:t>
            </a:r>
            <a:endParaRPr lang="en-US" sz="1200" dirty="0"/>
          </a:p>
        </p:txBody>
      </p:sp>
      <p:sp>
        <p:nvSpPr>
          <p:cNvPr id="3" name="Text 1"/>
          <p:cNvSpPr/>
          <p:nvPr/>
        </p:nvSpPr>
        <p:spPr>
          <a:xfrm>
            <a:off x="640080" y="658368"/>
            <a:ext cx="10908792" cy="868680"/>
          </a:xfrm>
          <a:prstGeom prst="rect">
            <a:avLst/>
          </a:prstGeom>
          <a:noFill/>
          <a:ln/>
        </p:spPr>
        <p:txBody>
          <a:bodyPr wrap="square" rtlCol="0" anchor="t"/>
          <a:lstStyle/>
          <a:p>
            <a:pPr indent="0" marL="0">
              <a:buNone/>
            </a:pPr>
            <a:r>
              <a:rPr lang="en-US" sz="2800" b="1" dirty="0">
                <a:solidFill>
                  <a:srgbClr val="111827"/>
                </a:solidFill>
                <a:latin typeface="Calibri" pitchFamily="34" charset="0"/>
                <a:ea typeface="Calibri" pitchFamily="34" charset="-122"/>
                <a:cs typeface="Calibri" pitchFamily="34" charset="-120"/>
              </a:rPr>
              <a:t>A clue earns points by how many past customers with it left</a:t>
            </a:r>
            <a:endParaRPr lang="en-US" sz="2800" dirty="0"/>
          </a:p>
        </p:txBody>
      </p:sp>
      <p:sp>
        <p:nvSpPr>
          <p:cNvPr id="4" name="Text 2"/>
          <p:cNvSpPr/>
          <p:nvPr/>
        </p:nvSpPr>
        <p:spPr>
          <a:xfrm>
            <a:off x="640080" y="6419088"/>
            <a:ext cx="5486400" cy="27432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Renewal Risk Call List · Fello take-home</a:t>
            </a:r>
            <a:endParaRPr lang="en-US" sz="1000" dirty="0"/>
          </a:p>
        </p:txBody>
      </p:sp>
      <p:graphicFrame>
        <p:nvGraphicFramePr>
          <p:cNvPr id="6" name="Chart 0" descr=""/>
          <p:cNvGraphicFramePr/>
          <p:nvPr/>
        </p:nvGraphicFramePr>
        <p:xfrm>
          <a:off x="548640" y="2148840"/>
          <a:ext cx="7223760" cy="379476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640080" y="1600200"/>
            <a:ext cx="10908792" cy="457200"/>
          </a:xfrm>
          <a:prstGeom prst="roundRect">
            <a:avLst>
              <a:gd name="adj" fmla="val 24000"/>
            </a:avLst>
          </a:prstGeom>
          <a:solidFill>
            <a:srgbClr val="E8EAFD"/>
          </a:solidFill>
          <a:ln w="12700">
            <a:solidFill>
              <a:srgbClr val="E8EAFD"/>
            </a:solidFill>
            <a:prstDash val="solid"/>
          </a:ln>
        </p:spPr>
      </p:sp>
      <p:sp>
        <p:nvSpPr>
          <p:cNvPr id="8" name="Text 4"/>
          <p:cNvSpPr/>
          <p:nvPr/>
        </p:nvSpPr>
        <p:spPr>
          <a:xfrm>
            <a:off x="868680" y="1600200"/>
            <a:ext cx="10451592" cy="457200"/>
          </a:xfrm>
          <a:prstGeom prst="rect">
            <a:avLst/>
          </a:prstGeom>
          <a:noFill/>
          <a:ln/>
        </p:spPr>
        <p:txBody>
          <a:bodyPr wrap="square"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Read it like this: of every 100 past customers who asked to cancel, 50 left. Of every 100 who did not, only 2.</a:t>
            </a:r>
            <a:endParaRPr lang="en-US" sz="1500" dirty="0"/>
          </a:p>
        </p:txBody>
      </p:sp>
      <p:sp>
        <p:nvSpPr>
          <p:cNvPr id="9" name="Text 5"/>
          <p:cNvSpPr/>
          <p:nvPr/>
        </p:nvSpPr>
        <p:spPr>
          <a:xfrm>
            <a:off x="640080" y="5989320"/>
            <a:ext cx="6858000" cy="274320"/>
          </a:xfrm>
          <a:prstGeom prst="rect">
            <a:avLst/>
          </a:prstGeom>
          <a:noFill/>
          <a:ln/>
        </p:spPr>
        <p:txBody>
          <a:bodyPr wrap="square" rtlCol="0" anchor="ctr"/>
          <a:lstStyle/>
          <a:p>
            <a:pPr indent="0" marL="0">
              <a:buNone/>
            </a:pPr>
            <a:r>
              <a:rPr lang="en-US" sz="1100" dirty="0">
                <a:solidFill>
                  <a:srgbClr val="6B7280"/>
                </a:solidFill>
                <a:latin typeface="Calibri" pitchFamily="34" charset="0"/>
                <a:ea typeface="Calibri" pitchFamily="34" charset="-122"/>
                <a:cs typeface="Calibri" pitchFamily="34" charset="-120"/>
              </a:rPr>
              <a:t>Out of every 100 past customers, how many left</a:t>
            </a:r>
            <a:endParaRPr lang="en-US" sz="1100" dirty="0"/>
          </a:p>
        </p:txBody>
      </p:sp>
      <p:sp>
        <p:nvSpPr>
          <p:cNvPr id="10" name="Shape 6"/>
          <p:cNvSpPr/>
          <p:nvPr/>
        </p:nvSpPr>
        <p:spPr>
          <a:xfrm>
            <a:off x="8183880" y="2194560"/>
            <a:ext cx="3364992" cy="1152144"/>
          </a:xfrm>
          <a:prstGeom prst="roundRect">
            <a:avLst>
              <a:gd name="adj" fmla="val 9524"/>
            </a:avLst>
          </a:prstGeom>
          <a:solidFill>
            <a:srgbClr val="E8EAFD"/>
          </a:solidFill>
          <a:ln w="12700">
            <a:solidFill>
              <a:srgbClr val="E8EAFD"/>
            </a:solidFill>
            <a:prstDash val="solid"/>
          </a:ln>
        </p:spPr>
      </p:sp>
      <p:sp>
        <p:nvSpPr>
          <p:cNvPr id="11" name="Text 7"/>
          <p:cNvSpPr/>
          <p:nvPr/>
        </p:nvSpPr>
        <p:spPr>
          <a:xfrm>
            <a:off x="8339328" y="2267712"/>
            <a:ext cx="3108960" cy="292608"/>
          </a:xfrm>
          <a:prstGeom prst="rect">
            <a:avLst/>
          </a:prstGeom>
          <a:noFill/>
          <a:ln/>
        </p:spPr>
        <p:txBody>
          <a:bodyPr wrap="square" rtlCol="0" anchor="ctr"/>
          <a:lstStyle/>
          <a:p>
            <a:pPr indent="0" marL="0">
              <a:buNone/>
            </a:pPr>
            <a:r>
              <a:rPr lang="en-US" sz="1400" b="1" dirty="0">
                <a:solidFill>
                  <a:srgbClr val="3B4BD8"/>
                </a:solidFill>
                <a:latin typeface="Calibri" pitchFamily="34" charset="0"/>
                <a:ea typeface="Calibri" pitchFamily="34" charset="-122"/>
                <a:cs typeface="Calibri" pitchFamily="34" charset="-120"/>
              </a:rPr>
              <a:t>Bigger gap, more points</a:t>
            </a:r>
            <a:endParaRPr lang="en-US" sz="1400" dirty="0"/>
          </a:p>
        </p:txBody>
      </p:sp>
      <p:sp>
        <p:nvSpPr>
          <p:cNvPr id="12" name="Text 8"/>
          <p:cNvSpPr/>
          <p:nvPr/>
        </p:nvSpPr>
        <p:spPr>
          <a:xfrm>
            <a:off x="8339328" y="2560320"/>
            <a:ext cx="3108960" cy="256032"/>
          </a:xfrm>
          <a:prstGeom prst="rect">
            <a:avLst/>
          </a:prstGeom>
          <a:noFill/>
          <a:ln/>
        </p:spPr>
        <p:txBody>
          <a:bodyPr wrap="square"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Cancel request: 50 vs 2</a:t>
            </a:r>
            <a:endParaRPr lang="en-US" sz="1200" dirty="0"/>
          </a:p>
        </p:txBody>
      </p:sp>
      <p:sp>
        <p:nvSpPr>
          <p:cNvPr id="13" name="Text 9"/>
          <p:cNvSpPr/>
          <p:nvPr/>
        </p:nvSpPr>
        <p:spPr>
          <a:xfrm>
            <a:off x="8339328" y="2816352"/>
            <a:ext cx="3108960" cy="502920"/>
          </a:xfrm>
          <a:prstGeom prst="rect">
            <a:avLst/>
          </a:prstGeom>
          <a:noFill/>
          <a:ln/>
        </p:spPr>
        <p:txBody>
          <a:bodyPr wrap="square" rtlCol="0" anchor="t"/>
          <a:lstStyle/>
          <a:p>
            <a:pPr indent="0" marL="0">
              <a:buNone/>
            </a:pPr>
            <a:r>
              <a:rPr lang="en-US" sz="1100" dirty="0">
                <a:solidFill>
                  <a:srgbClr val="111827"/>
                </a:solidFill>
                <a:latin typeface="Calibri" pitchFamily="34" charset="0"/>
                <a:ea typeface="Calibri" pitchFamily="34" charset="-122"/>
                <a:cs typeface="Calibri" pitchFamily="34" charset="-120"/>
              </a:rPr>
              <a:t>The clue separates leavers from stayers, so it adds a lot.</a:t>
            </a:r>
            <a:endParaRPr lang="en-US" sz="1100" dirty="0"/>
          </a:p>
        </p:txBody>
      </p:sp>
      <p:sp>
        <p:nvSpPr>
          <p:cNvPr id="14" name="Shape 10"/>
          <p:cNvSpPr/>
          <p:nvPr/>
        </p:nvSpPr>
        <p:spPr>
          <a:xfrm>
            <a:off x="8183880" y="3456432"/>
            <a:ext cx="3364992" cy="1152144"/>
          </a:xfrm>
          <a:prstGeom prst="roundRect">
            <a:avLst>
              <a:gd name="adj" fmla="val 9524"/>
            </a:avLst>
          </a:prstGeom>
          <a:solidFill>
            <a:srgbClr val="F4F5FB"/>
          </a:solidFill>
          <a:ln w="12700">
            <a:solidFill>
              <a:srgbClr val="F4F5FB"/>
            </a:solidFill>
            <a:prstDash val="solid"/>
          </a:ln>
        </p:spPr>
      </p:sp>
      <p:sp>
        <p:nvSpPr>
          <p:cNvPr id="15" name="Text 11"/>
          <p:cNvSpPr/>
          <p:nvPr/>
        </p:nvSpPr>
        <p:spPr>
          <a:xfrm>
            <a:off x="8339328" y="3529584"/>
            <a:ext cx="3108960" cy="292608"/>
          </a:xfrm>
          <a:prstGeom prst="rect">
            <a:avLst/>
          </a:prstGeom>
          <a:noFill/>
          <a:ln/>
        </p:spPr>
        <p:txBody>
          <a:bodyPr wrap="square" rtlCol="0" anchor="ctr"/>
          <a:lstStyle/>
          <a:p>
            <a:pPr indent="0" marL="0">
              <a:buNone/>
            </a:pPr>
            <a:r>
              <a:rPr lang="en-US" sz="1400" b="1" dirty="0">
                <a:solidFill>
                  <a:srgbClr val="3B4BD8"/>
                </a:solidFill>
                <a:latin typeface="Calibri" pitchFamily="34" charset="0"/>
                <a:ea typeface="Calibri" pitchFamily="34" charset="-122"/>
                <a:cs typeface="Calibri" pitchFamily="34" charset="-120"/>
              </a:rPr>
              <a:t>Small gap, few points</a:t>
            </a:r>
            <a:endParaRPr lang="en-US" sz="1400" dirty="0"/>
          </a:p>
        </p:txBody>
      </p:sp>
      <p:sp>
        <p:nvSpPr>
          <p:cNvPr id="16" name="Text 12"/>
          <p:cNvSpPr/>
          <p:nvPr/>
        </p:nvSpPr>
        <p:spPr>
          <a:xfrm>
            <a:off x="8339328" y="3822192"/>
            <a:ext cx="3108960" cy="256032"/>
          </a:xfrm>
          <a:prstGeom prst="rect">
            <a:avLst/>
          </a:prstGeom>
          <a:noFill/>
          <a:ln/>
        </p:spPr>
        <p:txBody>
          <a:bodyPr wrap="square"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Complaint still open: 4.6 vs 2.3</a:t>
            </a:r>
            <a:endParaRPr lang="en-US" sz="1200" dirty="0"/>
          </a:p>
        </p:txBody>
      </p:sp>
      <p:sp>
        <p:nvSpPr>
          <p:cNvPr id="17" name="Text 13"/>
          <p:cNvSpPr/>
          <p:nvPr/>
        </p:nvSpPr>
        <p:spPr>
          <a:xfrm>
            <a:off x="8339328" y="4078224"/>
            <a:ext cx="3108960" cy="502920"/>
          </a:xfrm>
          <a:prstGeom prst="rect">
            <a:avLst/>
          </a:prstGeom>
          <a:noFill/>
          <a:ln/>
        </p:spPr>
        <p:txBody>
          <a:bodyPr wrap="square" rtlCol="0" anchor="t"/>
          <a:lstStyle/>
          <a:p>
            <a:pPr indent="0" marL="0">
              <a:buNone/>
            </a:pPr>
            <a:r>
              <a:rPr lang="en-US" sz="1100" dirty="0">
                <a:solidFill>
                  <a:srgbClr val="111827"/>
                </a:solidFill>
                <a:latin typeface="Calibri" pitchFamily="34" charset="0"/>
                <a:ea typeface="Calibri" pitchFamily="34" charset="-122"/>
                <a:cs typeface="Calibri" pitchFamily="34" charset="-120"/>
              </a:rPr>
              <a:t>A weak hint, so it adds a little.</a:t>
            </a:r>
            <a:endParaRPr lang="en-US" sz="1100" dirty="0"/>
          </a:p>
        </p:txBody>
      </p:sp>
      <p:sp>
        <p:nvSpPr>
          <p:cNvPr id="18" name="Shape 14"/>
          <p:cNvSpPr/>
          <p:nvPr/>
        </p:nvSpPr>
        <p:spPr>
          <a:xfrm>
            <a:off x="8183880" y="4718304"/>
            <a:ext cx="3364992" cy="1152144"/>
          </a:xfrm>
          <a:prstGeom prst="roundRect">
            <a:avLst>
              <a:gd name="adj" fmla="val 9524"/>
            </a:avLst>
          </a:prstGeom>
          <a:solidFill>
            <a:srgbClr val="F4F5FB"/>
          </a:solidFill>
          <a:ln w="12700">
            <a:solidFill>
              <a:srgbClr val="F4F5FB"/>
            </a:solidFill>
            <a:prstDash val="solid"/>
          </a:ln>
        </p:spPr>
      </p:sp>
      <p:sp>
        <p:nvSpPr>
          <p:cNvPr id="19" name="Text 15"/>
          <p:cNvSpPr/>
          <p:nvPr/>
        </p:nvSpPr>
        <p:spPr>
          <a:xfrm>
            <a:off x="8339328" y="4791456"/>
            <a:ext cx="3108960" cy="292608"/>
          </a:xfrm>
          <a:prstGeom prst="rect">
            <a:avLst/>
          </a:prstGeom>
          <a:noFill/>
          <a:ln/>
        </p:spPr>
        <p:txBody>
          <a:bodyPr wrap="square" rtlCol="0" anchor="ctr"/>
          <a:lstStyle/>
          <a:p>
            <a:pPr indent="0" marL="0">
              <a:buNone/>
            </a:pPr>
            <a:r>
              <a:rPr lang="en-US" sz="1400" b="1" dirty="0">
                <a:solidFill>
                  <a:srgbClr val="3B4BD8"/>
                </a:solidFill>
                <a:latin typeface="Calibri" pitchFamily="34" charset="0"/>
                <a:ea typeface="Calibri" pitchFamily="34" charset="-122"/>
                <a:cs typeface="Calibri" pitchFamily="34" charset="-120"/>
              </a:rPr>
              <a:t>No gap, almost no points</a:t>
            </a:r>
            <a:endParaRPr lang="en-US" sz="1400" dirty="0"/>
          </a:p>
        </p:txBody>
      </p:sp>
      <p:sp>
        <p:nvSpPr>
          <p:cNvPr id="20" name="Text 16"/>
          <p:cNvSpPr/>
          <p:nvPr/>
        </p:nvSpPr>
        <p:spPr>
          <a:xfrm>
            <a:off x="8339328" y="5084064"/>
            <a:ext cx="3108960" cy="256032"/>
          </a:xfrm>
          <a:prstGeom prst="rect">
            <a:avLst/>
          </a:prstGeom>
          <a:noFill/>
          <a:ln/>
        </p:spPr>
        <p:txBody>
          <a:bodyPr wrap="square"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Usage fell: 2.4 vs 2.3</a:t>
            </a:r>
            <a:endParaRPr lang="en-US" sz="1200" dirty="0"/>
          </a:p>
        </p:txBody>
      </p:sp>
      <p:sp>
        <p:nvSpPr>
          <p:cNvPr id="21" name="Text 17"/>
          <p:cNvSpPr/>
          <p:nvPr/>
        </p:nvSpPr>
        <p:spPr>
          <a:xfrm>
            <a:off x="8339328" y="5340096"/>
            <a:ext cx="3108960" cy="502920"/>
          </a:xfrm>
          <a:prstGeom prst="rect">
            <a:avLst/>
          </a:prstGeom>
          <a:noFill/>
          <a:ln/>
        </p:spPr>
        <p:txBody>
          <a:bodyPr wrap="square" rtlCol="0" anchor="t"/>
          <a:lstStyle/>
          <a:p>
            <a:pPr indent="0" marL="0">
              <a:buNone/>
            </a:pPr>
            <a:r>
              <a:rPr lang="en-US" sz="1100" dirty="0">
                <a:solidFill>
                  <a:srgbClr val="111827"/>
                </a:solidFill>
                <a:latin typeface="Calibri" pitchFamily="34" charset="0"/>
                <a:ea typeface="Calibri" pitchFamily="34" charset="-122"/>
                <a:cs typeface="Calibri" pitchFamily="34" charset="-120"/>
              </a:rPr>
              <a:t>Looks scary, but did not predict leaving here. So it adds almost nothing.</a:t>
            </a:r>
            <a:endParaRPr lang="en-US" sz="1100" dirty="0"/>
          </a:p>
        </p:txBody>
      </p:sp>
      <p:sp>
        <p:nvSpPr>
          <p:cNvPr id="22" name="Text 18"/>
          <p:cNvSpPr/>
          <p:nvPr/>
        </p:nvSpPr>
        <p:spPr>
          <a:xfrm>
            <a:off x="8183880" y="5989320"/>
            <a:ext cx="3364992" cy="365760"/>
          </a:xfrm>
          <a:prstGeom prst="rect">
            <a:avLst/>
          </a:prstGeom>
          <a:noFill/>
          <a:ln/>
        </p:spPr>
        <p:txBody>
          <a:bodyPr wrap="square" rtlCol="0" anchor="t"/>
          <a:lstStyle/>
          <a:p>
            <a:pPr indent="0" marL="0">
              <a:buNone/>
            </a:pPr>
            <a:r>
              <a:rPr lang="en-US" sz="1000" dirty="0">
                <a:solidFill>
                  <a:srgbClr val="6B7280"/>
                </a:solidFill>
                <a:latin typeface="Calibri" pitchFamily="34" charset="0"/>
                <a:ea typeface="Calibri" pitchFamily="34" charset="-122"/>
                <a:cs typeface="Calibri" pitchFamily="34" charset="-120"/>
              </a:rPr>
              <a:t>16,415 past cases, 2.3% left. Points are fitted with all clues together.</a:t>
            </a:r>
            <a:endParaRPr lang="en-US" sz="1000" dirty="0"/>
          </a:p>
        </p:txBody>
      </p:sp>
      <p:sp>
        <p:nvSpPr>
          <p:cNvPr id="25" name="Slide Number Placeholder 0"/>
          <p:cNvSpPr>
            <a:spLocks noGrp="1"/>
          </p:cNvSpPr>
          <p:nvPr>
            <p:ph type="sldNum" sz="quarter" idx="4294967295"/>
          </p:nvPr>
        </p:nvSpPr>
        <p:spPr>
          <a:xfrm>
            <a:off x="1088136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7315200" cy="274320"/>
          </a:xfrm>
          <a:prstGeom prst="rect">
            <a:avLst/>
          </a:prstGeom>
          <a:noFill/>
          <a:ln/>
        </p:spPr>
        <p:txBody>
          <a:bodyPr wrap="square" rtlCol="0" anchor="ctr"/>
          <a:lstStyle/>
          <a:p>
            <a:pPr indent="0" marL="0">
              <a:buNone/>
            </a:pPr>
            <a:r>
              <a:rPr lang="en-US" sz="1200" b="1" spc="300" kern="0" dirty="0">
                <a:solidFill>
                  <a:srgbClr val="3B4BD8"/>
                </a:solidFill>
                <a:latin typeface="Calibri" pitchFamily="34" charset="0"/>
                <a:ea typeface="Calibri" pitchFamily="34" charset="-122"/>
                <a:cs typeface="Calibri" pitchFamily="34" charset="-120"/>
              </a:rPr>
              <a:t>5 · THE OVERALL SYSTEM</a:t>
            </a:r>
            <a:endParaRPr lang="en-US" sz="1200" dirty="0"/>
          </a:p>
        </p:txBody>
      </p:sp>
      <p:sp>
        <p:nvSpPr>
          <p:cNvPr id="3" name="Text 1"/>
          <p:cNvSpPr/>
          <p:nvPr/>
        </p:nvSpPr>
        <p:spPr>
          <a:xfrm>
            <a:off x="640080" y="658368"/>
            <a:ext cx="10908792" cy="868680"/>
          </a:xfrm>
          <a:prstGeom prst="rect">
            <a:avLst/>
          </a:prstGeom>
          <a:noFill/>
          <a:ln/>
        </p:spPr>
        <p:txBody>
          <a:bodyPr wrap="square" rtlCol="0" anchor="t"/>
          <a:lstStyle/>
          <a:p>
            <a:pPr indent="0" marL="0">
              <a:buNone/>
            </a:pPr>
            <a:r>
              <a:rPr lang="en-US" sz="2800" b="1" dirty="0">
                <a:solidFill>
                  <a:srgbClr val="111827"/>
                </a:solidFill>
                <a:latin typeface="Calibri" pitchFamily="34" charset="0"/>
                <a:ea typeface="Calibri" pitchFamily="34" charset="-122"/>
                <a:cs typeface="Calibri" pitchFamily="34" charset="-120"/>
              </a:rPr>
              <a:t>Every night is logged, and what we cannot match is kept</a:t>
            </a:r>
            <a:endParaRPr lang="en-US" sz="2800" dirty="0"/>
          </a:p>
        </p:txBody>
      </p:sp>
      <p:sp>
        <p:nvSpPr>
          <p:cNvPr id="4" name="Text 2"/>
          <p:cNvSpPr/>
          <p:nvPr/>
        </p:nvSpPr>
        <p:spPr>
          <a:xfrm>
            <a:off x="640080" y="6419088"/>
            <a:ext cx="5486400" cy="27432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Renewal Risk Call List · Fello take-home</a:t>
            </a:r>
            <a:endParaRPr lang="en-US" sz="1000" dirty="0"/>
          </a:p>
        </p:txBody>
      </p:sp>
      <p:pic>
        <p:nvPicPr>
          <p:cNvPr id="6" name="Image 0" descr="/home/udhayakumar/projects/interviews/assignments/fello-take-home/docs/screenshots/deck/run-log.png">    </p:cNvPr>
          <p:cNvPicPr>
            <a:picLocks noChangeAspect="1"/>
          </p:cNvPicPr>
          <p:nvPr/>
        </p:nvPicPr>
        <p:blipFill>
          <a:blip r:embed="rId1"/>
          <a:stretch>
            <a:fillRect/>
          </a:stretch>
        </p:blipFill>
        <p:spPr>
          <a:xfrm>
            <a:off x="640080" y="1783080"/>
            <a:ext cx="5349240" cy="2005965"/>
          </a:xfrm>
          <a:prstGeom prst="rect">
            <a:avLst/>
          </a:prstGeom>
        </p:spPr>
      </p:pic>
      <p:pic>
        <p:nvPicPr>
          <p:cNvPr id="7" name="Image 1" descr="/home/udhayakumar/projects/interviews/assignments/fello-take-home/docs/screenshots/deck/unmatched.png">    </p:cNvPr>
          <p:cNvPicPr>
            <a:picLocks noChangeAspect="1"/>
          </p:cNvPicPr>
          <p:nvPr/>
        </p:nvPicPr>
        <p:blipFill>
          <a:blip r:embed="rId2"/>
          <a:stretch>
            <a:fillRect/>
          </a:stretch>
        </p:blipFill>
        <p:spPr>
          <a:xfrm>
            <a:off x="6199632" y="1783080"/>
            <a:ext cx="4572000" cy="2122714"/>
          </a:xfrm>
          <a:prstGeom prst="rect">
            <a:avLst/>
          </a:prstGeom>
        </p:spPr>
      </p:pic>
      <p:sp>
        <p:nvSpPr>
          <p:cNvPr id="8" name="Text 3"/>
          <p:cNvSpPr/>
          <p:nvPr/>
        </p:nvSpPr>
        <p:spPr>
          <a:xfrm>
            <a:off x="640080" y="4069080"/>
            <a:ext cx="5349240" cy="320040"/>
          </a:xfrm>
          <a:prstGeom prst="rect">
            <a:avLst/>
          </a:prstGeom>
          <a:noFill/>
          <a:ln/>
        </p:spPr>
        <p:txBody>
          <a:bodyPr wrap="square" rtlCol="0" anchor="ctr"/>
          <a:lstStyle/>
          <a:p>
            <a:pPr indent="0" marL="0">
              <a:buNone/>
            </a:pPr>
            <a:r>
              <a:rPr lang="en-US" sz="1500" b="1" dirty="0">
                <a:solidFill>
                  <a:srgbClr val="3B4BD8"/>
                </a:solidFill>
                <a:latin typeface="Calibri" pitchFamily="34" charset="0"/>
                <a:ea typeface="Calibri" pitchFamily="34" charset="-122"/>
                <a:cs typeface="Calibri" pitchFamily="34" charset="-120"/>
              </a:rPr>
              <a:t>Run log: every attempt, and which run is live</a:t>
            </a:r>
            <a:endParaRPr lang="en-US" sz="1500" dirty="0"/>
          </a:p>
        </p:txBody>
      </p:sp>
      <p:sp>
        <p:nvSpPr>
          <p:cNvPr id="9" name="Text 4"/>
          <p:cNvSpPr/>
          <p:nvPr/>
        </p:nvSpPr>
        <p:spPr>
          <a:xfrm>
            <a:off x="640080" y="4434840"/>
            <a:ext cx="5349240" cy="731520"/>
          </a:xfrm>
          <a:prstGeom prst="rect">
            <a:avLst/>
          </a:prstGeom>
          <a:noFill/>
          <a:ln/>
        </p:spPr>
        <p:txBody>
          <a:bodyPr wrap="square" rtlCol="0" anchor="t"/>
          <a:lstStyle/>
          <a:p>
            <a:pPr indent="0" marL="0">
              <a:buNone/>
            </a:pPr>
            <a:r>
              <a:rPr lang="en-US" sz="1300" dirty="0">
                <a:solidFill>
                  <a:srgbClr val="111827"/>
                </a:solidFill>
                <a:latin typeface="Calibri" pitchFamily="34" charset="0"/>
                <a:ea typeface="Calibri" pitchFamily="34" charset="-122"/>
                <a:cs typeface="Calibri" pitchFamily="34" charset="-120"/>
              </a:rPr>
              <a:t>Only a succeeded run is published. A failed run is logged and the company keeps its previous list.</a:t>
            </a:r>
            <a:endParaRPr lang="en-US" sz="1300" dirty="0"/>
          </a:p>
        </p:txBody>
      </p:sp>
      <p:sp>
        <p:nvSpPr>
          <p:cNvPr id="10" name="Text 5"/>
          <p:cNvSpPr/>
          <p:nvPr/>
        </p:nvSpPr>
        <p:spPr>
          <a:xfrm>
            <a:off x="6199632" y="4069080"/>
            <a:ext cx="5349240" cy="320040"/>
          </a:xfrm>
          <a:prstGeom prst="rect">
            <a:avLst/>
          </a:prstGeom>
          <a:noFill/>
          <a:ln/>
        </p:spPr>
        <p:txBody>
          <a:bodyPr wrap="square" rtlCol="0" anchor="ctr"/>
          <a:lstStyle/>
          <a:p>
            <a:pPr indent="0" marL="0">
              <a:buNone/>
            </a:pPr>
            <a:r>
              <a:rPr lang="en-US" sz="1500" b="1" dirty="0">
                <a:solidFill>
                  <a:srgbClr val="3B4BD8"/>
                </a:solidFill>
                <a:latin typeface="Calibri" pitchFamily="34" charset="0"/>
                <a:ea typeface="Calibri" pitchFamily="34" charset="-122"/>
                <a:cs typeface="Calibri" pitchFamily="34" charset="-120"/>
              </a:rPr>
              <a:t>Unmatched queue: records we could not link</a:t>
            </a:r>
            <a:endParaRPr lang="en-US" sz="1500" dirty="0"/>
          </a:p>
        </p:txBody>
      </p:sp>
      <p:sp>
        <p:nvSpPr>
          <p:cNvPr id="11" name="Text 6"/>
          <p:cNvSpPr/>
          <p:nvPr/>
        </p:nvSpPr>
        <p:spPr>
          <a:xfrm>
            <a:off x="6199632" y="4434840"/>
            <a:ext cx="5349240" cy="731520"/>
          </a:xfrm>
          <a:prstGeom prst="rect">
            <a:avLst/>
          </a:prstGeom>
          <a:noFill/>
          <a:ln/>
        </p:spPr>
        <p:txBody>
          <a:bodyPr wrap="square" rtlCol="0" anchor="t"/>
          <a:lstStyle/>
          <a:p>
            <a:pPr indent="0" marL="0">
              <a:buNone/>
            </a:pPr>
            <a:r>
              <a:rPr lang="en-US" sz="1300" dirty="0">
                <a:solidFill>
                  <a:srgbClr val="111827"/>
                </a:solidFill>
                <a:latin typeface="Calibri" pitchFamily="34" charset="0"/>
                <a:ea typeface="Calibri" pitchFamily="34" charset="-122"/>
                <a:cs typeface="Calibri" pitchFamily="34" charset="-120"/>
              </a:rPr>
              <a:t>Kept and not scored, with what we tried to match on. Rebuilt every night.</a:t>
            </a:r>
            <a:endParaRPr lang="en-US" sz="1300" dirty="0"/>
          </a:p>
        </p:txBody>
      </p:sp>
      <p:sp>
        <p:nvSpPr>
          <p:cNvPr id="12" name="Shape 7"/>
          <p:cNvSpPr/>
          <p:nvPr/>
        </p:nvSpPr>
        <p:spPr>
          <a:xfrm>
            <a:off x="640080" y="5394960"/>
            <a:ext cx="10908792" cy="640080"/>
          </a:xfrm>
          <a:prstGeom prst="roundRect">
            <a:avLst>
              <a:gd name="adj" fmla="val 17143"/>
            </a:avLst>
          </a:prstGeom>
          <a:solidFill>
            <a:srgbClr val="E8EAFD"/>
          </a:solidFill>
          <a:ln w="12700">
            <a:solidFill>
              <a:srgbClr val="E8EAFD"/>
            </a:solidFill>
            <a:prstDash val="solid"/>
          </a:ln>
        </p:spPr>
      </p:sp>
      <p:sp>
        <p:nvSpPr>
          <p:cNvPr id="13" name="Text 8"/>
          <p:cNvSpPr/>
          <p:nvPr/>
        </p:nvSpPr>
        <p:spPr>
          <a:xfrm>
            <a:off x="868680" y="5394960"/>
            <a:ext cx="10451592" cy="640080"/>
          </a:xfrm>
          <a:prstGeom prst="rect">
            <a:avLst/>
          </a:prstGeom>
          <a:noFill/>
          <a:ln/>
        </p:spPr>
        <p:txBody>
          <a:bodyPr wrap="square"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Unknown stays unknown: nothing is silently dropped, and nothing unscored is shown as safe.</a:t>
            </a:r>
            <a:endParaRPr lang="en-US" sz="1500" dirty="0"/>
          </a:p>
        </p:txBody>
      </p:sp>
      <p:sp>
        <p:nvSpPr>
          <p:cNvPr id="25" name="Slide Number Placeholder 0"/>
          <p:cNvSpPr>
            <a:spLocks noGrp="1"/>
          </p:cNvSpPr>
          <p:nvPr>
            <p:ph type="sldNum" sz="quarter" idx="4294967295"/>
          </p:nvPr>
        </p:nvSpPr>
        <p:spPr>
          <a:xfrm>
            <a:off x="1088136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7315200" cy="274320"/>
          </a:xfrm>
          <a:prstGeom prst="rect">
            <a:avLst/>
          </a:prstGeom>
          <a:noFill/>
          <a:ln/>
        </p:spPr>
        <p:txBody>
          <a:bodyPr wrap="square" rtlCol="0" anchor="ctr"/>
          <a:lstStyle/>
          <a:p>
            <a:pPr indent="0" marL="0">
              <a:buNone/>
            </a:pPr>
            <a:r>
              <a:rPr lang="en-US" sz="1200" b="1" spc="300" kern="0" dirty="0">
                <a:solidFill>
                  <a:srgbClr val="3B4BD8"/>
                </a:solidFill>
                <a:latin typeface="Calibri" pitchFamily="34" charset="0"/>
                <a:ea typeface="Calibri" pitchFamily="34" charset="-122"/>
                <a:cs typeface="Calibri" pitchFamily="34" charset="-120"/>
              </a:rPr>
              <a:t>5 · THE OVERALL SYSTEM</a:t>
            </a:r>
            <a:endParaRPr lang="en-US" sz="1200" dirty="0"/>
          </a:p>
        </p:txBody>
      </p:sp>
      <p:sp>
        <p:nvSpPr>
          <p:cNvPr id="3" name="Text 1"/>
          <p:cNvSpPr/>
          <p:nvPr/>
        </p:nvSpPr>
        <p:spPr>
          <a:xfrm>
            <a:off x="640080" y="658368"/>
            <a:ext cx="10908792" cy="868680"/>
          </a:xfrm>
          <a:prstGeom prst="rect">
            <a:avLst/>
          </a:prstGeom>
          <a:noFill/>
          <a:ln/>
        </p:spPr>
        <p:txBody>
          <a:bodyPr wrap="square" rtlCol="0" anchor="t"/>
          <a:lstStyle/>
          <a:p>
            <a:pPr indent="0" marL="0">
              <a:buNone/>
            </a:pPr>
            <a:r>
              <a:rPr lang="en-US" sz="2800" b="1" dirty="0">
                <a:solidFill>
                  <a:srgbClr val="111827"/>
                </a:solidFill>
                <a:latin typeface="Calibri" pitchFamily="34" charset="0"/>
                <a:ea typeface="Calibri" pitchFamily="34" charset="-122"/>
                <a:cs typeface="Calibri" pitchFamily="34" charset="-120"/>
              </a:rPr>
              <a:t>The safeguards are tested, and I say what they cannot do</a:t>
            </a:r>
            <a:endParaRPr lang="en-US" sz="2800" dirty="0"/>
          </a:p>
        </p:txBody>
      </p:sp>
      <p:sp>
        <p:nvSpPr>
          <p:cNvPr id="4" name="Text 2"/>
          <p:cNvSpPr/>
          <p:nvPr/>
        </p:nvSpPr>
        <p:spPr>
          <a:xfrm>
            <a:off x="640080" y="6419088"/>
            <a:ext cx="5486400" cy="27432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Renewal Risk Call List · Fello take-home</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1645920"/>
          <a:ext cx="10908792" cy="914400"/>
        </p:xfrm>
        <a:graphic>
          <a:graphicData uri="http://schemas.openxmlformats.org/drawingml/2006/table">
            <a:tbl>
              <a:tblPr/>
              <a:tblGrid>
                <a:gridCol w="2194560"/>
                <a:gridCol w="5669280"/>
                <a:gridCol w="3044952"/>
              </a:tblGrid>
              <a:tr h="0">
                <a:tc>
                  <a:txBody>
                    <a:bodyPr/>
                    <a:lstStyle/>
                    <a:p>
                      <a:pPr indent="0" marL="0">
                        <a:buNone/>
                      </a:pPr>
                      <a:r>
                        <a:rPr lang="en-US" sz="1400" b="1" dirty="0">
                          <a:solidFill>
                            <a:srgbClr val="6B7280"/>
                          </a:solidFill>
                          <a:latin typeface="Calibri" pitchFamily="34" charset="0"/>
                          <a:ea typeface="Calibri" pitchFamily="34" charset="-122"/>
                          <a:cs typeface="Calibri" pitchFamily="34" charset="-120"/>
                        </a:rPr>
                        <a:t>Problem</a:t>
                      </a:r>
                      <a:endParaRPr lang="en-US" sz="14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F4F5FB"/>
                    </a:solidFill>
                  </a:tcPr>
                </a:tc>
                <a:tc>
                  <a:txBody>
                    <a:bodyPr/>
                    <a:lstStyle/>
                    <a:p>
                      <a:pPr indent="0" marL="0">
                        <a:buNone/>
                      </a:pPr>
                      <a:r>
                        <a:rPr lang="en-US" sz="1400" b="1" dirty="0">
                          <a:solidFill>
                            <a:srgbClr val="6B7280"/>
                          </a:solidFill>
                          <a:latin typeface="Calibri" pitchFamily="34" charset="0"/>
                          <a:ea typeface="Calibri" pitchFamily="34" charset="-122"/>
                          <a:cs typeface="Calibri" pitchFamily="34" charset="-120"/>
                        </a:rPr>
                        <a:t>What the system does</a:t>
                      </a:r>
                      <a:endParaRPr lang="en-US" sz="14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F4F5FB"/>
                    </a:solidFill>
                  </a:tcPr>
                </a:tc>
                <a:tc>
                  <a:txBody>
                    <a:bodyPr/>
                    <a:lstStyle/>
                    <a:p>
                      <a:pPr indent="0" marL="0">
                        <a:buNone/>
                      </a:pPr>
                      <a:r>
                        <a:rPr lang="en-US" sz="1400" b="1" dirty="0">
                          <a:solidFill>
                            <a:srgbClr val="6B7280"/>
                          </a:solidFill>
                          <a:latin typeface="Calibri" pitchFamily="34" charset="0"/>
                          <a:ea typeface="Calibri" pitchFamily="34" charset="-122"/>
                          <a:cs typeface="Calibri" pitchFamily="34" charset="-120"/>
                        </a:rPr>
                        <a:t>Evidence</a:t>
                      </a:r>
                      <a:endParaRPr lang="en-US" sz="14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F4F5FB"/>
                    </a:solidFill>
                  </a:tcPr>
                </a:tc>
              </a:tr>
              <a:tr h="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Records arrive late</a:t>
                      </a:r>
                      <a:endParaRPr lang="en-US" sz="14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Calibri" pitchFamily="34" charset="0"/>
                          <a:ea typeface="Calibri" pitchFamily="34" charset="-122"/>
                          <a:cs typeface="Calibri" pitchFamily="34" charset="-120"/>
                        </a:rPr>
                        <a:t>A record received after the scoring date is ignored, so a score never uses its own future</a:t>
                      </a:r>
                      <a:endParaRPr lang="en-US" sz="14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Calibri" pitchFamily="34" charset="0"/>
                          <a:ea typeface="Calibri" pitchFamily="34" charset="-122"/>
                          <a:cs typeface="Calibri" pitchFamily="34" charset="-120"/>
                        </a:rPr>
                        <a:t>Test: late record is not used</a:t>
                      </a:r>
                      <a:endParaRPr lang="en-US" sz="14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r h="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Cannot score or match</a:t>
                      </a:r>
                      <a:endParaRPr lang="en-US" sz="14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Calibri" pitchFamily="34" charset="0"/>
                          <a:ea typeface="Calibri" pitchFamily="34" charset="-122"/>
                          <a:cs typeface="Calibri" pitchFamily="34" charset="-120"/>
                        </a:rPr>
                        <a:t>Shown as "not scored" with the reason, never as safe. Unmatched records go to a review queue. A wrong match or missing source data can still hide a signal</a:t>
                      </a:r>
                      <a:endParaRPr lang="en-US" sz="14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Calibri" pitchFamily="34" charset="0"/>
                          <a:ea typeface="Calibri" pitchFamily="34" charset="-122"/>
                          <a:cs typeface="Calibri" pitchFamily="34" charset="-120"/>
                        </a:rPr>
                        <a:t>Unmatched page; counts per source</a:t>
                      </a:r>
                      <a:endParaRPr lang="en-US" sz="14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r h="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A run fails</a:t>
                      </a:r>
                      <a:endParaRPr lang="en-US" sz="14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Calibri" pitchFamily="34" charset="0"/>
                          <a:ea typeface="Calibri" pitchFamily="34" charset="-122"/>
                          <a:cs typeface="Calibri" pitchFamily="34" charset="-120"/>
                        </a:rPr>
                        <a:t>Logged, never published. That company keeps its previous list</a:t>
                      </a:r>
                      <a:endParaRPr lang="en-US" sz="14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Calibri" pitchFamily="34" charset="0"/>
                          <a:ea typeface="Calibri" pitchFamily="34" charset="-122"/>
                          <a:cs typeface="Calibri" pitchFamily="34" charset="-120"/>
                        </a:rPr>
                        <a:t>Test: run broken on purpose</a:t>
                      </a:r>
                      <a:endParaRPr lang="en-US" sz="14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r h="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Another company's data</a:t>
                      </a:r>
                      <a:endParaRPr lang="en-US" sz="14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Calibri" pitchFamily="34" charset="0"/>
                          <a:ea typeface="Calibri" pitchFamily="34" charset="-122"/>
                          <a:cs typeface="Calibri" pitchFamily="34" charset="-120"/>
                        </a:rPr>
                        <a:t>The database itself blocks other companies' rows. The company comes from a signed login, checked by the app</a:t>
                      </a:r>
                      <a:endParaRPr lang="en-US" sz="14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Calibri" pitchFamily="34" charset="0"/>
                          <a:ea typeface="Calibri" pitchFamily="34" charset="-122"/>
                          <a:cs typeface="Calibri" pitchFamily="34" charset="-120"/>
                        </a:rPr>
                        <a:t>Tests: wrong company, forged, expired, edited logins</a:t>
                      </a:r>
                      <a:endParaRPr lang="en-US" sz="14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r h="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"Why this score?"</a:t>
                      </a:r>
                      <a:endParaRPr lang="en-US" sz="14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Calibri" pitchFamily="34" charset="0"/>
                          <a:ea typeface="Calibri" pitchFamily="34" charset="-122"/>
                          <a:cs typeface="Calibri" pitchFamily="34" charset="-120"/>
                        </a:rPr>
                        <a:t>Every reason links to its source records</a:t>
                      </a:r>
                      <a:endParaRPr lang="en-US" sz="14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Calibri" pitchFamily="34" charset="0"/>
                          <a:ea typeface="Calibri" pitchFamily="34" charset="-122"/>
                          <a:cs typeface="Calibri" pitchFamily="34" charset="-120"/>
                        </a:rPr>
                        <a:t>Test rebuilds each stored score from its reasons</a:t>
                      </a:r>
                      <a:endParaRPr lang="en-US" sz="14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bl>
          </a:graphicData>
        </a:graphic>
      </p:graphicFrame>
      <p:sp>
        <p:nvSpPr>
          <p:cNvPr id="7" name="Shape 3"/>
          <p:cNvSpPr/>
          <p:nvPr/>
        </p:nvSpPr>
        <p:spPr>
          <a:xfrm>
            <a:off x="640080" y="5623560"/>
            <a:ext cx="10908792" cy="640080"/>
          </a:xfrm>
          <a:prstGeom prst="roundRect">
            <a:avLst>
              <a:gd name="adj" fmla="val 17143"/>
            </a:avLst>
          </a:prstGeom>
          <a:solidFill>
            <a:srgbClr val="E8EAFD"/>
          </a:solidFill>
          <a:ln w="12700">
            <a:solidFill>
              <a:srgbClr val="E8EAFD"/>
            </a:solidFill>
            <a:prstDash val="solid"/>
          </a:ln>
        </p:spPr>
      </p:sp>
      <p:sp>
        <p:nvSpPr>
          <p:cNvPr id="8" name="Text 4"/>
          <p:cNvSpPr/>
          <p:nvPr/>
        </p:nvSpPr>
        <p:spPr>
          <a:xfrm>
            <a:off x="868680" y="5623560"/>
            <a:ext cx="10451592" cy="640080"/>
          </a:xfrm>
          <a:prstGeom prst="rect">
            <a:avLst/>
          </a:prstGeom>
          <a:noFill/>
          <a:ln/>
        </p:spPr>
        <p:txBody>
          <a:bodyPr wrap="square"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Promised: every renewal is a call, on the watch list, or "not scored" with the reason. Not promised: that every at-risk customer is called or saved.</a:t>
            </a:r>
            <a:endParaRPr lang="en-US" sz="1500" dirty="0"/>
          </a:p>
        </p:txBody>
      </p:sp>
      <p:sp>
        <p:nvSpPr>
          <p:cNvPr id="25" name="Slide Number Placeholder 0"/>
          <p:cNvSpPr>
            <a:spLocks noGrp="1"/>
          </p:cNvSpPr>
          <p:nvPr>
            <p:ph type="sldNum" sz="quarter" idx="4294967295"/>
          </p:nvPr>
        </p:nvSpPr>
        <p:spPr>
          <a:xfrm>
            <a:off x="1088136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7315200" cy="274320"/>
          </a:xfrm>
          <a:prstGeom prst="rect">
            <a:avLst/>
          </a:prstGeom>
          <a:noFill/>
          <a:ln/>
        </p:spPr>
        <p:txBody>
          <a:bodyPr wrap="square" rtlCol="0" anchor="ctr"/>
          <a:lstStyle/>
          <a:p>
            <a:pPr indent="0" marL="0">
              <a:buNone/>
            </a:pPr>
            <a:r>
              <a:rPr lang="en-US" sz="1200" b="1" spc="300" kern="0" dirty="0">
                <a:solidFill>
                  <a:srgbClr val="3B4BD8"/>
                </a:solidFill>
                <a:latin typeface="Calibri" pitchFamily="34" charset="0"/>
                <a:ea typeface="Calibri" pitchFamily="34" charset="-122"/>
                <a:cs typeface="Calibri" pitchFamily="34" charset="-120"/>
              </a:rPr>
              <a:t>5 · THE OVERALL SYSTEM</a:t>
            </a:r>
            <a:endParaRPr lang="en-US" sz="1200" dirty="0"/>
          </a:p>
        </p:txBody>
      </p:sp>
      <p:sp>
        <p:nvSpPr>
          <p:cNvPr id="3" name="Text 1"/>
          <p:cNvSpPr/>
          <p:nvPr/>
        </p:nvSpPr>
        <p:spPr>
          <a:xfrm>
            <a:off x="640080" y="658368"/>
            <a:ext cx="10908792" cy="868680"/>
          </a:xfrm>
          <a:prstGeom prst="rect">
            <a:avLst/>
          </a:prstGeom>
          <a:noFill/>
          <a:ln/>
        </p:spPr>
        <p:txBody>
          <a:bodyPr wrap="square" rtlCol="0" anchor="t"/>
          <a:lstStyle/>
          <a:p>
            <a:pPr indent="0" marL="0">
              <a:buNone/>
            </a:pPr>
            <a:r>
              <a:rPr lang="en-US" sz="2800" b="1" dirty="0">
                <a:solidFill>
                  <a:srgbClr val="111827"/>
                </a:solidFill>
                <a:latin typeface="Calibri" pitchFamily="34" charset="0"/>
                <a:ea typeface="Calibri" pitchFamily="34" charset="-122"/>
                <a:cs typeface="Calibri" pitchFamily="34" charset="-120"/>
              </a:rPr>
              <a:t>The score found 18 of 29 leavers in the call lists; a simple rule found 12</a:t>
            </a:r>
            <a:endParaRPr lang="en-US" sz="2800" dirty="0"/>
          </a:p>
        </p:txBody>
      </p:sp>
      <p:sp>
        <p:nvSpPr>
          <p:cNvPr id="4" name="Text 2"/>
          <p:cNvSpPr/>
          <p:nvPr/>
        </p:nvSpPr>
        <p:spPr>
          <a:xfrm>
            <a:off x="640080" y="6419088"/>
            <a:ext cx="5486400" cy="27432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Renewal Risk Call List · Fello take-home</a:t>
            </a:r>
            <a:endParaRPr lang="en-US" sz="1000" dirty="0"/>
          </a:p>
        </p:txBody>
      </p:sp>
      <p:sp>
        <p:nvSpPr>
          <p:cNvPr id="6" name="Text 3"/>
          <p:cNvSpPr/>
          <p:nvPr/>
        </p:nvSpPr>
        <p:spPr>
          <a:xfrm>
            <a:off x="640080" y="1737360"/>
            <a:ext cx="5486400" cy="320040"/>
          </a:xfrm>
          <a:prstGeom prst="rect">
            <a:avLst/>
          </a:prstGeom>
          <a:noFill/>
          <a:ln/>
        </p:spPr>
        <p:txBody>
          <a:bodyPr wrap="square" rtlCol="0" anchor="ctr"/>
          <a:lstStyle/>
          <a:p>
            <a:pPr indent="0" marL="0">
              <a:buNone/>
            </a:pPr>
            <a:r>
              <a:rPr lang="en-US" sz="1400" b="1" dirty="0">
                <a:solidFill>
                  <a:srgbClr val="111827"/>
                </a:solidFill>
                <a:latin typeface="Calibri" pitchFamily="34" charset="0"/>
                <a:ea typeface="Calibri" pitchFamily="34" charset="-122"/>
                <a:cs typeface="Calibri" pitchFamily="34" charset="-120"/>
              </a:rPr>
              <a:t>Leavers caught in each manager's top 15 (out of 29)</a:t>
            </a:r>
            <a:endParaRPr lang="en-US" sz="1400" dirty="0"/>
          </a:p>
        </p:txBody>
      </p:sp>
      <p:graphicFrame>
        <p:nvGraphicFramePr>
          <p:cNvPr id="7" name="Chart 0" descr=""/>
          <p:cNvGraphicFramePr/>
          <p:nvPr/>
        </p:nvGraphicFramePr>
        <p:xfrm>
          <a:off x="548640" y="2103120"/>
          <a:ext cx="5669280" cy="3108960"/>
        </p:xfrm>
        <a:graphic xmlns:a="http://schemas.openxmlformats.org/drawingml/2006/main">
          <a:graphicData uri="http://schemas.openxmlformats.org/drawingml/2006/chart">
            <c:chart xmlns:c="http://schemas.openxmlformats.org/drawingml/2006/chart" r:id="rId1"/>
          </a:graphicData>
        </a:graphic>
      </p:graphicFrame>
      <p:sp>
        <p:nvSpPr>
          <p:cNvPr id="8" name="Text 4"/>
          <p:cNvSpPr/>
          <p:nvPr/>
        </p:nvSpPr>
        <p:spPr>
          <a:xfrm>
            <a:off x="6766560" y="1737360"/>
            <a:ext cx="2560320" cy="731520"/>
          </a:xfrm>
          <a:prstGeom prst="rect">
            <a:avLst/>
          </a:prstGeom>
          <a:noFill/>
          <a:ln/>
        </p:spPr>
        <p:txBody>
          <a:bodyPr wrap="square" rtlCol="0" anchor="b"/>
          <a:lstStyle/>
          <a:p>
            <a:pPr indent="0" marL="0">
              <a:buNone/>
            </a:pPr>
            <a:r>
              <a:rPr lang="en-US" sz="3800" b="1" dirty="0">
                <a:solidFill>
                  <a:srgbClr val="3B4BD8"/>
                </a:solidFill>
                <a:latin typeface="Calibri" pitchFamily="34" charset="0"/>
                <a:ea typeface="Calibri" pitchFamily="34" charset="-122"/>
                <a:cs typeface="Calibri" pitchFamily="34" charset="-120"/>
              </a:rPr>
              <a:t>18 of 29</a:t>
            </a:r>
            <a:endParaRPr lang="en-US" sz="3800" dirty="0"/>
          </a:p>
        </p:txBody>
      </p:sp>
      <p:sp>
        <p:nvSpPr>
          <p:cNvPr id="9" name="Text 5"/>
          <p:cNvSpPr/>
          <p:nvPr/>
        </p:nvSpPr>
        <p:spPr>
          <a:xfrm>
            <a:off x="6766560" y="2487168"/>
            <a:ext cx="2560320" cy="685800"/>
          </a:xfrm>
          <a:prstGeom prst="rect">
            <a:avLst/>
          </a:prstGeom>
          <a:noFill/>
          <a:ln/>
        </p:spPr>
        <p:txBody>
          <a:bodyPr wrap="square" rtlCol="0" anchor="t"/>
          <a:lstStyle/>
          <a:p>
            <a:pPr indent="0" marL="0">
              <a:buNone/>
            </a:pPr>
            <a:r>
              <a:rPr lang="en-US" sz="1300" dirty="0">
                <a:solidFill>
                  <a:srgbClr val="6B7280"/>
                </a:solidFill>
                <a:latin typeface="Calibri" pitchFamily="34" charset="0"/>
                <a:ea typeface="Calibri" pitchFamily="34" charset="-122"/>
                <a:cs typeface="Calibri" pitchFamily="34" charset="-120"/>
              </a:rPr>
              <a:t>leavers in each manager's top 15: our score</a:t>
            </a:r>
            <a:endParaRPr lang="en-US" sz="1300" dirty="0"/>
          </a:p>
        </p:txBody>
      </p:sp>
      <p:sp>
        <p:nvSpPr>
          <p:cNvPr id="10" name="Text 6"/>
          <p:cNvSpPr/>
          <p:nvPr/>
        </p:nvSpPr>
        <p:spPr>
          <a:xfrm>
            <a:off x="9326880" y="1737360"/>
            <a:ext cx="2194560" cy="731520"/>
          </a:xfrm>
          <a:prstGeom prst="rect">
            <a:avLst/>
          </a:prstGeom>
          <a:noFill/>
          <a:ln/>
        </p:spPr>
        <p:txBody>
          <a:bodyPr wrap="square" rtlCol="0" anchor="b"/>
          <a:lstStyle/>
          <a:p>
            <a:pPr indent="0" marL="0">
              <a:buNone/>
            </a:pPr>
            <a:r>
              <a:rPr lang="en-US" sz="3800" b="1" dirty="0">
                <a:solidFill>
                  <a:srgbClr val="6B7280"/>
                </a:solidFill>
                <a:latin typeface="Calibri" pitchFamily="34" charset="0"/>
                <a:ea typeface="Calibri" pitchFamily="34" charset="-122"/>
                <a:cs typeface="Calibri" pitchFamily="34" charset="-120"/>
              </a:rPr>
              <a:t>12 of 29</a:t>
            </a:r>
            <a:endParaRPr lang="en-US" sz="3800" dirty="0"/>
          </a:p>
        </p:txBody>
      </p:sp>
      <p:sp>
        <p:nvSpPr>
          <p:cNvPr id="11" name="Text 7"/>
          <p:cNvSpPr/>
          <p:nvPr/>
        </p:nvSpPr>
        <p:spPr>
          <a:xfrm>
            <a:off x="9326880" y="2487168"/>
            <a:ext cx="2194560" cy="685800"/>
          </a:xfrm>
          <a:prstGeom prst="rect">
            <a:avLst/>
          </a:prstGeom>
          <a:noFill/>
          <a:ln/>
        </p:spPr>
        <p:txBody>
          <a:bodyPr wrap="square" rtlCol="0" anchor="t"/>
          <a:lstStyle/>
          <a:p>
            <a:pPr indent="0" marL="0">
              <a:buNone/>
            </a:pPr>
            <a:r>
              <a:rPr lang="en-US" sz="1300" dirty="0">
                <a:solidFill>
                  <a:srgbClr val="6B7280"/>
                </a:solidFill>
                <a:latin typeface="Calibri" pitchFamily="34" charset="0"/>
                <a:ea typeface="Calibri" pitchFamily="34" charset="-122"/>
                <a:cs typeface="Calibri" pitchFamily="34" charset="-120"/>
              </a:rPr>
              <a:t>the simple usage-drop rule</a:t>
            </a:r>
            <a:endParaRPr lang="en-US" sz="1300" dirty="0"/>
          </a:p>
        </p:txBody>
      </p:sp>
      <p:sp>
        <p:nvSpPr>
          <p:cNvPr id="12" name="Text 8"/>
          <p:cNvSpPr/>
          <p:nvPr/>
        </p:nvSpPr>
        <p:spPr>
          <a:xfrm>
            <a:off x="6766560" y="3429000"/>
            <a:ext cx="4754880" cy="2103120"/>
          </a:xfrm>
          <a:prstGeom prst="rect">
            <a:avLst/>
          </a:prstGeom>
          <a:noFill/>
          <a:ln/>
        </p:spPr>
        <p:txBody>
          <a:bodyPr wrap="square" rtlCol="0" anchor="t"/>
          <a:lstStyle/>
          <a:p>
            <a:pPr marL="177800" indent="-177800">
              <a:spcAft>
                <a:spcPts val="600"/>
              </a:spcAft>
              <a:buSzPct val="100000"/>
              <a:buChar char="•"/>
            </a:pPr>
            <a:r>
              <a:rPr lang="en-US" sz="1300" dirty="0">
                <a:solidFill>
                  <a:srgbClr val="111827"/>
                </a:solidFill>
                <a:latin typeface="Calibri" pitchFamily="34" charset="0"/>
                <a:ea typeface="Calibri" pitchFamily="34" charset="-122"/>
                <a:cs typeface="Calibri" pitchFamily="34" charset="-120"/>
              </a:rPr>
              <a:t>Tested on a later date the system never saw (15 June 2026).</a:t>
            </a:r>
            <a:endParaRPr lang="en-US" sz="1300" dirty="0"/>
          </a:p>
          <a:p>
            <a:pPr marL="177800" indent="-177800">
              <a:spcAft>
                <a:spcPts val="600"/>
              </a:spcAft>
              <a:buSzPct val="100000"/>
              <a:buChar char="•"/>
            </a:pPr>
            <a:r>
              <a:rPr lang="en-US" sz="1300" dirty="0">
                <a:solidFill>
                  <a:srgbClr val="111827"/>
                </a:solidFill>
                <a:latin typeface="Calibri" pitchFamily="34" charset="0"/>
                <a:ea typeface="Calibri" pitchFamily="34" charset="-122"/>
                <a:cs typeface="Calibri" pitchFamily="34" charset="-120"/>
              </a:rPr>
              <a:t>Only 29 customers left, so a gap of a few is suggestive, not proof.</a:t>
            </a:r>
            <a:endParaRPr lang="en-US" sz="1300" dirty="0"/>
          </a:p>
          <a:p>
            <a:pPr marL="177800" indent="-177800">
              <a:spcAft>
                <a:spcPts val="600"/>
              </a:spcAft>
              <a:buSzPct val="100000"/>
              <a:buChar char="•"/>
            </a:pPr>
            <a:r>
              <a:rPr lang="en-US" sz="1300" dirty="0">
                <a:solidFill>
                  <a:srgbClr val="111827"/>
                </a:solidFill>
                <a:latin typeface="Calibri" pitchFamily="34" charset="0"/>
                <a:ea typeface="Calibri" pitchFamily="34" charset="-122"/>
                <a:cs typeface="Calibri" pitchFamily="34" charset="-120"/>
              </a:rPr>
              <a:t>Ranking quality score: 0.71 vs 0.60 (0.5 is a coin toss). Likely ranges 0.65 to 0.85 and 0.51 to 0.69.</a:t>
            </a:r>
            <a:endParaRPr lang="en-US" sz="1300" dirty="0"/>
          </a:p>
          <a:p>
            <a:pPr marL="177800" indent="-177800">
              <a:spcAft>
                <a:spcPts val="600"/>
              </a:spcAft>
              <a:buSzPct val="100000"/>
              <a:buChar char="•"/>
            </a:pPr>
            <a:r>
              <a:rPr lang="en-US" sz="1300" dirty="0">
                <a:solidFill>
                  <a:srgbClr val="111827"/>
                </a:solidFill>
                <a:latin typeface="Calibri" pitchFamily="34" charset="0"/>
                <a:ea typeface="Calibri" pitchFamily="34" charset="-122"/>
                <a:cs typeface="Calibri" pitchFamily="34" charset="-120"/>
              </a:rPr>
              <a:t>Earlier 0.83 was before I fixed what "leaving" means. I report 0.71.</a:t>
            </a:r>
            <a:endParaRPr lang="en-US" sz="1300" dirty="0"/>
          </a:p>
        </p:txBody>
      </p:sp>
      <p:sp>
        <p:nvSpPr>
          <p:cNvPr id="13" name="Shape 9"/>
          <p:cNvSpPr/>
          <p:nvPr/>
        </p:nvSpPr>
        <p:spPr>
          <a:xfrm>
            <a:off x="640080" y="5623560"/>
            <a:ext cx="10908792" cy="548640"/>
          </a:xfrm>
          <a:prstGeom prst="roundRect">
            <a:avLst>
              <a:gd name="adj" fmla="val 20000"/>
            </a:avLst>
          </a:prstGeom>
          <a:solidFill>
            <a:srgbClr val="E8EAFD"/>
          </a:solidFill>
          <a:ln w="12700">
            <a:solidFill>
              <a:srgbClr val="E8EAFD"/>
            </a:solidFill>
            <a:prstDash val="solid"/>
          </a:ln>
        </p:spPr>
      </p:sp>
      <p:sp>
        <p:nvSpPr>
          <p:cNvPr id="14" name="Text 10"/>
          <p:cNvSpPr/>
          <p:nvPr/>
        </p:nvSpPr>
        <p:spPr>
          <a:xfrm>
            <a:off x="868680" y="5623560"/>
            <a:ext cx="10451592" cy="548640"/>
          </a:xfrm>
          <a:prstGeom prst="rect">
            <a:avLst/>
          </a:prstGeom>
          <a:noFill/>
          <a:ln/>
        </p:spPr>
        <p:txBody>
          <a:bodyPr wrap="square"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The data is generated: this shows the system works, not how it would do on real customers.</a:t>
            </a:r>
            <a:endParaRPr lang="en-US" sz="1500" dirty="0"/>
          </a:p>
        </p:txBody>
      </p:sp>
      <p:sp>
        <p:nvSpPr>
          <p:cNvPr id="25" name="Slide Number Placeholder 0"/>
          <p:cNvSpPr>
            <a:spLocks noGrp="1"/>
          </p:cNvSpPr>
          <p:nvPr>
            <p:ph type="sldNum" sz="quarter" idx="4294967295"/>
          </p:nvPr>
        </p:nvSpPr>
        <p:spPr>
          <a:xfrm>
            <a:off x="1088136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7315200" cy="274320"/>
          </a:xfrm>
          <a:prstGeom prst="rect">
            <a:avLst/>
          </a:prstGeom>
          <a:noFill/>
          <a:ln/>
        </p:spPr>
        <p:txBody>
          <a:bodyPr wrap="square" rtlCol="0" anchor="ctr"/>
          <a:lstStyle/>
          <a:p>
            <a:pPr indent="0" marL="0">
              <a:buNone/>
            </a:pPr>
            <a:r>
              <a:rPr lang="en-US" sz="1200" b="1" spc="300" kern="0" dirty="0">
                <a:solidFill>
                  <a:srgbClr val="3B4BD8"/>
                </a:solidFill>
                <a:latin typeface="Calibri" pitchFamily="34" charset="0"/>
                <a:ea typeface="Calibri" pitchFamily="34" charset="-122"/>
                <a:cs typeface="Calibri" pitchFamily="34" charset="-120"/>
              </a:rPr>
              <a:t>6 · WHAT IS LEFT OUT, AND WHY</a:t>
            </a:r>
            <a:endParaRPr lang="en-US" sz="1200" dirty="0"/>
          </a:p>
        </p:txBody>
      </p:sp>
      <p:sp>
        <p:nvSpPr>
          <p:cNvPr id="3" name="Text 1"/>
          <p:cNvSpPr/>
          <p:nvPr/>
        </p:nvSpPr>
        <p:spPr>
          <a:xfrm>
            <a:off x="640080" y="658368"/>
            <a:ext cx="10908792" cy="868680"/>
          </a:xfrm>
          <a:prstGeom prst="rect">
            <a:avLst/>
          </a:prstGeom>
          <a:noFill/>
          <a:ln/>
        </p:spPr>
        <p:txBody>
          <a:bodyPr wrap="square" rtlCol="0" anchor="t"/>
          <a:lstStyle/>
          <a:p>
            <a:pPr indent="0" marL="0">
              <a:buNone/>
            </a:pPr>
            <a:r>
              <a:rPr lang="en-US" sz="2800" b="1" dirty="0">
                <a:solidFill>
                  <a:srgbClr val="111827"/>
                </a:solidFill>
                <a:latin typeface="Calibri" pitchFamily="34" charset="0"/>
                <a:ea typeface="Calibri" pitchFamily="34" charset="-122"/>
                <a:cs typeface="Calibri" pitchFamily="34" charset="-120"/>
              </a:rPr>
              <a:t>What I left out, and why</a:t>
            </a:r>
            <a:endParaRPr lang="en-US" sz="2800" dirty="0"/>
          </a:p>
        </p:txBody>
      </p:sp>
      <p:sp>
        <p:nvSpPr>
          <p:cNvPr id="4" name="Text 2"/>
          <p:cNvSpPr/>
          <p:nvPr/>
        </p:nvSpPr>
        <p:spPr>
          <a:xfrm>
            <a:off x="640080" y="6419088"/>
            <a:ext cx="5486400" cy="27432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Renewal Risk Call List · Fello take-home</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2651760"/>
                <a:gridCol w="4754880"/>
                <a:gridCol w="3502152"/>
              </a:tblGrid>
              <a:tr h="0">
                <a:tc>
                  <a:txBody>
                    <a:bodyPr/>
                    <a:lstStyle/>
                    <a:p>
                      <a:pPr indent="0" marL="0">
                        <a:buNone/>
                      </a:pPr>
                      <a:r>
                        <a:rPr lang="en-US" sz="1200" b="1" dirty="0">
                          <a:solidFill>
                            <a:srgbClr val="6B7280"/>
                          </a:solidFill>
                          <a:latin typeface="Calibri" pitchFamily="34" charset="0"/>
                          <a:ea typeface="Calibri" pitchFamily="34" charset="-122"/>
                          <a:cs typeface="Calibri" pitchFamily="34" charset="-120"/>
                        </a:rPr>
                        <a:t>Left out</a:t>
                      </a:r>
                      <a:endParaRPr lang="en-US" sz="1200" dirty="0">
                        <a:latin typeface="Calibri" charset="0"/>
                        <a:ea typeface="Calibri" charset="0"/>
                        <a:cs typeface="Calibri" charset="0"/>
                      </a:endParaRPr>
                    </a:p>
                  </a:txBody>
                  <a:tcPr marL="109728" marR="109728"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F4F5FB"/>
                    </a:solidFill>
                  </a:tcPr>
                </a:tc>
                <a:tc>
                  <a:txBody>
                    <a:bodyPr/>
                    <a:lstStyle/>
                    <a:p>
                      <a:pPr indent="0" marL="0">
                        <a:buNone/>
                      </a:pPr>
                      <a:r>
                        <a:rPr lang="en-US" sz="1200" b="1" dirty="0">
                          <a:solidFill>
                            <a:srgbClr val="6B7280"/>
                          </a:solidFill>
                          <a:latin typeface="Calibri" pitchFamily="34" charset="0"/>
                          <a:ea typeface="Calibri" pitchFamily="34" charset="-122"/>
                          <a:cs typeface="Calibri" pitchFamily="34" charset="-120"/>
                        </a:rPr>
                        <a:t>Why</a:t>
                      </a:r>
                      <a:endParaRPr lang="en-US" sz="1200" dirty="0">
                        <a:latin typeface="Calibri" charset="0"/>
                        <a:ea typeface="Calibri" charset="0"/>
                        <a:cs typeface="Calibri" charset="0"/>
                      </a:endParaRPr>
                    </a:p>
                  </a:txBody>
                  <a:tcPr marL="109728" marR="109728"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F4F5FB"/>
                    </a:solidFill>
                  </a:tcPr>
                </a:tc>
                <a:tc>
                  <a:txBody>
                    <a:bodyPr/>
                    <a:lstStyle/>
                    <a:p>
                      <a:pPr indent="0" marL="0">
                        <a:buNone/>
                      </a:pPr>
                      <a:r>
                        <a:rPr lang="en-US" sz="1200" b="1" dirty="0">
                          <a:solidFill>
                            <a:srgbClr val="6B7280"/>
                          </a:solidFill>
                          <a:latin typeface="Calibri" pitchFamily="34" charset="0"/>
                          <a:ea typeface="Calibri" pitchFamily="34" charset="-122"/>
                          <a:cs typeface="Calibri" pitchFamily="34" charset="-120"/>
                        </a:rPr>
                        <a:t>What comes next</a:t>
                      </a:r>
                      <a:endParaRPr lang="en-US" sz="1200" dirty="0">
                        <a:latin typeface="Calibri" charset="0"/>
                        <a:ea typeface="Calibri" charset="0"/>
                        <a:cs typeface="Calibri" charset="0"/>
                      </a:endParaRPr>
                    </a:p>
                  </a:txBody>
                  <a:tcPr marL="109728" marR="109728"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F4F5FB"/>
                    </a:solidFill>
                  </a:tcPr>
                </a:tc>
              </a:tr>
              <a:tr h="0">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Real connections and sign-in</a:t>
                      </a:r>
                      <a:endParaRPr lang="en-US" sz="1200" dirty="0">
                        <a:latin typeface="Calibri" charset="0"/>
                        <a:ea typeface="Calibri" charset="0"/>
                        <a:cs typeface="Calibri" charset="0"/>
                      </a:endParaRPr>
                    </a:p>
                  </a:txBody>
                  <a:tcPr marL="109728" marR="109728"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Generated files and a demo login show the system works</a:t>
                      </a:r>
                      <a:endParaRPr lang="en-US" sz="1200" dirty="0">
                        <a:latin typeface="Calibri" charset="0"/>
                        <a:ea typeface="Calibri" charset="0"/>
                        <a:cs typeface="Calibri" charset="0"/>
                      </a:endParaRPr>
                    </a:p>
                  </a:txBody>
                  <a:tcPr marL="109728" marR="109728"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Connections to the real tools and a real company sign-in</a:t>
                      </a:r>
                      <a:endParaRPr lang="en-US" sz="1200" dirty="0">
                        <a:latin typeface="Calibri" charset="0"/>
                        <a:ea typeface="Calibri" charset="0"/>
                        <a:cs typeface="Calibri" charset="0"/>
                      </a:endParaRPr>
                    </a:p>
                  </a:txBody>
                  <a:tcPr marL="109728" marR="109728"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r h="0">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Real email sending</a:t>
                      </a:r>
                      <a:endParaRPr lang="en-US" sz="1200" dirty="0">
                        <a:latin typeface="Calibri" charset="0"/>
                        <a:ea typeface="Calibri" charset="0"/>
                        <a:cs typeface="Calibri" charset="0"/>
                      </a:endParaRPr>
                    </a:p>
                  </a:txBody>
                  <a:tcPr marL="109728" marR="109728"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The reminder is saved as a record; nothing is actually sent. Wording and who switches it on need approval</a:t>
                      </a:r>
                      <a:endParaRPr lang="en-US" sz="1200" dirty="0">
                        <a:latin typeface="Calibri" charset="0"/>
                        <a:ea typeface="Calibri" charset="0"/>
                        <a:cs typeface="Calibri" charset="0"/>
                      </a:endParaRPr>
                    </a:p>
                  </a:txBody>
                  <a:tcPr marL="109728" marR="109728"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Business and legal approval, then a real send</a:t>
                      </a:r>
                      <a:endParaRPr lang="en-US" sz="1200" dirty="0">
                        <a:latin typeface="Calibri" charset="0"/>
                        <a:ea typeface="Calibri" charset="0"/>
                        <a:cs typeface="Calibri" charset="0"/>
                      </a:endParaRPr>
                    </a:p>
                  </a:txBody>
                  <a:tcPr marL="109728" marR="109728"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r h="0">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Gmail in the score</a:t>
                      </a:r>
                      <a:endParaRPr lang="en-US" sz="1200" dirty="0">
                        <a:latin typeface="Calibri" charset="0"/>
                        <a:ea typeface="Calibri" charset="0"/>
                        <a:cs typeface="Calibri" charset="0"/>
                      </a:endParaRPr>
                    </a:p>
                  </a:txBody>
                  <a:tcPr marL="109728" marR="109728"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Loaded, not scored. Tested once on generated data: no measurable gain. The legal basis is unconfirmed</a:t>
                      </a:r>
                      <a:endParaRPr lang="en-US" sz="1200" dirty="0">
                        <a:latin typeface="Calibri" charset="0"/>
                        <a:ea typeface="Calibri" charset="0"/>
                        <a:cs typeface="Calibri" charset="0"/>
                      </a:endParaRPr>
                    </a:p>
                  </a:txBody>
                  <a:tcPr marL="109728" marR="109728"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Revisit with real mailbox volume and approval</a:t>
                      </a:r>
                      <a:endParaRPr lang="en-US" sz="1200" dirty="0">
                        <a:latin typeface="Calibri" charset="0"/>
                        <a:ea typeface="Calibri" charset="0"/>
                        <a:cs typeface="Calibri" charset="0"/>
                      </a:endParaRPr>
                    </a:p>
                  </a:txBody>
                  <a:tcPr marL="109728" marR="109728"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r h="0">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Whether a call saves a customer</a:t>
                      </a:r>
                      <a:endParaRPr lang="en-US" sz="1200" dirty="0">
                        <a:latin typeface="Calibri" charset="0"/>
                        <a:ea typeface="Calibri" charset="0"/>
                        <a:cs typeface="Calibri" charset="0"/>
                      </a:endParaRPr>
                    </a:p>
                  </a:txBody>
                  <a:tcPr marL="109728" marR="109728"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No outcomes are recorded yet</a:t>
                      </a:r>
                      <a:endParaRPr lang="en-US" sz="1200" dirty="0">
                        <a:latin typeface="Calibri" charset="0"/>
                        <a:ea typeface="Calibri" charset="0"/>
                        <a:cs typeface="Calibri" charset="0"/>
                      </a:endParaRPr>
                    </a:p>
                  </a:txBody>
                  <a:tcPr marL="109728" marR="109728"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The call log is kept from day one, so this can be measured</a:t>
                      </a:r>
                      <a:endParaRPr lang="en-US" sz="1200" dirty="0">
                        <a:latin typeface="Calibri" charset="0"/>
                        <a:ea typeface="Calibri" charset="0"/>
                        <a:cs typeface="Calibri" charset="0"/>
                      </a:endParaRPr>
                    </a:p>
                  </a:txBody>
                  <a:tcPr marL="109728" marR="109728"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r h="0">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How close the percentage is to reality</a:t>
                      </a:r>
                      <a:endParaRPr lang="en-US" sz="1200" dirty="0">
                        <a:latin typeface="Calibri" charset="0"/>
                        <a:ea typeface="Calibri" charset="0"/>
                        <a:cs typeface="Calibri" charset="0"/>
                      </a:endParaRPr>
                    </a:p>
                  </a:txBody>
                  <a:tcPr marL="109728" marR="109728"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It ranks well but understates strong clues: cancel request about 21 to 29% predicted, about 50% actual</a:t>
                      </a:r>
                      <a:endParaRPr lang="en-US" sz="1200" dirty="0">
                        <a:latin typeface="Calibri" charset="0"/>
                        <a:ea typeface="Calibri" charset="0"/>
                        <a:cs typeface="Calibri" charset="0"/>
                      </a:endParaRPr>
                    </a:p>
                  </a:txBody>
                  <a:tcPr marL="109728" marR="109728"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Check predicted against actual by band</a:t>
                      </a:r>
                      <a:endParaRPr lang="en-US" sz="1200" dirty="0">
                        <a:latin typeface="Calibri" charset="0"/>
                        <a:ea typeface="Calibri" charset="0"/>
                        <a:cs typeface="Calibri" charset="0"/>
                      </a:endParaRPr>
                    </a:p>
                  </a:txBody>
                  <a:tcPr marL="109728" marR="109728"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r h="0">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Ten times the size</a:t>
                      </a:r>
                      <a:endParaRPr lang="en-US" sz="1200" dirty="0">
                        <a:latin typeface="Calibri" charset="0"/>
                        <a:ea typeface="Calibri" charset="0"/>
                        <a:cs typeface="Calibri" charset="0"/>
                      </a:endParaRPr>
                    </a:p>
                  </a:txBody>
                  <a:tcPr marL="109728" marR="109728"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The nightly job re-reads everything; two runs could overlap</a:t>
                      </a:r>
                      <a:endParaRPr lang="en-US" sz="1200" dirty="0">
                        <a:latin typeface="Calibri" charset="0"/>
                        <a:ea typeface="Calibri" charset="0"/>
                        <a:cs typeface="Calibri" charset="0"/>
                      </a:endParaRPr>
                    </a:p>
                  </a:txBody>
                  <a:tcPr marL="109728" marR="109728"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Process only what changed; one run at a time</a:t>
                      </a:r>
                      <a:endParaRPr lang="en-US" sz="1200" dirty="0">
                        <a:latin typeface="Calibri" charset="0"/>
                        <a:ea typeface="Calibri" charset="0"/>
                        <a:cs typeface="Calibri" charset="0"/>
                      </a:endParaRPr>
                    </a:p>
                  </a:txBody>
                  <a:tcPr marL="109728" marR="109728"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bl>
          </a:graphicData>
        </a:graphic>
      </p:graphicFrame>
      <p:sp>
        <p:nvSpPr>
          <p:cNvPr id="7" name="Text 3"/>
          <p:cNvSpPr/>
          <p:nvPr/>
        </p:nvSpPr>
        <p:spPr>
          <a:xfrm>
            <a:off x="640080" y="5943600"/>
            <a:ext cx="10908792" cy="365760"/>
          </a:xfrm>
          <a:prstGeom prst="rect">
            <a:avLst/>
          </a:prstGeom>
          <a:noFill/>
          <a:ln/>
        </p:spPr>
        <p:txBody>
          <a:bodyPr wrap="square" rtlCol="0" anchor="ctr"/>
          <a:lstStyle/>
          <a:p>
            <a:pPr indent="0" marL="0">
              <a:buNone/>
            </a:pPr>
            <a:r>
              <a:rPr lang="en-US" sz="1400" b="1" dirty="0">
                <a:solidFill>
                  <a:srgbClr val="111827"/>
                </a:solidFill>
                <a:latin typeface="Calibri" pitchFamily="34" charset="0"/>
                <a:ea typeface="Calibri" pitchFamily="34" charset="-122"/>
                <a:cs typeface="Calibri" pitchFamily="34" charset="-120"/>
              </a:rPr>
              <a:t>Live demo: https://fello-renewal-risk.vercel.app/    Sign in as: org_a · org_a-CSM3</a:t>
            </a:r>
            <a:endParaRPr lang="en-US" sz="1400" dirty="0"/>
          </a:p>
        </p:txBody>
      </p:sp>
      <p:sp>
        <p:nvSpPr>
          <p:cNvPr id="25" name="Slide Number Placeholder 0"/>
          <p:cNvSpPr>
            <a:spLocks noGrp="1"/>
          </p:cNvSpPr>
          <p:nvPr>
            <p:ph type="sldNum" sz="quarter" idx="4294967295"/>
          </p:nvPr>
        </p:nvSpPr>
        <p:spPr>
          <a:xfrm>
            <a:off x="1088136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11827"/>
        </a:solidFill>
      </p:bgPr>
    </p:bg>
    <p:spTree>
      <p:nvGrpSpPr>
        <p:cNvPr id="1" name=""/>
        <p:cNvGrpSpPr/>
        <p:nvPr/>
      </p:nvGrpSpPr>
      <p:grpSpPr>
        <a:xfrm>
          <a:off x="0" y="0"/>
          <a:ext cx="0" cy="0"/>
          <a:chOff x="0" y="0"/>
          <a:chExt cx="0" cy="0"/>
        </a:xfrm>
      </p:grpSpPr>
      <p:sp>
        <p:nvSpPr>
          <p:cNvPr id="2" name="Text 0"/>
          <p:cNvSpPr/>
          <p:nvPr/>
        </p:nvSpPr>
        <p:spPr>
          <a:xfrm>
            <a:off x="822960" y="2103120"/>
            <a:ext cx="10058400" cy="365760"/>
          </a:xfrm>
          <a:prstGeom prst="rect">
            <a:avLst/>
          </a:prstGeom>
          <a:noFill/>
          <a:ln/>
        </p:spPr>
        <p:txBody>
          <a:bodyPr wrap="square" rtlCol="0" anchor="ctr"/>
          <a:lstStyle/>
          <a:p>
            <a:pPr indent="0" marL="0">
              <a:buNone/>
            </a:pPr>
            <a:r>
              <a:rPr lang="en-US" sz="1400" b="1" spc="400" kern="0" dirty="0">
                <a:solidFill>
                  <a:srgbClr val="9AA3F5"/>
                </a:solidFill>
                <a:latin typeface="Calibri" pitchFamily="34" charset="0"/>
                <a:ea typeface="Calibri" pitchFamily="34" charset="-122"/>
                <a:cs typeface="Calibri" pitchFamily="34" charset="-120"/>
              </a:rPr>
              <a:t>BACKUP</a:t>
            </a:r>
            <a:endParaRPr lang="en-US" sz="1400" dirty="0"/>
          </a:p>
        </p:txBody>
      </p:sp>
      <p:sp>
        <p:nvSpPr>
          <p:cNvPr id="3" name="Text 1"/>
          <p:cNvSpPr/>
          <p:nvPr/>
        </p:nvSpPr>
        <p:spPr>
          <a:xfrm>
            <a:off x="822960" y="2560320"/>
            <a:ext cx="10515600" cy="91440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Answers to likely questions</a:t>
            </a:r>
            <a:endParaRPr lang="en-US" sz="4000" dirty="0"/>
          </a:p>
        </p:txBody>
      </p:sp>
      <p:sp>
        <p:nvSpPr>
          <p:cNvPr id="4" name="Text 2"/>
          <p:cNvSpPr/>
          <p:nvPr/>
        </p:nvSpPr>
        <p:spPr>
          <a:xfrm>
            <a:off x="822960" y="3657600"/>
            <a:ext cx="10515600" cy="822960"/>
          </a:xfrm>
          <a:prstGeom prst="rect">
            <a:avLst/>
          </a:prstGeom>
          <a:noFill/>
          <a:ln/>
        </p:spPr>
        <p:txBody>
          <a:bodyPr wrap="square" rtlCol="0" anchor="t"/>
          <a:lstStyle/>
          <a:p>
            <a:pPr indent="0" marL="0">
              <a:buNone/>
            </a:pPr>
            <a:r>
              <a:rPr lang="en-US" sz="1800" dirty="0">
                <a:solidFill>
                  <a:srgbClr val="C9CBD6"/>
                </a:solidFill>
                <a:latin typeface="Calibri" pitchFamily="34" charset="0"/>
                <a:ea typeface="Calibri" pitchFamily="34" charset="-122"/>
                <a:cs typeface="Calibri" pitchFamily="34" charset="-120"/>
              </a:rPr>
              <a:t>Why each step is built that way · nightly and monthly · a year later · the five requirements · judgement calls · what breaks at 10×</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7315200" cy="274320"/>
          </a:xfrm>
          <a:prstGeom prst="rect">
            <a:avLst/>
          </a:prstGeom>
          <a:noFill/>
          <a:ln/>
        </p:spPr>
        <p:txBody>
          <a:bodyPr wrap="square" rtlCol="0" anchor="ctr"/>
          <a:lstStyle/>
          <a:p>
            <a:pPr indent="0" marL="0">
              <a:buNone/>
            </a:pPr>
            <a:r>
              <a:rPr lang="en-US" sz="1200" b="1" spc="300" kern="0" dirty="0">
                <a:solidFill>
                  <a:srgbClr val="3B4BD8"/>
                </a:solidFill>
                <a:latin typeface="Calibri" pitchFamily="34" charset="0"/>
                <a:ea typeface="Calibri" pitchFamily="34" charset="-122"/>
                <a:cs typeface="Calibri" pitchFamily="34" charset="-120"/>
              </a:rPr>
              <a:t>BACKUP · OVER TIME</a:t>
            </a:r>
            <a:endParaRPr lang="en-US" sz="1200" dirty="0"/>
          </a:p>
        </p:txBody>
      </p:sp>
      <p:sp>
        <p:nvSpPr>
          <p:cNvPr id="3" name="Text 1"/>
          <p:cNvSpPr/>
          <p:nvPr/>
        </p:nvSpPr>
        <p:spPr>
          <a:xfrm>
            <a:off x="640080" y="658368"/>
            <a:ext cx="10908792" cy="868680"/>
          </a:xfrm>
          <a:prstGeom prst="rect">
            <a:avLst/>
          </a:prstGeom>
          <a:noFill/>
          <a:ln/>
        </p:spPr>
        <p:txBody>
          <a:bodyPr wrap="square" rtlCol="0" anchor="t"/>
          <a:lstStyle/>
          <a:p>
            <a:pPr indent="0" marL="0">
              <a:buNone/>
            </a:pPr>
            <a:r>
              <a:rPr lang="en-US" sz="2800" b="1" dirty="0">
                <a:solidFill>
                  <a:srgbClr val="111827"/>
                </a:solidFill>
                <a:latin typeface="Calibri" pitchFamily="34" charset="0"/>
                <a:ea typeface="Calibri" pitchFamily="34" charset="-122"/>
                <a:cs typeface="Calibri" pitchFamily="34" charset="-120"/>
              </a:rPr>
              <a:t>Scored every night, re-learned every month</a:t>
            </a:r>
            <a:endParaRPr lang="en-US" sz="2800" dirty="0"/>
          </a:p>
        </p:txBody>
      </p:sp>
      <p:sp>
        <p:nvSpPr>
          <p:cNvPr id="4" name="Text 2"/>
          <p:cNvSpPr/>
          <p:nvPr/>
        </p:nvSpPr>
        <p:spPr>
          <a:xfrm>
            <a:off x="640080" y="6419088"/>
            <a:ext cx="5486400" cy="27432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Renewal Risk Call List · Fello take-home</a:t>
            </a:r>
            <a:endParaRPr lang="en-US" sz="1000" dirty="0"/>
          </a:p>
        </p:txBody>
      </p:sp>
      <p:sp>
        <p:nvSpPr>
          <p:cNvPr id="6" name="Shape 3"/>
          <p:cNvSpPr/>
          <p:nvPr/>
        </p:nvSpPr>
        <p:spPr>
          <a:xfrm>
            <a:off x="640080" y="1783080"/>
            <a:ext cx="3502152" cy="3017520"/>
          </a:xfrm>
          <a:prstGeom prst="roundRect">
            <a:avLst>
              <a:gd name="adj" fmla="val 3636"/>
            </a:avLst>
          </a:prstGeom>
          <a:solidFill>
            <a:srgbClr val="F4F5FB"/>
          </a:solidFill>
          <a:ln w="12700">
            <a:solidFill>
              <a:srgbClr val="F4F5FB"/>
            </a:solidFill>
            <a:prstDash val="solid"/>
          </a:ln>
        </p:spPr>
      </p:sp>
      <p:sp>
        <p:nvSpPr>
          <p:cNvPr id="7" name="Text 4"/>
          <p:cNvSpPr/>
          <p:nvPr/>
        </p:nvSpPr>
        <p:spPr>
          <a:xfrm>
            <a:off x="868680" y="1965960"/>
            <a:ext cx="3017520" cy="274320"/>
          </a:xfrm>
          <a:prstGeom prst="rect">
            <a:avLst/>
          </a:prstGeom>
          <a:noFill/>
          <a:ln/>
        </p:spPr>
        <p:txBody>
          <a:bodyPr wrap="square" rtlCol="0" anchor="ctr"/>
          <a:lstStyle/>
          <a:p>
            <a:pPr indent="0" marL="0">
              <a:buNone/>
            </a:pPr>
            <a:r>
              <a:rPr lang="en-US" sz="1200" b="1" spc="200" kern="0" dirty="0">
                <a:solidFill>
                  <a:srgbClr val="3B4BD8"/>
                </a:solidFill>
                <a:latin typeface="Calibri" pitchFamily="34" charset="0"/>
                <a:ea typeface="Calibri" pitchFamily="34" charset="-122"/>
                <a:cs typeface="Calibri" pitchFamily="34" charset="-120"/>
              </a:rPr>
              <a:t>DAY ONE</a:t>
            </a:r>
            <a:endParaRPr lang="en-US" sz="1200" dirty="0"/>
          </a:p>
        </p:txBody>
      </p:sp>
      <p:sp>
        <p:nvSpPr>
          <p:cNvPr id="8" name="Text 5"/>
          <p:cNvSpPr/>
          <p:nvPr/>
        </p:nvSpPr>
        <p:spPr>
          <a:xfrm>
            <a:off x="868680" y="2286000"/>
            <a:ext cx="3017520" cy="822960"/>
          </a:xfrm>
          <a:prstGeom prst="rect">
            <a:avLst/>
          </a:prstGeom>
          <a:noFill/>
          <a:ln/>
        </p:spPr>
        <p:txBody>
          <a:bodyPr wrap="square" rtlCol="0" anchor="t"/>
          <a:lstStyle/>
          <a:p>
            <a:pPr indent="0" marL="0">
              <a:buNone/>
            </a:pPr>
            <a:r>
              <a:rPr lang="en-US" sz="1900" b="1" dirty="0">
                <a:solidFill>
                  <a:srgbClr val="111827"/>
                </a:solidFill>
                <a:latin typeface="Calibri" pitchFamily="34" charset="0"/>
                <a:ea typeface="Calibri" pitchFamily="34" charset="-122"/>
                <a:cs typeface="Calibri" pitchFamily="34" charset="-120"/>
              </a:rPr>
              <a:t>Learn once, from all history</a:t>
            </a:r>
            <a:endParaRPr lang="en-US" sz="1900" dirty="0"/>
          </a:p>
        </p:txBody>
      </p:sp>
      <p:sp>
        <p:nvSpPr>
          <p:cNvPr id="9" name="Text 6"/>
          <p:cNvSpPr/>
          <p:nvPr/>
        </p:nvSpPr>
        <p:spPr>
          <a:xfrm>
            <a:off x="868680" y="3154680"/>
            <a:ext cx="3017520" cy="1554480"/>
          </a:xfrm>
          <a:prstGeom prst="rect">
            <a:avLst/>
          </a:prstGeom>
          <a:noFill/>
          <a:ln/>
        </p:spPr>
        <p:txBody>
          <a:bodyPr wrap="square" rtlCol="0" anchor="t"/>
          <a:lstStyle/>
          <a:p>
            <a:pPr indent="0" marL="0">
              <a:buNone/>
            </a:pPr>
            <a:r>
              <a:rPr lang="en-US" sz="1400" dirty="0">
                <a:solidFill>
                  <a:srgbClr val="111827"/>
                </a:solidFill>
                <a:latin typeface="Calibri" pitchFamily="34" charset="0"/>
                <a:ea typeface="Calibri" pitchFamily="34" charset="-122"/>
                <a:cs typeface="Calibri" pitchFamily="34" charset="-120"/>
              </a:rPr>
              <a:t>The system learns straight away from every past renewal that is loaded. There is no waiting period.</a:t>
            </a:r>
            <a:endParaRPr lang="en-US" sz="1400" dirty="0"/>
          </a:p>
        </p:txBody>
      </p:sp>
      <p:sp>
        <p:nvSpPr>
          <p:cNvPr id="10" name="Shape 7"/>
          <p:cNvSpPr/>
          <p:nvPr/>
        </p:nvSpPr>
        <p:spPr>
          <a:xfrm>
            <a:off x="4343400" y="1783080"/>
            <a:ext cx="3502152" cy="3017520"/>
          </a:xfrm>
          <a:prstGeom prst="roundRect">
            <a:avLst>
              <a:gd name="adj" fmla="val 3636"/>
            </a:avLst>
          </a:prstGeom>
          <a:solidFill>
            <a:srgbClr val="F4F5FB"/>
          </a:solidFill>
          <a:ln w="12700">
            <a:solidFill>
              <a:srgbClr val="F4F5FB"/>
            </a:solidFill>
            <a:prstDash val="solid"/>
          </a:ln>
        </p:spPr>
      </p:sp>
      <p:sp>
        <p:nvSpPr>
          <p:cNvPr id="11" name="Text 8"/>
          <p:cNvSpPr/>
          <p:nvPr/>
        </p:nvSpPr>
        <p:spPr>
          <a:xfrm>
            <a:off x="4572000" y="1965960"/>
            <a:ext cx="3017520" cy="274320"/>
          </a:xfrm>
          <a:prstGeom prst="rect">
            <a:avLst/>
          </a:prstGeom>
          <a:noFill/>
          <a:ln/>
        </p:spPr>
        <p:txBody>
          <a:bodyPr wrap="square" rtlCol="0" anchor="ctr"/>
          <a:lstStyle/>
          <a:p>
            <a:pPr indent="0" marL="0">
              <a:buNone/>
            </a:pPr>
            <a:r>
              <a:rPr lang="en-US" sz="1200" b="1" spc="200" kern="0" dirty="0">
                <a:solidFill>
                  <a:srgbClr val="3B4BD8"/>
                </a:solidFill>
                <a:latin typeface="Calibri" pitchFamily="34" charset="0"/>
                <a:ea typeface="Calibri" pitchFamily="34" charset="-122"/>
                <a:cs typeface="Calibri" pitchFamily="34" charset="-120"/>
              </a:rPr>
              <a:t>EVERY NIGHT</a:t>
            </a:r>
            <a:endParaRPr lang="en-US" sz="1200" dirty="0"/>
          </a:p>
        </p:txBody>
      </p:sp>
      <p:sp>
        <p:nvSpPr>
          <p:cNvPr id="12" name="Text 9"/>
          <p:cNvSpPr/>
          <p:nvPr/>
        </p:nvSpPr>
        <p:spPr>
          <a:xfrm>
            <a:off x="4572000" y="2286000"/>
            <a:ext cx="3017520" cy="822960"/>
          </a:xfrm>
          <a:prstGeom prst="rect">
            <a:avLst/>
          </a:prstGeom>
          <a:noFill/>
          <a:ln/>
        </p:spPr>
        <p:txBody>
          <a:bodyPr wrap="square" rtlCol="0" anchor="t"/>
          <a:lstStyle/>
          <a:p>
            <a:pPr indent="0" marL="0">
              <a:buNone/>
            </a:pPr>
            <a:r>
              <a:rPr lang="en-US" sz="1900" b="1" dirty="0">
                <a:solidFill>
                  <a:srgbClr val="111827"/>
                </a:solidFill>
                <a:latin typeface="Calibri" pitchFamily="34" charset="0"/>
                <a:ea typeface="Calibri" pitchFamily="34" charset="-122"/>
                <a:cs typeface="Calibri" pitchFamily="34" charset="-120"/>
              </a:rPr>
              <a:t>Score every customer</a:t>
            </a:r>
            <a:endParaRPr lang="en-US" sz="1900" dirty="0"/>
          </a:p>
        </p:txBody>
      </p:sp>
      <p:sp>
        <p:nvSpPr>
          <p:cNvPr id="13" name="Text 10"/>
          <p:cNvSpPr/>
          <p:nvPr/>
        </p:nvSpPr>
        <p:spPr>
          <a:xfrm>
            <a:off x="4572000" y="3154680"/>
            <a:ext cx="3017520" cy="1554480"/>
          </a:xfrm>
          <a:prstGeom prst="rect">
            <a:avLst/>
          </a:prstGeom>
          <a:noFill/>
          <a:ln/>
        </p:spPr>
        <p:txBody>
          <a:bodyPr wrap="square" rtlCol="0" anchor="t"/>
          <a:lstStyle/>
          <a:p>
            <a:pPr indent="0" marL="0">
              <a:buNone/>
            </a:pPr>
            <a:r>
              <a:rPr lang="en-US" sz="1400" dirty="0">
                <a:solidFill>
                  <a:srgbClr val="111827"/>
                </a:solidFill>
                <a:latin typeface="Calibri" pitchFamily="34" charset="0"/>
                <a:ea typeface="Calibri" pitchFamily="34" charset="-122"/>
                <a:cs typeface="Calibri" pitchFamily="34" charset="-120"/>
              </a:rPr>
              <a:t>Same saved points for everyone. A score moves because the customer changed, not because the formula did.</a:t>
            </a:r>
            <a:endParaRPr lang="en-US" sz="1400" dirty="0"/>
          </a:p>
        </p:txBody>
      </p:sp>
      <p:sp>
        <p:nvSpPr>
          <p:cNvPr id="14" name="Shape 11"/>
          <p:cNvSpPr/>
          <p:nvPr/>
        </p:nvSpPr>
        <p:spPr>
          <a:xfrm>
            <a:off x="8046720" y="1783080"/>
            <a:ext cx="3502152" cy="3017520"/>
          </a:xfrm>
          <a:prstGeom prst="roundRect">
            <a:avLst>
              <a:gd name="adj" fmla="val 3636"/>
            </a:avLst>
          </a:prstGeom>
          <a:solidFill>
            <a:srgbClr val="E8EAFD"/>
          </a:solidFill>
          <a:ln w="12700">
            <a:solidFill>
              <a:srgbClr val="E8EAFD"/>
            </a:solidFill>
            <a:prstDash val="solid"/>
          </a:ln>
        </p:spPr>
      </p:sp>
      <p:sp>
        <p:nvSpPr>
          <p:cNvPr id="15" name="Text 12"/>
          <p:cNvSpPr/>
          <p:nvPr/>
        </p:nvSpPr>
        <p:spPr>
          <a:xfrm>
            <a:off x="8275320" y="1965960"/>
            <a:ext cx="3017520" cy="274320"/>
          </a:xfrm>
          <a:prstGeom prst="rect">
            <a:avLst/>
          </a:prstGeom>
          <a:noFill/>
          <a:ln/>
        </p:spPr>
        <p:txBody>
          <a:bodyPr wrap="square" rtlCol="0" anchor="ctr"/>
          <a:lstStyle/>
          <a:p>
            <a:pPr indent="0" marL="0">
              <a:buNone/>
            </a:pPr>
            <a:r>
              <a:rPr lang="en-US" sz="1200" b="1" spc="200" kern="0" dirty="0">
                <a:solidFill>
                  <a:srgbClr val="3B4BD8"/>
                </a:solidFill>
                <a:latin typeface="Calibri" pitchFamily="34" charset="0"/>
                <a:ea typeface="Calibri" pitchFamily="34" charset="-122"/>
                <a:cs typeface="Calibri" pitchFamily="34" charset="-120"/>
              </a:rPr>
              <a:t>EVERY 30 DAYS</a:t>
            </a:r>
            <a:endParaRPr lang="en-US" sz="1200" dirty="0"/>
          </a:p>
        </p:txBody>
      </p:sp>
      <p:sp>
        <p:nvSpPr>
          <p:cNvPr id="16" name="Text 13"/>
          <p:cNvSpPr/>
          <p:nvPr/>
        </p:nvSpPr>
        <p:spPr>
          <a:xfrm>
            <a:off x="8275320" y="2286000"/>
            <a:ext cx="3017520" cy="822960"/>
          </a:xfrm>
          <a:prstGeom prst="rect">
            <a:avLst/>
          </a:prstGeom>
          <a:noFill/>
          <a:ln/>
        </p:spPr>
        <p:txBody>
          <a:bodyPr wrap="square" rtlCol="0" anchor="t"/>
          <a:lstStyle/>
          <a:p>
            <a:pPr indent="0" marL="0">
              <a:buNone/>
            </a:pPr>
            <a:r>
              <a:rPr lang="en-US" sz="1900" b="1" dirty="0">
                <a:solidFill>
                  <a:srgbClr val="111827"/>
                </a:solidFill>
                <a:latin typeface="Calibri" pitchFamily="34" charset="0"/>
                <a:ea typeface="Calibri" pitchFamily="34" charset="-122"/>
                <a:cs typeface="Calibri" pitchFamily="34" charset="-120"/>
              </a:rPr>
              <a:t>Re-learn the points</a:t>
            </a:r>
            <a:endParaRPr lang="en-US" sz="1900" dirty="0"/>
          </a:p>
        </p:txBody>
      </p:sp>
      <p:sp>
        <p:nvSpPr>
          <p:cNvPr id="17" name="Text 14"/>
          <p:cNvSpPr/>
          <p:nvPr/>
        </p:nvSpPr>
        <p:spPr>
          <a:xfrm>
            <a:off x="8275320" y="3154680"/>
            <a:ext cx="3017520" cy="1554480"/>
          </a:xfrm>
          <a:prstGeom prst="rect">
            <a:avLst/>
          </a:prstGeom>
          <a:noFill/>
          <a:ln/>
        </p:spPr>
        <p:txBody>
          <a:bodyPr wrap="square" rtlCol="0" anchor="t"/>
          <a:lstStyle/>
          <a:p>
            <a:pPr indent="0" marL="0">
              <a:buNone/>
            </a:pPr>
            <a:r>
              <a:rPr lang="en-US" sz="1400" dirty="0">
                <a:solidFill>
                  <a:srgbClr val="111827"/>
                </a:solidFill>
                <a:latin typeface="Calibri" pitchFamily="34" charset="0"/>
                <a:ea typeface="Calibri" pitchFamily="34" charset="-122"/>
                <a:cs typeface="Calibri" pitchFamily="34" charset="-120"/>
              </a:rPr>
              <a:t>Learn again from outcomes seen since. A month adds few new cases, so doing it nightly would mostly add noise.</a:t>
            </a:r>
            <a:endParaRPr lang="en-US" sz="1400" dirty="0"/>
          </a:p>
        </p:txBody>
      </p:sp>
      <p:sp>
        <p:nvSpPr>
          <p:cNvPr id="18" name="Shape 15"/>
          <p:cNvSpPr/>
          <p:nvPr/>
        </p:nvSpPr>
        <p:spPr>
          <a:xfrm>
            <a:off x="640080" y="5120640"/>
            <a:ext cx="10908792" cy="640080"/>
          </a:xfrm>
          <a:prstGeom prst="roundRect">
            <a:avLst>
              <a:gd name="adj" fmla="val 17143"/>
            </a:avLst>
          </a:prstGeom>
          <a:solidFill>
            <a:srgbClr val="E8EAFD"/>
          </a:solidFill>
          <a:ln w="12700">
            <a:solidFill>
              <a:srgbClr val="E8EAFD"/>
            </a:solidFill>
            <a:prstDash val="solid"/>
          </a:ln>
        </p:spPr>
      </p:sp>
      <p:sp>
        <p:nvSpPr>
          <p:cNvPr id="19" name="Text 16"/>
          <p:cNvSpPr/>
          <p:nvPr/>
        </p:nvSpPr>
        <p:spPr>
          <a:xfrm>
            <a:off x="868680" y="5120640"/>
            <a:ext cx="10451592" cy="640080"/>
          </a:xfrm>
          <a:prstGeom prst="rect">
            <a:avLst/>
          </a:prstGeom>
          <a:noFill/>
          <a:ln/>
        </p:spPr>
        <p:txBody>
          <a:bodyPr wrap="square"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The steps never change. Only the points per clue are re-learned, and each score records which version produced it.</a:t>
            </a:r>
            <a:endParaRPr lang="en-US" sz="1500" dirty="0"/>
          </a:p>
        </p:txBody>
      </p:sp>
      <p:sp>
        <p:nvSpPr>
          <p:cNvPr id="25" name="Slide Number Placeholder 0"/>
          <p:cNvSpPr>
            <a:spLocks noGrp="1"/>
          </p:cNvSpPr>
          <p:nvPr>
            <p:ph type="sldNum" sz="quarter" idx="4294967295"/>
          </p:nvPr>
        </p:nvSpPr>
        <p:spPr>
          <a:xfrm>
            <a:off x="1088136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7315200" cy="274320"/>
          </a:xfrm>
          <a:prstGeom prst="rect">
            <a:avLst/>
          </a:prstGeom>
          <a:noFill/>
          <a:ln/>
        </p:spPr>
        <p:txBody>
          <a:bodyPr wrap="square" rtlCol="0" anchor="ctr"/>
          <a:lstStyle/>
          <a:p>
            <a:pPr indent="0" marL="0">
              <a:buNone/>
            </a:pPr>
            <a:r>
              <a:rPr lang="en-US" sz="1200" b="1" spc="300" kern="0" dirty="0">
                <a:solidFill>
                  <a:srgbClr val="3B4BD8"/>
                </a:solidFill>
                <a:latin typeface="Calibri" pitchFamily="34" charset="0"/>
                <a:ea typeface="Calibri" pitchFamily="34" charset="-122"/>
                <a:cs typeface="Calibri" pitchFamily="34" charset="-120"/>
              </a:rPr>
              <a:t>BACKUP · OVER TIME</a:t>
            </a:r>
            <a:endParaRPr lang="en-US" sz="1200" dirty="0"/>
          </a:p>
        </p:txBody>
      </p:sp>
      <p:sp>
        <p:nvSpPr>
          <p:cNvPr id="3" name="Text 1"/>
          <p:cNvSpPr/>
          <p:nvPr/>
        </p:nvSpPr>
        <p:spPr>
          <a:xfrm>
            <a:off x="640080" y="658368"/>
            <a:ext cx="10908792" cy="868680"/>
          </a:xfrm>
          <a:prstGeom prst="rect">
            <a:avLst/>
          </a:prstGeom>
          <a:noFill/>
          <a:ln/>
        </p:spPr>
        <p:txBody>
          <a:bodyPr wrap="square" rtlCol="0" anchor="t"/>
          <a:lstStyle/>
          <a:p>
            <a:pPr indent="0" marL="0">
              <a:buNone/>
            </a:pPr>
            <a:r>
              <a:rPr lang="en-US" sz="2800" b="1" dirty="0">
                <a:solidFill>
                  <a:srgbClr val="111827"/>
                </a:solidFill>
                <a:latin typeface="Calibri" pitchFamily="34" charset="0"/>
                <a:ea typeface="Calibri" pitchFamily="34" charset="-122"/>
                <a:cs typeface="Calibri" pitchFamily="34" charset="-120"/>
              </a:rPr>
              <a:t>A year later: the points move, the ranking holds</a:t>
            </a:r>
            <a:endParaRPr lang="en-US" sz="2800" dirty="0"/>
          </a:p>
        </p:txBody>
      </p:sp>
      <p:sp>
        <p:nvSpPr>
          <p:cNvPr id="4" name="Text 2"/>
          <p:cNvSpPr/>
          <p:nvPr/>
        </p:nvSpPr>
        <p:spPr>
          <a:xfrm>
            <a:off x="640080" y="6419088"/>
            <a:ext cx="5486400" cy="27432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Renewal Risk Call List · Fello take-home</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7040880" cy="914400"/>
        </p:xfrm>
        <a:graphic>
          <a:graphicData uri="http://schemas.openxmlformats.org/drawingml/2006/table">
            <a:tbl>
              <a:tblPr/>
              <a:tblGrid>
                <a:gridCol w="2651760"/>
                <a:gridCol w="2194560"/>
                <a:gridCol w="2194560"/>
              </a:tblGrid>
              <a:tr h="0">
                <a:tc>
                  <a:txBody>
                    <a:bodyPr/>
                    <a:lstStyle/>
                    <a:p>
                      <a:pPr indent="0" marL="0">
                        <a:buNone/>
                      </a:pPr>
                      <a:r>
                        <a:rPr lang="en-US" sz="1200" b="1" dirty="0">
                          <a:solidFill>
                            <a:srgbClr val="6B7280"/>
                          </a:solidFill>
                          <a:latin typeface="Calibri" pitchFamily="34" charset="0"/>
                          <a:ea typeface="Calibri" pitchFamily="34" charset="-122"/>
                          <a:cs typeface="Calibri" pitchFamily="34" charset="-120"/>
                        </a:rPr>
                        <a:t>Factor, past customers who had it</a:t>
                      </a:r>
                      <a:endParaRPr lang="en-US" sz="1200" dirty="0">
                        <a:latin typeface="Calibri" charset="0"/>
                        <a:ea typeface="Calibri" charset="0"/>
                        <a:cs typeface="Calibri" charset="0"/>
                      </a:endParaRPr>
                    </a:p>
                  </a:txBody>
                  <a:tcPr marL="91440" marR="91440"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F4F5FB"/>
                    </a:solidFill>
                  </a:tcPr>
                </a:tc>
                <a:tc>
                  <a:txBody>
                    <a:bodyPr/>
                    <a:lstStyle/>
                    <a:p>
                      <a:pPr indent="0" marL="0">
                        <a:buNone/>
                      </a:pPr>
                      <a:r>
                        <a:rPr lang="en-US" sz="1200" b="1" dirty="0">
                          <a:solidFill>
                            <a:srgbClr val="6B7280"/>
                          </a:solidFill>
                          <a:latin typeface="Calibri" pitchFamily="34" charset="0"/>
                          <a:ea typeface="Calibri" pitchFamily="34" charset="-122"/>
                          <a:cs typeface="Calibri" pitchFamily="34" charset="-120"/>
                        </a:rPr>
                        <a:t>Day one</a:t>
                      </a:r>
                      <a:endParaRPr lang="en-US" sz="1200" dirty="0">
                        <a:latin typeface="Calibri" charset="0"/>
                        <a:ea typeface="Calibri" charset="0"/>
                        <a:cs typeface="Calibri" charset="0"/>
                      </a:endParaRPr>
                    </a:p>
                  </a:txBody>
                  <a:tcPr marL="91440" marR="91440"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F4F5FB"/>
                    </a:solidFill>
                  </a:tcPr>
                </a:tc>
                <a:tc>
                  <a:txBody>
                    <a:bodyPr/>
                    <a:lstStyle/>
                    <a:p>
                      <a:pPr indent="0" marL="0">
                        <a:buNone/>
                      </a:pPr>
                      <a:r>
                        <a:rPr lang="en-US" sz="1200" b="1" dirty="0">
                          <a:solidFill>
                            <a:srgbClr val="6B7280"/>
                          </a:solidFill>
                          <a:latin typeface="Calibri" pitchFamily="34" charset="0"/>
                          <a:ea typeface="Calibri" pitchFamily="34" charset="-122"/>
                          <a:cs typeface="Calibri" pitchFamily="34" charset="-120"/>
                        </a:rPr>
                        <a:t>A year later</a:t>
                      </a:r>
                      <a:endParaRPr lang="en-US" sz="1200" dirty="0">
                        <a:latin typeface="Calibri" charset="0"/>
                        <a:ea typeface="Calibri" charset="0"/>
                        <a:cs typeface="Calibri" charset="0"/>
                      </a:endParaRPr>
                    </a:p>
                  </a:txBody>
                  <a:tcPr marL="91440" marR="91440"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F4F5FB"/>
                    </a:solidFill>
                  </a:tcPr>
                </a:tc>
              </a:tr>
              <a:tr h="0">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Asked to cancel at renewal</a:t>
                      </a:r>
                      <a:endParaRPr lang="en-US" sz="1200" dirty="0">
                        <a:latin typeface="Calibri" charset="0"/>
                        <a:ea typeface="Calibri" charset="0"/>
                        <a:cs typeface="Calibri" charset="0"/>
                      </a:endParaRPr>
                    </a:p>
                  </a:txBody>
                  <a:tcPr marL="91440" marR="91440"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44 in 100 left (16 of 36)</a:t>
                      </a:r>
                      <a:endParaRPr lang="en-US" sz="1200" dirty="0">
                        <a:latin typeface="Calibri" charset="0"/>
                        <a:ea typeface="Calibri" charset="0"/>
                        <a:cs typeface="Calibri" charset="0"/>
                      </a:endParaRPr>
                    </a:p>
                    <a:p>
                      <a:pPr indent="0" marL="0">
                        <a:buNone/>
                      </a:pPr>
                      <a:r>
                        <a:rPr lang="en-US" sz="1200" dirty="0">
                          <a:solidFill>
                            <a:srgbClr val="111827"/>
                          </a:solidFill>
                          <a:latin typeface="Calibri" pitchFamily="34" charset="0"/>
                          <a:ea typeface="Calibri" pitchFamily="34" charset="-122"/>
                          <a:cs typeface="Calibri" pitchFamily="34" charset="-120"/>
                        </a:rPr>
                        <a:t>Adds +2.49 points</a:t>
                      </a:r>
                      <a:endParaRPr lang="en-US" sz="1200" dirty="0">
                        <a:latin typeface="Calibri" charset="0"/>
                        <a:ea typeface="Calibri" charset="0"/>
                        <a:cs typeface="Calibri" charset="0"/>
                      </a:endParaRPr>
                    </a:p>
                  </a:txBody>
                  <a:tcPr marL="91440" marR="91440"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51 in 100 left (38 of 75)</a:t>
                      </a:r>
                      <a:endParaRPr lang="en-US" sz="1200" dirty="0">
                        <a:latin typeface="Calibri" charset="0"/>
                        <a:ea typeface="Calibri" charset="0"/>
                        <a:cs typeface="Calibri" charset="0"/>
                      </a:endParaRPr>
                    </a:p>
                    <a:p>
                      <a:pPr indent="0" marL="0">
                        <a:buNone/>
                      </a:pPr>
                      <a:r>
                        <a:rPr lang="en-US" sz="1200" dirty="0">
                          <a:solidFill>
                            <a:srgbClr val="111827"/>
                          </a:solidFill>
                          <a:latin typeface="Calibri" pitchFamily="34" charset="0"/>
                          <a:ea typeface="Calibri" pitchFamily="34" charset="-122"/>
                          <a:cs typeface="Calibri" pitchFamily="34" charset="-120"/>
                        </a:rPr>
                        <a:t>Adds +3.02 points</a:t>
                      </a:r>
                      <a:endParaRPr lang="en-US" sz="1200" dirty="0">
                        <a:latin typeface="Calibri" charset="0"/>
                        <a:ea typeface="Calibri" charset="0"/>
                        <a:cs typeface="Calibri" charset="0"/>
                      </a:endParaRPr>
                    </a:p>
                  </a:txBody>
                  <a:tcPr marL="91440" marR="91440"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r h="0">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3 or more complaints in 90 days</a:t>
                      </a:r>
                      <a:endParaRPr lang="en-US" sz="1200" dirty="0">
                        <a:latin typeface="Calibri" charset="0"/>
                        <a:ea typeface="Calibri" charset="0"/>
                        <a:cs typeface="Calibri" charset="0"/>
                      </a:endParaRPr>
                    </a:p>
                  </a:txBody>
                  <a:tcPr marL="91440" marR="91440"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13 in 100 left (22 of 169)</a:t>
                      </a:r>
                      <a:endParaRPr lang="en-US" sz="1200" dirty="0">
                        <a:latin typeface="Calibri" charset="0"/>
                        <a:ea typeface="Calibri" charset="0"/>
                        <a:cs typeface="Calibri" charset="0"/>
                      </a:endParaRPr>
                    </a:p>
                    <a:p>
                      <a:pPr indent="0" marL="0">
                        <a:buNone/>
                      </a:pPr>
                      <a:r>
                        <a:rPr lang="en-US" sz="1200" dirty="0">
                          <a:solidFill>
                            <a:srgbClr val="111827"/>
                          </a:solidFill>
                          <a:latin typeface="Calibri" pitchFamily="34" charset="0"/>
                          <a:ea typeface="Calibri" pitchFamily="34" charset="-122"/>
                          <a:cs typeface="Calibri" pitchFamily="34" charset="-120"/>
                        </a:rPr>
                        <a:t>Adds +1.09 points</a:t>
                      </a:r>
                      <a:endParaRPr lang="en-US" sz="1200" dirty="0">
                        <a:latin typeface="Calibri" charset="0"/>
                        <a:ea typeface="Calibri" charset="0"/>
                        <a:cs typeface="Calibri" charset="0"/>
                      </a:endParaRPr>
                    </a:p>
                  </a:txBody>
                  <a:tcPr marL="91440" marR="91440"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14 in 100 left (46 of 331)</a:t>
                      </a:r>
                      <a:endParaRPr lang="en-US" sz="1200" dirty="0">
                        <a:latin typeface="Calibri" charset="0"/>
                        <a:ea typeface="Calibri" charset="0"/>
                        <a:cs typeface="Calibri" charset="0"/>
                      </a:endParaRPr>
                    </a:p>
                    <a:p>
                      <a:pPr indent="0" marL="0">
                        <a:buNone/>
                      </a:pPr>
                      <a:r>
                        <a:rPr lang="en-US" sz="1200" dirty="0">
                          <a:solidFill>
                            <a:srgbClr val="111827"/>
                          </a:solidFill>
                          <a:latin typeface="Calibri" pitchFamily="34" charset="0"/>
                          <a:ea typeface="Calibri" pitchFamily="34" charset="-122"/>
                          <a:cs typeface="Calibri" pitchFamily="34" charset="-120"/>
                        </a:rPr>
                        <a:t>Adds +1.14 points</a:t>
                      </a:r>
                      <a:endParaRPr lang="en-US" sz="1200" dirty="0">
                        <a:latin typeface="Calibri" charset="0"/>
                        <a:ea typeface="Calibri" charset="0"/>
                        <a:cs typeface="Calibri" charset="0"/>
                      </a:endParaRPr>
                    </a:p>
                  </a:txBody>
                  <a:tcPr marL="91440" marR="91440"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r h="0">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Reduced their plan recently</a:t>
                      </a:r>
                      <a:endParaRPr lang="en-US" sz="1200" dirty="0">
                        <a:latin typeface="Calibri" charset="0"/>
                        <a:ea typeface="Calibri" charset="0"/>
                        <a:cs typeface="Calibri" charset="0"/>
                      </a:endParaRPr>
                    </a:p>
                  </a:txBody>
                  <a:tcPr marL="91440" marR="91440"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16 in 100 left (9 of 56)</a:t>
                      </a:r>
                      <a:endParaRPr lang="en-US" sz="1200" dirty="0">
                        <a:latin typeface="Calibri" charset="0"/>
                        <a:ea typeface="Calibri" charset="0"/>
                        <a:cs typeface="Calibri" charset="0"/>
                      </a:endParaRPr>
                    </a:p>
                    <a:p>
                      <a:pPr indent="0" marL="0">
                        <a:buNone/>
                      </a:pPr>
                      <a:r>
                        <a:rPr lang="en-US" sz="1200" dirty="0">
                          <a:solidFill>
                            <a:srgbClr val="111827"/>
                          </a:solidFill>
                          <a:latin typeface="Calibri" pitchFamily="34" charset="0"/>
                          <a:ea typeface="Calibri" pitchFamily="34" charset="-122"/>
                          <a:cs typeface="Calibri" pitchFamily="34" charset="-120"/>
                        </a:rPr>
                        <a:t>Adds +0.97 points</a:t>
                      </a:r>
                      <a:endParaRPr lang="en-US" sz="1200" dirty="0">
                        <a:latin typeface="Calibri" charset="0"/>
                        <a:ea typeface="Calibri" charset="0"/>
                        <a:cs typeface="Calibri" charset="0"/>
                      </a:endParaRPr>
                    </a:p>
                  </a:txBody>
                  <a:tcPr marL="91440" marR="91440"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16 in 100 left (18 of 111)</a:t>
                      </a:r>
                      <a:endParaRPr lang="en-US" sz="1200" dirty="0">
                        <a:latin typeface="Calibri" charset="0"/>
                        <a:ea typeface="Calibri" charset="0"/>
                        <a:cs typeface="Calibri" charset="0"/>
                      </a:endParaRPr>
                    </a:p>
                    <a:p>
                      <a:pPr indent="0" marL="0">
                        <a:buNone/>
                      </a:pPr>
                      <a:r>
                        <a:rPr lang="en-US" sz="1200" dirty="0">
                          <a:solidFill>
                            <a:srgbClr val="111827"/>
                          </a:solidFill>
                          <a:latin typeface="Calibri" pitchFamily="34" charset="0"/>
                          <a:ea typeface="Calibri" pitchFamily="34" charset="-122"/>
                          <a:cs typeface="Calibri" pitchFamily="34" charset="-120"/>
                        </a:rPr>
                        <a:t>Adds +0.95 points</a:t>
                      </a:r>
                      <a:endParaRPr lang="en-US" sz="1200" dirty="0">
                        <a:latin typeface="Calibri" charset="0"/>
                        <a:ea typeface="Calibri" charset="0"/>
                        <a:cs typeface="Calibri" charset="0"/>
                      </a:endParaRPr>
                    </a:p>
                  </a:txBody>
                  <a:tcPr marL="91440" marR="91440"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r h="0">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Complaint still open</a:t>
                      </a:r>
                      <a:endParaRPr lang="en-US" sz="1200" dirty="0">
                        <a:latin typeface="Calibri" charset="0"/>
                        <a:ea typeface="Calibri" charset="0"/>
                        <a:cs typeface="Calibri" charset="0"/>
                      </a:endParaRPr>
                    </a:p>
                  </a:txBody>
                  <a:tcPr marL="91440" marR="91440"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4.1 in 100 left (5 of 123)</a:t>
                      </a:r>
                      <a:endParaRPr lang="en-US" sz="1200" dirty="0">
                        <a:latin typeface="Calibri" charset="0"/>
                        <a:ea typeface="Calibri" charset="0"/>
                        <a:cs typeface="Calibri" charset="0"/>
                      </a:endParaRPr>
                    </a:p>
                    <a:p>
                      <a:pPr indent="0" marL="0">
                        <a:buNone/>
                      </a:pPr>
                      <a:r>
                        <a:rPr lang="en-US" sz="1200" dirty="0">
                          <a:solidFill>
                            <a:srgbClr val="111827"/>
                          </a:solidFill>
                          <a:latin typeface="Calibri" pitchFamily="34" charset="0"/>
                          <a:ea typeface="Calibri" pitchFamily="34" charset="-122"/>
                          <a:cs typeface="Calibri" pitchFamily="34" charset="-120"/>
                        </a:rPr>
                        <a:t>Adds −0.26 points</a:t>
                      </a:r>
                      <a:endParaRPr lang="en-US" sz="1200" dirty="0">
                        <a:latin typeface="Calibri" charset="0"/>
                        <a:ea typeface="Calibri" charset="0"/>
                        <a:cs typeface="Calibri" charset="0"/>
                      </a:endParaRPr>
                    </a:p>
                  </a:txBody>
                  <a:tcPr marL="91440" marR="91440"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4.8 in 100 left (11 of 229)</a:t>
                      </a:r>
                      <a:endParaRPr lang="en-US" sz="1200" dirty="0">
                        <a:latin typeface="Calibri" charset="0"/>
                        <a:ea typeface="Calibri" charset="0"/>
                        <a:cs typeface="Calibri" charset="0"/>
                      </a:endParaRPr>
                    </a:p>
                    <a:p>
                      <a:pPr indent="0" marL="0">
                        <a:buNone/>
                      </a:pPr>
                      <a:r>
                        <a:rPr lang="en-US" sz="1200" dirty="0">
                          <a:solidFill>
                            <a:srgbClr val="111827"/>
                          </a:solidFill>
                          <a:latin typeface="Calibri" pitchFamily="34" charset="0"/>
                          <a:ea typeface="Calibri" pitchFamily="34" charset="-122"/>
                          <a:cs typeface="Calibri" pitchFamily="34" charset="-120"/>
                        </a:rPr>
                        <a:t>Adds +0.04 points</a:t>
                      </a:r>
                      <a:endParaRPr lang="en-US" sz="1200" dirty="0">
                        <a:latin typeface="Calibri" charset="0"/>
                        <a:ea typeface="Calibri" charset="0"/>
                        <a:cs typeface="Calibri" charset="0"/>
                      </a:endParaRPr>
                    </a:p>
                  </a:txBody>
                  <a:tcPr marL="91440" marR="91440" marT="64008" marB="64008"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bl>
          </a:graphicData>
        </a:graphic>
      </p:graphicFrame>
      <p:sp>
        <p:nvSpPr>
          <p:cNvPr id="7" name="Text 3"/>
          <p:cNvSpPr/>
          <p:nvPr/>
        </p:nvSpPr>
        <p:spPr>
          <a:xfrm>
            <a:off x="8138160" y="1737360"/>
            <a:ext cx="3383280" cy="731520"/>
          </a:xfrm>
          <a:prstGeom prst="rect">
            <a:avLst/>
          </a:prstGeom>
          <a:noFill/>
          <a:ln/>
        </p:spPr>
        <p:txBody>
          <a:bodyPr wrap="square" rtlCol="0" anchor="b"/>
          <a:lstStyle/>
          <a:p>
            <a:pPr indent="0" marL="0">
              <a:buNone/>
            </a:pPr>
            <a:r>
              <a:rPr lang="en-US" sz="3800" b="1" dirty="0">
                <a:solidFill>
                  <a:srgbClr val="3B4BD8"/>
                </a:solidFill>
                <a:latin typeface="Calibri" pitchFamily="34" charset="0"/>
                <a:ea typeface="Calibri" pitchFamily="34" charset="-122"/>
                <a:cs typeface="Calibri" pitchFamily="34" charset="-120"/>
              </a:rPr>
              <a:t>85%</a:t>
            </a:r>
            <a:endParaRPr lang="en-US" sz="3800" dirty="0"/>
          </a:p>
        </p:txBody>
      </p:sp>
      <p:sp>
        <p:nvSpPr>
          <p:cNvPr id="8" name="Text 4"/>
          <p:cNvSpPr/>
          <p:nvPr/>
        </p:nvSpPr>
        <p:spPr>
          <a:xfrm>
            <a:off x="8138160" y="2487168"/>
            <a:ext cx="3383280" cy="685800"/>
          </a:xfrm>
          <a:prstGeom prst="rect">
            <a:avLst/>
          </a:prstGeom>
          <a:noFill/>
          <a:ln/>
        </p:spPr>
        <p:txBody>
          <a:bodyPr wrap="square" rtlCol="0" anchor="t"/>
          <a:lstStyle/>
          <a:p>
            <a:pPr indent="0" marL="0">
              <a:buNone/>
            </a:pPr>
            <a:r>
              <a:rPr lang="en-US" sz="1300" dirty="0">
                <a:solidFill>
                  <a:srgbClr val="6B7280"/>
                </a:solidFill>
                <a:latin typeface="Calibri" pitchFamily="34" charset="0"/>
                <a:ea typeface="Calibri" pitchFamily="34" charset="-122"/>
                <a:cs typeface="Calibri" pitchFamily="34" charset="-120"/>
              </a:rPr>
              <a:t>of top-15 names stay the same (522 of 615)</a:t>
            </a:r>
            <a:endParaRPr lang="en-US" sz="1300" dirty="0"/>
          </a:p>
        </p:txBody>
      </p:sp>
      <p:sp>
        <p:nvSpPr>
          <p:cNvPr id="9" name="Text 5"/>
          <p:cNvSpPr/>
          <p:nvPr/>
        </p:nvSpPr>
        <p:spPr>
          <a:xfrm>
            <a:off x="8138160" y="3200400"/>
            <a:ext cx="3383280" cy="731520"/>
          </a:xfrm>
          <a:prstGeom prst="rect">
            <a:avLst/>
          </a:prstGeom>
          <a:noFill/>
          <a:ln/>
        </p:spPr>
        <p:txBody>
          <a:bodyPr wrap="square" rtlCol="0" anchor="b"/>
          <a:lstStyle/>
          <a:p>
            <a:pPr indent="0" marL="0">
              <a:buNone/>
            </a:pPr>
            <a:r>
              <a:rPr lang="en-US" sz="3800" b="1" dirty="0">
                <a:solidFill>
                  <a:srgbClr val="6B7280"/>
                </a:solidFill>
                <a:latin typeface="Calibri" pitchFamily="34" charset="0"/>
                <a:ea typeface="Calibri" pitchFamily="34" charset="-122"/>
                <a:cs typeface="Calibri" pitchFamily="34" charset="-120"/>
              </a:rPr>
              <a:t>0.75 → 0.73</a:t>
            </a:r>
            <a:endParaRPr lang="en-US" sz="3800" dirty="0"/>
          </a:p>
        </p:txBody>
      </p:sp>
      <p:sp>
        <p:nvSpPr>
          <p:cNvPr id="10" name="Text 6"/>
          <p:cNvSpPr/>
          <p:nvPr/>
        </p:nvSpPr>
        <p:spPr>
          <a:xfrm>
            <a:off x="8138160" y="3950208"/>
            <a:ext cx="3383280" cy="685800"/>
          </a:xfrm>
          <a:prstGeom prst="rect">
            <a:avLst/>
          </a:prstGeom>
          <a:noFill/>
          <a:ln/>
        </p:spPr>
        <p:txBody>
          <a:bodyPr wrap="square" rtlCol="0" anchor="t"/>
          <a:lstStyle/>
          <a:p>
            <a:pPr indent="0" marL="0">
              <a:buNone/>
            </a:pPr>
            <a:r>
              <a:rPr lang="en-US" sz="1300" dirty="0">
                <a:solidFill>
                  <a:srgbClr val="6B7280"/>
                </a:solidFill>
                <a:latin typeface="Calibri" pitchFamily="34" charset="0"/>
                <a:ea typeface="Calibri" pitchFamily="34" charset="-122"/>
                <a:cs typeface="Calibri" pitchFamily="34" charset="-120"/>
              </a:rPr>
              <a:t>ranking quality: too few leavers (29) to call this a real change</a:t>
            </a:r>
            <a:endParaRPr lang="en-US" sz="1300" dirty="0"/>
          </a:p>
        </p:txBody>
      </p:sp>
      <p:sp>
        <p:nvSpPr>
          <p:cNvPr id="11" name="Text 7"/>
          <p:cNvSpPr/>
          <p:nvPr/>
        </p:nvSpPr>
        <p:spPr>
          <a:xfrm>
            <a:off x="640080" y="5074920"/>
            <a:ext cx="10908792" cy="1097280"/>
          </a:xfrm>
          <a:prstGeom prst="rect">
            <a:avLst/>
          </a:prstGeom>
          <a:noFill/>
          <a:ln/>
        </p:spPr>
        <p:txBody>
          <a:bodyPr wrap="square" rtlCol="0" anchor="t"/>
          <a:lstStyle/>
          <a:p>
            <a:pPr indent="0" marL="0">
              <a:buNone/>
            </a:pPr>
            <a:r>
              <a:rPr lang="en-US" sz="1200" dirty="0">
                <a:solidFill>
                  <a:srgbClr val="6B7280"/>
                </a:solidFill>
                <a:latin typeface="Calibri" pitchFamily="34" charset="0"/>
                <a:ea typeface="Calibri" pitchFamily="34" charset="-122"/>
                <a:cs typeface="Calibri" pitchFamily="34" charset="-120"/>
              </a:rPr>
              <a:t>More history did not improve ranking here. This generated data has no change over time built in; real customers do change, which is why the points are re-learned monthly. Replayed, not observed: each version learned only from what was known on 15 June 2025 or 2026, then both were tested on 15 June 2026 (npm run replay).</a:t>
            </a:r>
            <a:endParaRPr lang="en-US" sz="1200" dirty="0"/>
          </a:p>
        </p:txBody>
      </p:sp>
      <p:sp>
        <p:nvSpPr>
          <p:cNvPr id="25" name="Slide Number Placeholder 0"/>
          <p:cNvSpPr>
            <a:spLocks noGrp="1"/>
          </p:cNvSpPr>
          <p:nvPr>
            <p:ph type="sldNum" sz="quarter" idx="4294967295"/>
          </p:nvPr>
        </p:nvSpPr>
        <p:spPr>
          <a:xfrm>
            <a:off x="1088136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7315200" cy="274320"/>
          </a:xfrm>
          <a:prstGeom prst="rect">
            <a:avLst/>
          </a:prstGeom>
          <a:noFill/>
          <a:ln/>
        </p:spPr>
        <p:txBody>
          <a:bodyPr wrap="square" rtlCol="0" anchor="ctr"/>
          <a:lstStyle/>
          <a:p>
            <a:pPr indent="0" marL="0">
              <a:buNone/>
            </a:pPr>
            <a:r>
              <a:rPr lang="en-US" sz="1200" b="1" spc="300" kern="0" dirty="0">
                <a:solidFill>
                  <a:srgbClr val="3B4BD8"/>
                </a:solidFill>
                <a:latin typeface="Calibri" pitchFamily="34" charset="0"/>
                <a:ea typeface="Calibri" pitchFamily="34" charset="-122"/>
                <a:cs typeface="Calibri" pitchFamily="34" charset="-120"/>
              </a:rPr>
              <a:t>BACKUP · THE PROOF</a:t>
            </a:r>
            <a:endParaRPr lang="en-US" sz="1200" dirty="0"/>
          </a:p>
        </p:txBody>
      </p:sp>
      <p:sp>
        <p:nvSpPr>
          <p:cNvPr id="3" name="Text 1"/>
          <p:cNvSpPr/>
          <p:nvPr/>
        </p:nvSpPr>
        <p:spPr>
          <a:xfrm>
            <a:off x="640080" y="658368"/>
            <a:ext cx="10908792" cy="868680"/>
          </a:xfrm>
          <a:prstGeom prst="rect">
            <a:avLst/>
          </a:prstGeom>
          <a:noFill/>
          <a:ln/>
        </p:spPr>
        <p:txBody>
          <a:bodyPr wrap="square" rtlCol="0" anchor="t"/>
          <a:lstStyle/>
          <a:p>
            <a:pPr indent="0" marL="0">
              <a:buNone/>
            </a:pPr>
            <a:r>
              <a:rPr lang="en-US" sz="2800" b="1" dirty="0">
                <a:solidFill>
                  <a:srgbClr val="111827"/>
                </a:solidFill>
                <a:latin typeface="Calibri" pitchFamily="34" charset="0"/>
                <a:ea typeface="Calibri" pitchFamily="34" charset="-122"/>
                <a:cs typeface="Calibri" pitchFamily="34" charset="-120"/>
              </a:rPr>
              <a:t>The five requirements, and how each is met</a:t>
            </a:r>
            <a:endParaRPr lang="en-US" sz="2800" dirty="0"/>
          </a:p>
        </p:txBody>
      </p:sp>
      <p:sp>
        <p:nvSpPr>
          <p:cNvPr id="4" name="Text 2"/>
          <p:cNvSpPr/>
          <p:nvPr/>
        </p:nvSpPr>
        <p:spPr>
          <a:xfrm>
            <a:off x="640080" y="6419088"/>
            <a:ext cx="5486400" cy="27432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Renewal Risk Call List · Fello take-home</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08792" cy="914400"/>
        </p:xfrm>
        <a:graphic>
          <a:graphicData uri="http://schemas.openxmlformats.org/drawingml/2006/table">
            <a:tbl>
              <a:tblPr/>
              <a:tblGrid>
                <a:gridCol w="2286000"/>
                <a:gridCol w="4754880"/>
                <a:gridCol w="3867912"/>
              </a:tblGrid>
              <a:tr h="0">
                <a:tc>
                  <a:txBody>
                    <a:bodyPr/>
                    <a:lstStyle/>
                    <a:p>
                      <a:pPr indent="0" marL="0">
                        <a:buNone/>
                      </a:pPr>
                      <a:r>
                        <a:rPr lang="en-US" sz="1300" b="1" dirty="0">
                          <a:solidFill>
                            <a:srgbClr val="6B7280"/>
                          </a:solidFill>
                          <a:latin typeface="Calibri" pitchFamily="34" charset="0"/>
                          <a:ea typeface="Calibri" pitchFamily="34" charset="-122"/>
                          <a:cs typeface="Calibri" pitchFamily="34" charset="-120"/>
                        </a:rPr>
                        <a:t>Requirement</a:t>
                      </a:r>
                      <a:endParaRPr lang="en-US" sz="13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F4F5FB"/>
                    </a:solidFill>
                  </a:tcPr>
                </a:tc>
                <a:tc>
                  <a:txBody>
                    <a:bodyPr/>
                    <a:lstStyle/>
                    <a:p>
                      <a:pPr indent="0" marL="0">
                        <a:buNone/>
                      </a:pPr>
                      <a:r>
                        <a:rPr lang="en-US" sz="1300" b="1" dirty="0">
                          <a:solidFill>
                            <a:srgbClr val="6B7280"/>
                          </a:solidFill>
                          <a:latin typeface="Calibri" pitchFamily="34" charset="0"/>
                          <a:ea typeface="Calibri" pitchFamily="34" charset="-122"/>
                          <a:cs typeface="Calibri" pitchFamily="34" charset="-120"/>
                        </a:rPr>
                        <a:t>What I did</a:t>
                      </a:r>
                      <a:endParaRPr lang="en-US" sz="13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F4F5FB"/>
                    </a:solidFill>
                  </a:tcPr>
                </a:tc>
                <a:tc>
                  <a:txBody>
                    <a:bodyPr/>
                    <a:lstStyle/>
                    <a:p>
                      <a:pPr indent="0" marL="0">
                        <a:buNone/>
                      </a:pPr>
                      <a:r>
                        <a:rPr lang="en-US" sz="1300" b="1" dirty="0">
                          <a:solidFill>
                            <a:srgbClr val="6B7280"/>
                          </a:solidFill>
                          <a:latin typeface="Calibri" pitchFamily="34" charset="0"/>
                          <a:ea typeface="Calibri" pitchFamily="34" charset="-122"/>
                          <a:cs typeface="Calibri" pitchFamily="34" charset="-120"/>
                        </a:rPr>
                        <a:t>How you can check</a:t>
                      </a:r>
                      <a:endParaRPr lang="en-US" sz="13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F4F5FB"/>
                    </a:solidFill>
                  </a:tcPr>
                </a:tc>
              </a:tr>
              <a:tr h="0">
                <a:tc>
                  <a:txBody>
                    <a:bodyPr/>
                    <a:lstStyle/>
                    <a:p>
                      <a:pPr indent="0" marL="0">
                        <a:buNone/>
                      </a:pPr>
                      <a:r>
                        <a:rPr lang="en-US" sz="1300" b="1" dirty="0">
                          <a:solidFill>
                            <a:srgbClr val="111827"/>
                          </a:solidFill>
                          <a:latin typeface="Calibri" pitchFamily="34" charset="0"/>
                          <a:ea typeface="Calibri" pitchFamily="34" charset="-122"/>
                          <a:cs typeface="Calibri" pitchFamily="34" charset="-120"/>
                        </a:rPr>
                        <a:t>Generate the data</a:t>
                      </a:r>
                      <a:endParaRPr lang="en-US" sz="13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11827"/>
                          </a:solidFill>
                          <a:latin typeface="Calibri" pitchFamily="34" charset="0"/>
                          <a:ea typeface="Calibri" pitchFamily="34" charset="-122"/>
                          <a:cs typeface="Calibri" pitchFamily="34" charset="-120"/>
                        </a:rPr>
                        <a:t>5,000 customers, 4 companies, ~201,000 records from 5 tools. Late, repeated, duplicated and missing records on purpose</a:t>
                      </a:r>
                      <a:endParaRPr lang="en-US" sz="13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11827"/>
                          </a:solidFill>
                          <a:latin typeface="Calibri" pitchFamily="34" charset="0"/>
                          <a:ea typeface="Calibri" pitchFamily="34" charset="-122"/>
                          <a:cs typeface="Calibri" pitchFamily="34" charset="-120"/>
                        </a:rPr>
                        <a:t>The generator checks itself. The true answers are kept apart and never used by the score</a:t>
                      </a:r>
                      <a:endParaRPr lang="en-US" sz="13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r h="0">
                <a:tc>
                  <a:txBody>
                    <a:bodyPr/>
                    <a:lstStyle/>
                    <a:p>
                      <a:pPr indent="0" marL="0">
                        <a:buNone/>
                      </a:pPr>
                      <a:r>
                        <a:rPr lang="en-US" sz="1300" b="1" dirty="0">
                          <a:solidFill>
                            <a:srgbClr val="111827"/>
                          </a:solidFill>
                          <a:latin typeface="Calibri" pitchFamily="34" charset="0"/>
                          <a:ea typeface="Calibri" pitchFamily="34" charset="-122"/>
                          <a:cs typeface="Calibri" pitchFamily="34" charset="-120"/>
                        </a:rPr>
                        <a:t>A score fitted on the data</a:t>
                      </a:r>
                      <a:endParaRPr lang="en-US" sz="13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11827"/>
                          </a:solidFill>
                          <a:latin typeface="Calibri" pitchFamily="34" charset="0"/>
                          <a:ea typeface="Calibri" pitchFamily="34" charset="-122"/>
                          <a:cs typeface="Calibri" pitchFamily="34" charset="-120"/>
                        </a:rPr>
                        <a:t>Learned from past renewals, tested on later ones, compared with a simple rule</a:t>
                      </a:r>
                      <a:endParaRPr lang="en-US" sz="13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11827"/>
                          </a:solidFill>
                          <a:latin typeface="Calibri" pitchFamily="34" charset="0"/>
                          <a:ea typeface="Calibri" pitchFamily="34" charset="-122"/>
                          <a:cs typeface="Calibri" pitchFamily="34" charset="-120"/>
                        </a:rPr>
                        <a:t>Top 15 catches 18 of 29 leavers vs 12 for the rule</a:t>
                      </a:r>
                      <a:endParaRPr lang="en-US" sz="13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r h="0">
                <a:tc>
                  <a:txBody>
                    <a:bodyPr/>
                    <a:lstStyle/>
                    <a:p>
                      <a:pPr indent="0" marL="0">
                        <a:buNone/>
                      </a:pPr>
                      <a:r>
                        <a:rPr lang="en-US" sz="1300" b="1" dirty="0">
                          <a:solidFill>
                            <a:srgbClr val="111827"/>
                          </a:solidFill>
                          <a:latin typeface="Calibri" pitchFamily="34" charset="0"/>
                          <a:ea typeface="Calibri" pitchFamily="34" charset="-122"/>
                          <a:cs typeface="Calibri" pitchFamily="34" charset="-120"/>
                        </a:rPr>
                        <a:t>Runs by itself</a:t>
                      </a:r>
                      <a:endParaRPr lang="en-US" sz="13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11827"/>
                          </a:solidFill>
                          <a:latin typeface="Calibri" pitchFamily="34" charset="0"/>
                          <a:ea typeface="Calibri" pitchFamily="34" charset="-122"/>
                          <a:cs typeface="Calibri" pitchFamily="34" charset="-120"/>
                        </a:rPr>
                        <a:t>A nightly job: score, raise alerts, publish. Points re-learned monthly</a:t>
                      </a:r>
                      <a:endParaRPr lang="en-US" sz="13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11827"/>
                          </a:solidFill>
                          <a:latin typeface="Calibri" pitchFamily="34" charset="0"/>
                          <a:ea typeface="Calibri" pitchFamily="34" charset="-122"/>
                          <a:cs typeface="Calibri" pitchFamily="34" charset="-120"/>
                        </a:rPr>
                        <a:t>Run log shows every attempt. A run I broke on purpose was recorded and never shown</a:t>
                      </a:r>
                      <a:endParaRPr lang="en-US" sz="13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r h="0">
                <a:tc>
                  <a:txBody>
                    <a:bodyPr/>
                    <a:lstStyle/>
                    <a:p>
                      <a:pPr indent="0" marL="0">
                        <a:buNone/>
                      </a:pPr>
                      <a:r>
                        <a:rPr lang="en-US" sz="1300" b="1" dirty="0">
                          <a:solidFill>
                            <a:srgbClr val="111827"/>
                          </a:solidFill>
                          <a:latin typeface="Calibri" pitchFamily="34" charset="0"/>
                          <a:ea typeface="Calibri" pitchFamily="34" charset="-122"/>
                          <a:cs typeface="Calibri" pitchFamily="34" charset="-120"/>
                        </a:rPr>
                        <a:t>Multiple companies</a:t>
                      </a:r>
                      <a:endParaRPr lang="en-US" sz="13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11827"/>
                          </a:solidFill>
                          <a:latin typeface="Calibri" pitchFamily="34" charset="0"/>
                          <a:ea typeface="Calibri" pitchFamily="34" charset="-122"/>
                          <a:cs typeface="Calibri" pitchFamily="34" charset="-120"/>
                        </a:rPr>
                        <a:t>The database itself blocks other companies' rows. The company comes from a signed login that expires</a:t>
                      </a:r>
                      <a:endParaRPr lang="en-US" sz="13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11827"/>
                          </a:solidFill>
                          <a:latin typeface="Calibri" pitchFamily="34" charset="0"/>
                          <a:ea typeface="Calibri" pitchFamily="34" charset="-122"/>
                          <a:cs typeface="Calibri" pitchFamily="34" charset="-120"/>
                        </a:rPr>
                        <a:t>Tests: wrong company, forged, expired and edited logins all fail</a:t>
                      </a:r>
                      <a:endParaRPr lang="en-US" sz="13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r h="0">
                <a:tc>
                  <a:txBody>
                    <a:bodyPr/>
                    <a:lstStyle/>
                    <a:p>
                      <a:pPr indent="0" marL="0">
                        <a:buNone/>
                      </a:pPr>
                      <a:r>
                        <a:rPr lang="en-US" sz="1300" b="1" dirty="0">
                          <a:solidFill>
                            <a:srgbClr val="111827"/>
                          </a:solidFill>
                          <a:latin typeface="Calibri" pitchFamily="34" charset="0"/>
                          <a:ea typeface="Calibri" pitchFamily="34" charset="-122"/>
                          <a:cs typeface="Calibri" pitchFamily="34" charset="-120"/>
                        </a:rPr>
                        <a:t>Everything traceable</a:t>
                      </a:r>
                      <a:endParaRPr lang="en-US" sz="13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11827"/>
                          </a:solidFill>
                          <a:latin typeface="Calibri" pitchFamily="34" charset="0"/>
                          <a:ea typeface="Calibri" pitchFamily="34" charset="-122"/>
                          <a:cs typeface="Calibri" pitchFamily="34" charset="-120"/>
                        </a:rPr>
                        <a:t>Every reason shows its points and the records behind it</a:t>
                      </a:r>
                      <a:endParaRPr lang="en-US" sz="13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11827"/>
                          </a:solidFill>
                          <a:latin typeface="Calibri" pitchFamily="34" charset="0"/>
                          <a:ea typeface="Calibri" pitchFamily="34" charset="-122"/>
                          <a:cs typeface="Calibri" pitchFamily="34" charset="-120"/>
                        </a:rPr>
                        <a:t>A test rebuilds every stored score from its stored reasons</a:t>
                      </a:r>
                      <a:endParaRPr lang="en-US" sz="1300" dirty="0">
                        <a:latin typeface="Calibri" charset="0"/>
                        <a:ea typeface="Calibri" charset="0"/>
                        <a:cs typeface="Calibri" charset="0"/>
                      </a:endParaRPr>
                    </a:p>
                  </a:txBody>
                  <a:tcPr marL="109728" marR="109728" marT="82296" marB="82296"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88136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7315200" cy="274320"/>
          </a:xfrm>
          <a:prstGeom prst="rect">
            <a:avLst/>
          </a:prstGeom>
          <a:noFill/>
          <a:ln/>
        </p:spPr>
        <p:txBody>
          <a:bodyPr wrap="square" rtlCol="0" anchor="ctr"/>
          <a:lstStyle/>
          <a:p>
            <a:pPr indent="0" marL="0">
              <a:buNone/>
            </a:pPr>
            <a:r>
              <a:rPr lang="en-US" sz="1200" b="1" spc="300" kern="0" dirty="0">
                <a:solidFill>
                  <a:srgbClr val="3B4BD8"/>
                </a:solidFill>
                <a:latin typeface="Calibri" pitchFamily="34" charset="0"/>
                <a:ea typeface="Calibri" pitchFamily="34" charset="-122"/>
                <a:cs typeface="Calibri" pitchFamily="34" charset="-120"/>
              </a:rPr>
              <a:t>BACKUP · THE PROOF</a:t>
            </a:r>
            <a:endParaRPr lang="en-US" sz="1200" dirty="0"/>
          </a:p>
        </p:txBody>
      </p:sp>
      <p:sp>
        <p:nvSpPr>
          <p:cNvPr id="3" name="Text 1"/>
          <p:cNvSpPr/>
          <p:nvPr/>
        </p:nvSpPr>
        <p:spPr>
          <a:xfrm>
            <a:off x="640080" y="658368"/>
            <a:ext cx="10908792" cy="868680"/>
          </a:xfrm>
          <a:prstGeom prst="rect">
            <a:avLst/>
          </a:prstGeom>
          <a:noFill/>
          <a:ln/>
        </p:spPr>
        <p:txBody>
          <a:bodyPr wrap="square" rtlCol="0" anchor="t"/>
          <a:lstStyle/>
          <a:p>
            <a:pPr indent="0" marL="0">
              <a:buNone/>
            </a:pPr>
            <a:r>
              <a:rPr lang="en-US" sz="2800" b="1" dirty="0">
                <a:solidFill>
                  <a:srgbClr val="111827"/>
                </a:solidFill>
                <a:latin typeface="Calibri" pitchFamily="34" charset="0"/>
                <a:ea typeface="Calibri" pitchFamily="34" charset="-122"/>
                <a:cs typeface="Calibri" pitchFamily="34" charset="-120"/>
              </a:rPr>
              <a:t>Judgement calls and edge cases I handled</a:t>
            </a:r>
            <a:endParaRPr lang="en-US" sz="2800" dirty="0"/>
          </a:p>
        </p:txBody>
      </p:sp>
      <p:sp>
        <p:nvSpPr>
          <p:cNvPr id="4" name="Text 2"/>
          <p:cNvSpPr/>
          <p:nvPr/>
        </p:nvSpPr>
        <p:spPr>
          <a:xfrm>
            <a:off x="640080" y="6419088"/>
            <a:ext cx="5486400" cy="27432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Renewal Risk Call List · Fello take-home</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08792" cy="914400"/>
        </p:xfrm>
        <a:graphic>
          <a:graphicData uri="http://schemas.openxmlformats.org/drawingml/2006/table">
            <a:tbl>
              <a:tblPr/>
              <a:tblGrid>
                <a:gridCol w="3566160"/>
                <a:gridCol w="7342632"/>
              </a:tblGrid>
              <a:tr h="0">
                <a:tc>
                  <a:txBody>
                    <a:bodyPr/>
                    <a:lstStyle/>
                    <a:p>
                      <a:pPr indent="0" marL="0">
                        <a:buNone/>
                      </a:pPr>
                      <a:r>
                        <a:rPr lang="en-US" sz="1300" b="1" dirty="0">
                          <a:solidFill>
                            <a:srgbClr val="6B7280"/>
                          </a:solidFill>
                          <a:latin typeface="Calibri" pitchFamily="34" charset="0"/>
                          <a:ea typeface="Calibri" pitchFamily="34" charset="-122"/>
                          <a:cs typeface="Calibri" pitchFamily="34" charset="-120"/>
                        </a:rPr>
                        <a:t>Judgement call</a:t>
                      </a:r>
                      <a:endParaRPr lang="en-US" sz="1300" dirty="0">
                        <a:latin typeface="Calibri" charset="0"/>
                        <a:ea typeface="Calibri" charset="0"/>
                        <a:cs typeface="Calibri" charset="0"/>
                      </a:endParaRPr>
                    </a:p>
                  </a:txBody>
                  <a:tcPr marL="128016" marR="128016" marT="91440" marB="9144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F4F5FB"/>
                    </a:solidFill>
                  </a:tcPr>
                </a:tc>
                <a:tc>
                  <a:txBody>
                    <a:bodyPr/>
                    <a:lstStyle/>
                    <a:p>
                      <a:pPr indent="0" marL="0">
                        <a:buNone/>
                      </a:pPr>
                      <a:r>
                        <a:rPr lang="en-US" sz="1300" b="1" dirty="0">
                          <a:solidFill>
                            <a:srgbClr val="6B7280"/>
                          </a:solidFill>
                          <a:latin typeface="Calibri" pitchFamily="34" charset="0"/>
                          <a:ea typeface="Calibri" pitchFamily="34" charset="-122"/>
                          <a:cs typeface="Calibri" pitchFamily="34" charset="-120"/>
                        </a:rPr>
                        <a:t>Why</a:t>
                      </a:r>
                      <a:endParaRPr lang="en-US" sz="1300" dirty="0">
                        <a:latin typeface="Calibri" charset="0"/>
                        <a:ea typeface="Calibri" charset="0"/>
                        <a:cs typeface="Calibri" charset="0"/>
                      </a:endParaRPr>
                    </a:p>
                  </a:txBody>
                  <a:tcPr marL="128016" marR="128016" marT="91440" marB="9144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F4F5FB"/>
                    </a:solidFill>
                  </a:tcPr>
                </a:tc>
              </a:tr>
              <a:tr h="0">
                <a:tc>
                  <a:txBody>
                    <a:bodyPr/>
                    <a:lstStyle/>
                    <a:p>
                      <a:pPr indent="0" marL="0">
                        <a:buNone/>
                      </a:pPr>
                      <a:r>
                        <a:rPr lang="en-US" sz="1300" b="1" dirty="0">
                          <a:solidFill>
                            <a:srgbClr val="111827"/>
                          </a:solidFill>
                          <a:latin typeface="Calibri" pitchFamily="34" charset="0"/>
                          <a:ea typeface="Calibri" pitchFamily="34" charset="-122"/>
                          <a:cs typeface="Calibri" pitchFamily="34" charset="-120"/>
                        </a:rPr>
                        <a:t>Use only what was known at the time</a:t>
                      </a:r>
                      <a:endParaRPr lang="en-US" sz="1300" dirty="0">
                        <a:latin typeface="Calibri" charset="0"/>
                        <a:ea typeface="Calibri" charset="0"/>
                        <a:cs typeface="Calibri" charset="0"/>
                      </a:endParaRPr>
                    </a:p>
                  </a:txBody>
                  <a:tcPr marL="128016" marR="128016" marT="91440" marB="9144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11827"/>
                          </a:solidFill>
                          <a:latin typeface="Calibri" pitchFamily="34" charset="0"/>
                          <a:ea typeface="Calibri" pitchFamily="34" charset="-122"/>
                          <a:cs typeface="Calibri" pitchFamily="34" charset="-120"/>
                        </a:rPr>
                        <a:t>A record that arrived after the scoring date is ignored, so the score never uses information from the future. Tested.</a:t>
                      </a:r>
                      <a:endParaRPr lang="en-US" sz="1300" dirty="0">
                        <a:latin typeface="Calibri" charset="0"/>
                        <a:ea typeface="Calibri" charset="0"/>
                        <a:cs typeface="Calibri" charset="0"/>
                      </a:endParaRPr>
                    </a:p>
                  </a:txBody>
                  <a:tcPr marL="128016" marR="128016" marT="91440" marB="9144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r h="0">
                <a:tc>
                  <a:txBody>
                    <a:bodyPr/>
                    <a:lstStyle/>
                    <a:p>
                      <a:pPr indent="0" marL="0">
                        <a:buNone/>
                      </a:pPr>
                      <a:r>
                        <a:rPr lang="en-US" sz="1300" b="1" dirty="0">
                          <a:solidFill>
                            <a:srgbClr val="111827"/>
                          </a:solidFill>
                          <a:latin typeface="Calibri" pitchFamily="34" charset="0"/>
                          <a:ea typeface="Calibri" pitchFamily="34" charset="-122"/>
                          <a:cs typeface="Calibri" pitchFamily="34" charset="-120"/>
                        </a:rPr>
                        <a:t>A failed card is not "leaving"</a:t>
                      </a:r>
                      <a:endParaRPr lang="en-US" sz="1300" dirty="0">
                        <a:latin typeface="Calibri" charset="0"/>
                        <a:ea typeface="Calibri" charset="0"/>
                        <a:cs typeface="Calibri" charset="0"/>
                      </a:endParaRPr>
                    </a:p>
                  </a:txBody>
                  <a:tcPr marL="128016" marR="128016" marT="91440" marB="9144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11827"/>
                          </a:solidFill>
                          <a:latin typeface="Calibri" pitchFamily="34" charset="0"/>
                          <a:ea typeface="Calibri" pitchFamily="34" charset="-122"/>
                          <a:cs typeface="Calibri" pitchFamily="34" charset="-120"/>
                        </a:rPr>
                        <a:t>Cards fail for many reasons. Only a renewal bill never paid or attempted counts. Cost: 21 of 1,640 test customers are labelled differently from the true answer.</a:t>
                      </a:r>
                      <a:endParaRPr lang="en-US" sz="1300" dirty="0">
                        <a:latin typeface="Calibri" charset="0"/>
                        <a:ea typeface="Calibri" charset="0"/>
                        <a:cs typeface="Calibri" charset="0"/>
                      </a:endParaRPr>
                    </a:p>
                  </a:txBody>
                  <a:tcPr marL="128016" marR="128016" marT="91440" marB="9144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r h="0">
                <a:tc>
                  <a:txBody>
                    <a:bodyPr/>
                    <a:lstStyle/>
                    <a:p>
                      <a:pPr indent="0" marL="0">
                        <a:buNone/>
                      </a:pPr>
                      <a:r>
                        <a:rPr lang="en-US" sz="1300" b="1" dirty="0">
                          <a:solidFill>
                            <a:srgbClr val="111827"/>
                          </a:solidFill>
                          <a:latin typeface="Calibri" pitchFamily="34" charset="0"/>
                          <a:ea typeface="Calibri" pitchFamily="34" charset="-122"/>
                          <a:cs typeface="Calibri" pitchFamily="34" charset="-120"/>
                        </a:rPr>
                        <a:t>Keep customers who leave without warning</a:t>
                      </a:r>
                      <a:endParaRPr lang="en-US" sz="1300" dirty="0">
                        <a:latin typeface="Calibri" charset="0"/>
                        <a:ea typeface="Calibri" charset="0"/>
                        <a:cs typeface="Calibri" charset="0"/>
                      </a:endParaRPr>
                    </a:p>
                  </a:txBody>
                  <a:tcPr marL="128016" marR="128016" marT="91440" marB="9144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11827"/>
                          </a:solidFill>
                          <a:latin typeface="Calibri" pitchFamily="34" charset="0"/>
                          <a:ea typeface="Calibri" pitchFamily="34" charset="-122"/>
                          <a:cs typeface="Calibri" pitchFamily="34" charset="-120"/>
                        </a:rPr>
                        <a:t>Half the generated leavers gave no sign. Removing them gave a flattering 0.95 that is not real. The score cannot catch them, and the README says so.</a:t>
                      </a:r>
                      <a:endParaRPr lang="en-US" sz="1300" dirty="0">
                        <a:latin typeface="Calibri" charset="0"/>
                        <a:ea typeface="Calibri" charset="0"/>
                        <a:cs typeface="Calibri" charset="0"/>
                      </a:endParaRPr>
                    </a:p>
                  </a:txBody>
                  <a:tcPr marL="128016" marR="128016" marT="91440" marB="9144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r h="0">
                <a:tc>
                  <a:txBody>
                    <a:bodyPr/>
                    <a:lstStyle/>
                    <a:p>
                      <a:pPr indent="0" marL="0">
                        <a:buNone/>
                      </a:pPr>
                      <a:r>
                        <a:rPr lang="en-US" sz="1300" b="1" dirty="0">
                          <a:solidFill>
                            <a:srgbClr val="111827"/>
                          </a:solidFill>
                          <a:latin typeface="Calibri" pitchFamily="34" charset="0"/>
                          <a:ea typeface="Calibri" pitchFamily="34" charset="-122"/>
                          <a:cs typeface="Calibri" pitchFamily="34" charset="-120"/>
                        </a:rPr>
                        <a:t>Drop "days until renewal"</a:t>
                      </a:r>
                      <a:endParaRPr lang="en-US" sz="1300" dirty="0">
                        <a:latin typeface="Calibri" charset="0"/>
                        <a:ea typeface="Calibri" charset="0"/>
                        <a:cs typeface="Calibri" charset="0"/>
                      </a:endParaRPr>
                    </a:p>
                  </a:txBody>
                  <a:tcPr marL="128016" marR="128016" marT="91440" marB="9144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11827"/>
                          </a:solidFill>
                          <a:latin typeface="Calibri" pitchFamily="34" charset="0"/>
                          <a:ea typeface="Calibri" pitchFamily="34" charset="-122"/>
                          <a:cs typeface="Calibri" pitchFamily="34" charset="-120"/>
                        </a:rPr>
                        <a:t>It already decides who is on the list, behaved oddly as a clue, and a manager cannot act on it.</a:t>
                      </a:r>
                      <a:endParaRPr lang="en-US" sz="1300" dirty="0">
                        <a:latin typeface="Calibri" charset="0"/>
                        <a:ea typeface="Calibri" charset="0"/>
                        <a:cs typeface="Calibri" charset="0"/>
                      </a:endParaRPr>
                    </a:p>
                  </a:txBody>
                  <a:tcPr marL="128016" marR="128016" marT="91440" marB="9144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r h="0">
                <a:tc>
                  <a:txBody>
                    <a:bodyPr/>
                    <a:lstStyle/>
                    <a:p>
                      <a:pPr indent="0" marL="0">
                        <a:buNone/>
                      </a:pPr>
                      <a:r>
                        <a:rPr lang="en-US" sz="1300" b="1" dirty="0">
                          <a:solidFill>
                            <a:srgbClr val="111827"/>
                          </a:solidFill>
                          <a:latin typeface="Calibri" pitchFamily="34" charset="0"/>
                          <a:ea typeface="Calibri" pitchFamily="34" charset="-122"/>
                          <a:cs typeface="Calibri" pitchFamily="34" charset="-120"/>
                        </a:rPr>
                        <a:t>No chatbot-style AI in the score</a:t>
                      </a:r>
                      <a:endParaRPr lang="en-US" sz="1300" dirty="0">
                        <a:latin typeface="Calibri" charset="0"/>
                        <a:ea typeface="Calibri" charset="0"/>
                        <a:cs typeface="Calibri" charset="0"/>
                      </a:endParaRPr>
                    </a:p>
                  </a:txBody>
                  <a:tcPr marL="128016" marR="128016" marT="91440" marB="9144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11827"/>
                          </a:solidFill>
                          <a:latin typeface="Calibri" pitchFamily="34" charset="0"/>
                          <a:ea typeface="Calibri" pitchFamily="34" charset="-122"/>
                          <a:cs typeface="Calibri" pitchFamily="34" charset="-120"/>
                        </a:rPr>
                        <a:t>It can give a different answer each time and cannot show its working. The task asked for a score fitted on the data.</a:t>
                      </a:r>
                      <a:endParaRPr lang="en-US" sz="1300" dirty="0">
                        <a:latin typeface="Calibri" charset="0"/>
                        <a:ea typeface="Calibri" charset="0"/>
                        <a:cs typeface="Calibri" charset="0"/>
                      </a:endParaRPr>
                    </a:p>
                  </a:txBody>
                  <a:tcPr marL="128016" marR="128016" marT="91440" marB="9144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88136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Renewal Risk Call List</dc:title>
  <dc:subject>PptxGenJS Presentation</dc:subject>
  <dc:creator>PptxGenJS</dc:creator>
  <cp:lastModifiedBy>PptxGenJS</cp:lastModifiedBy>
  <cp:revision>1</cp:revision>
  <dcterms:created xsi:type="dcterms:W3CDTF">2026-10-19T15:05:22Z</dcterms:created>
  <dcterms:modified xsi:type="dcterms:W3CDTF">2026-10-19T15:05:22Z</dcterms:modified>
</cp:coreProperties>
</file>