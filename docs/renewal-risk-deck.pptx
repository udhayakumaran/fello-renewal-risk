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Points</c:v>
                </c:pt>
              </c:strCache>
            </c:strRef>
          </c:tx>
          <c:spPr>
            <a:solidFill>
              <a:srgbClr val="15803D"/>
            </a:solidFill>
            <a:effectLst/>
          </c:spPr>
          <c:invertIfNegative val="0"/>
          <c:dLbls>
            <c:numFmt formatCode="0.00" sourceLinked="0"/>
            <c:txPr>
              <a:bodyPr/>
              <a:lstStyle/>
              <a:p>
                <a:pPr>
                  <a:defRPr b="0" i="0" strike="noStrike" sz="1200" u="none">
                    <a:solidFill>
                      <a:srgbClr val="111827"/>
                    </a:solidFill>
                    <a:latin typeface="Calibri"/>
                  </a:defRPr>
                </a:pPr>
              </a:p>
            </c:txPr>
            <c:showLegendKey val="0"/>
            <c:showVal val="1"/>
            <c:showCatName val="0"/>
            <c:showSerName val="0"/>
            <c:showPercent val="0"/>
            <c:showBubbleSize val="0"/>
            <c:showLeaderLines val="0"/>
          </c:dLbls>
          <c:cat>
            <c:multiLvlStrRef>
              <c:f>Sheet1!$A$2:$A$7</c:f>
              <c:multiLvlStrCache>
                <c:ptCount val="6"/>
                <c:lvl>
                  <c:pt idx="0">
                    <c:v>No complaints in last 90 days</c:v>
                  </c:pt>
                  <c:pt idx="1">
                    <c:v>Large contract</c:v>
                  </c:pt>
                  <c:pt idx="2">
                    <c:v>Long-standing customer (6+ years)</c:v>
                  </c:pt>
                  <c:pt idx="3">
                    <c:v>No contacts marked inactive</c:v>
                  </c:pt>
                  <c:pt idx="4">
                    <c:v>No cancel request</c:v>
                  </c:pt>
                  <c:pt idx="5">
                    <c:v>All other clues</c:v>
                  </c:pt>
                </c:lvl>
              </c:multiLvlStrCache>
            </c:multiLvlStrRef>
          </c:cat>
          <c:val>
            <c:numRef>
              <c:f>Sheet1!$B$2:$B$7</c:f>
              <c:numCache>
                <c:formatCode>General</c:formatCode>
                <c:ptCount val="6"/>
                <c:pt idx="0">
                  <c:v>-0.22</c:v>
                </c:pt>
                <c:pt idx="1">
                  <c:v>-0.14</c:v>
                </c:pt>
                <c:pt idx="2">
                  <c:v>-0.07</c:v>
                </c:pt>
                <c:pt idx="3">
                  <c:v>-0.03</c:v>
                </c:pt>
                <c:pt idx="4">
                  <c:v>-0.02</c:v>
                </c:pt>
                <c:pt idx="5">
                  <c:v>-0.01</c:v>
                </c:pt>
              </c:numCache>
            </c:numRef>
          </c:val>
        </c:ser>
        <c:dLbls>
          <c:numFmt formatCode="0.00" sourceLinked="0"/>
          <c:txPr>
            <a:bodyPr/>
            <a:lstStyle/>
            <a:p>
              <a:pPr>
                <a:defRPr b="0" i="0" strike="noStrike" sz="1200" u="none">
                  <a:solidFill>
                    <a:srgbClr val="111827"/>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high"/>
        <c:spPr>
          <a:ln w="12700" cap="flat">
            <a:solidFill>
              <a:srgbClr val="888888"/>
            </a:solidFill>
            <a:prstDash val="solid"/>
            <a:round/>
          </a:ln>
        </c:spPr>
        <c:txPr>
          <a:bodyPr/>
          <a:lstStyle/>
          <a:p>
            <a:pPr>
              <a:defRPr sz="1200" b="0" i="0" u="none" strike="noStrike">
                <a:solidFill>
                  <a:srgbClr val="111827"/>
                </a:solidFill>
                <a:latin typeface="Calibri"/>
              </a:defRPr>
            </a:pPr>
            <a:endParaRPr lang="en-US"/>
          </a:p>
        </c:txPr>
        <c:crossAx val="2094734552"/>
        <c:crosses val="autoZero"/>
        <c:auto val="1"/>
        <c:lblAlgn val="ctr"/>
        <c:noMultiLvlLbl val="1"/>
      </c:catAx>
      <c:valAx>
        <c:axId val="2094734552"/>
        <c:scaling>
          <c:orientation val="minMax"/>
          <c:max val="0"/>
          <c:min val="-0.3"/>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Customers with the clue</c:v>
                </c:pt>
              </c:strCache>
            </c:strRef>
          </c:tx>
          <c:spPr>
            <a:solidFill>
              <a:srgbClr val="3B4BD8"/>
            </a:solidFill>
            <a:effectLst/>
          </c:spPr>
          <c:invertIfNegative val="0"/>
          <c:dLbls>
            <c:numFmt formatCode="0.0" sourceLinked="0"/>
            <c:txPr>
              <a:bodyPr/>
              <a:lstStyle/>
              <a:p>
                <a:pPr>
                  <a:defRPr b="0" i="0" strike="noStrike" sz="1100" u="none">
                    <a:solidFill>
                      <a:srgbClr val="111827"/>
                    </a:solidFill>
                    <a:latin typeface="Calibri"/>
                  </a:defRPr>
                </a:pPr>
              </a:p>
            </c:txPr>
            <c:showLegendKey val="0"/>
            <c:showVal val="1"/>
            <c:showCatName val="0"/>
            <c:showSerName val="0"/>
            <c:showPercent val="0"/>
            <c:showBubbleSize val="0"/>
            <c:showLeaderLines val="0"/>
          </c:dLbls>
          <c:cat>
            <c:multiLvlStrRef>
              <c:f>Sheet1!$A$2:$A$7</c:f>
              <c:multiLvlStrCache>
                <c:ptCount val="6"/>
                <c:lvl>
                  <c:pt idx="0">
                    <c:v>Asked to cancel at renewal</c:v>
                  </c:pt>
                  <c:pt idx="1">
                    <c:v>Reduced their plan recently</c:v>
                  </c:pt>
                  <c:pt idx="2">
                    <c:v>3+ complaints in 90 days</c:v>
                  </c:pt>
                  <c:pt idx="3">
                    <c:v>Complaint still open</c:v>
                  </c:pt>
                  <c:pt idx="4">
                    <c:v>Some contacts marked inactive</c:v>
                  </c:pt>
                  <c:pt idx="5">
                    <c:v>Product usage fell</c:v>
                  </c:pt>
                </c:lvl>
              </c:multiLvlStrCache>
            </c:multiLvlStrRef>
          </c:cat>
          <c:val>
            <c:numRef>
              <c:f>Sheet1!$B$2:$B$7</c:f>
              <c:numCache>
                <c:formatCode>General</c:formatCode>
                <c:ptCount val="6"/>
                <c:pt idx="0">
                  <c:v>50</c:v>
                </c:pt>
                <c:pt idx="1">
                  <c:v>17.1</c:v>
                </c:pt>
                <c:pt idx="2">
                  <c:v>13.2</c:v>
                </c:pt>
                <c:pt idx="3">
                  <c:v>4.6</c:v>
                </c:pt>
                <c:pt idx="4">
                  <c:v>3.8</c:v>
                </c:pt>
                <c:pt idx="5">
                  <c:v>2.4</c:v>
                </c:pt>
              </c:numCache>
            </c:numRef>
          </c:val>
        </c:ser>
        <c:ser>
          <c:idx val="1"/>
          <c:order val="1"/>
          <c:tx>
            <c:strRef>
              <c:f>Sheet1!$C$1</c:f>
              <c:strCache>
                <c:ptCount val="1"/>
                <c:pt idx="0">
                  <c:v>Customers without it</c:v>
                </c:pt>
              </c:strCache>
            </c:strRef>
          </c:tx>
          <c:spPr>
            <a:solidFill>
              <a:srgbClr val="C7CBD6"/>
            </a:solidFill>
            <a:effectLst/>
          </c:spPr>
          <c:invertIfNegative val="0"/>
          <c:dLbls>
            <c:numFmt formatCode="0.0" sourceLinked="0"/>
            <c:txPr>
              <a:bodyPr/>
              <a:lstStyle/>
              <a:p>
                <a:pPr>
                  <a:defRPr b="0" i="0" strike="noStrike" sz="1100" u="none">
                    <a:solidFill>
                      <a:srgbClr val="111827"/>
                    </a:solidFill>
                    <a:latin typeface="Calibri"/>
                  </a:defRPr>
                </a:pPr>
              </a:p>
            </c:txPr>
            <c:showLegendKey val="0"/>
            <c:showVal val="1"/>
            <c:showCatName val="0"/>
            <c:showSerName val="0"/>
            <c:showPercent val="0"/>
            <c:showBubbleSize val="0"/>
            <c:showLeaderLines val="0"/>
          </c:dLbls>
          <c:cat>
            <c:multiLvlStrRef>
              <c:f>Sheet1!$A$2:$A$7</c:f>
              <c:multiLvlStrCache>
                <c:ptCount val="6"/>
                <c:lvl>
                  <c:pt idx="0">
                    <c:v>Asked to cancel at renewal</c:v>
                  </c:pt>
                  <c:pt idx="1">
                    <c:v>Reduced their plan recently</c:v>
                  </c:pt>
                  <c:pt idx="2">
                    <c:v>3+ complaints in 90 days</c:v>
                  </c:pt>
                  <c:pt idx="3">
                    <c:v>Complaint still open</c:v>
                  </c:pt>
                  <c:pt idx="4">
                    <c:v>Some contacts marked inactive</c:v>
                  </c:pt>
                  <c:pt idx="5">
                    <c:v>Product usage fell</c:v>
                  </c:pt>
                </c:lvl>
              </c:multiLvlStrCache>
            </c:multiLvlStrRef>
          </c:cat>
          <c:val>
            <c:numRef>
              <c:f>Sheet1!$C$2:$C$7</c:f>
              <c:numCache>
                <c:formatCode>General</c:formatCode>
                <c:ptCount val="6"/>
                <c:pt idx="0">
                  <c:v>2.1</c:v>
                </c:pt>
                <c:pt idx="1">
                  <c:v>2.2</c:v>
                </c:pt>
                <c:pt idx="2">
                  <c:v>2</c:v>
                </c:pt>
                <c:pt idx="3">
                  <c:v>2.3</c:v>
                </c:pt>
                <c:pt idx="4">
                  <c:v>2.2</c:v>
                </c:pt>
                <c:pt idx="5">
                  <c:v>2.3</c:v>
                </c:pt>
              </c:numCache>
            </c:numRef>
          </c:val>
        </c:ser>
        <c:dLbls>
          <c:numFmt formatCode="0.0" sourceLinked="0"/>
          <c:txPr>
            <a:bodyPr/>
            <a:lstStyle/>
            <a:p>
              <a:pPr>
                <a:defRPr b="0" i="0" strike="noStrike" sz="1100" u="none">
                  <a:solidFill>
                    <a:srgbClr val="11182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1182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Leavers caught</c:v>
                </c:pt>
              </c:strCache>
            </c:strRef>
          </c:tx>
          <c:spPr>
            <a:solidFill>
              <a:srgbClr val="3B4BD8"/>
            </a:solidFill>
            <a:effectLst/>
          </c:spPr>
          <c:invertIfNegative val="0"/>
          <c:dLbls>
            <c:numFmt formatCode="#,##0" sourceLinked="0"/>
            <c:txPr>
              <a:bodyPr/>
              <a:lstStyle/>
              <a:p>
                <a:pPr>
                  <a:defRPr b="0" i="0" strike="noStrike" sz="1800" u="none">
                    <a:solidFill>
                      <a:srgbClr val="111827"/>
                    </a:solidFill>
                    <a:latin typeface="Calibri"/>
                  </a:defRPr>
                </a:pPr>
              </a:p>
            </c:txPr>
            <c:showLegendKey val="0"/>
            <c:showVal val="1"/>
            <c:showCatName val="0"/>
            <c:showSerName val="0"/>
            <c:showPercent val="0"/>
            <c:showBubbleSize val="0"/>
            <c:showLeaderLines val="0"/>
          </c:dLbls>
          <c:dPt>
            <c:idx val="0"/>
            <c:invertIfNegative val="0"/>
            <c:bubble3D val="0"/>
            <c:spPr>
              <a:solidFill>
                <a:srgbClr val="3B4BD8"/>
              </a:solidFill>
              <a:effectLst/>
            </c:spPr>
          </c:dPt>
          <c:dPt>
            <c:idx val="1"/>
            <c:invertIfNegative val="0"/>
            <c:bubble3D val="0"/>
            <c:spPr>
              <a:solidFill>
                <a:srgbClr val="C7CBD6"/>
              </a:solidFill>
              <a:effectLst/>
            </c:spPr>
          </c:dPt>
          <c:cat>
            <c:multiLvlStrRef>
              <c:f>Sheet1!$A$2:$A$3</c:f>
              <c:multiLvlStrCache>
                <c:ptCount val="2"/>
                <c:lvl>
                  <c:pt idx="0">
                    <c:v>Our score</c:v>
                  </c:pt>
                  <c:pt idx="1">
                    <c:v>Simple rule (usage dropped)</c:v>
                  </c:pt>
                </c:lvl>
              </c:multiLvlStrCache>
            </c:multiLvlStrRef>
          </c:cat>
          <c:val>
            <c:numRef>
              <c:f>Sheet1!$B$2:$B$3</c:f>
              <c:numCache>
                <c:formatCode>General</c:formatCode>
                <c:ptCount val="2"/>
                <c:pt idx="0">
                  <c:v>18</c:v>
                </c:pt>
                <c:pt idx="1">
                  <c:v>12</c:v>
                </c:pt>
              </c:numCache>
            </c:numRef>
          </c:val>
        </c:ser>
        <c:dLbls>
          <c:numFmt formatCode="#,##0" sourceLinked="0"/>
          <c:txPr>
            <a:bodyPr/>
            <a:lstStyle/>
            <a:p>
              <a:pPr>
                <a:defRPr b="0" i="0" strike="noStrike" sz="1800" u="none">
                  <a:solidFill>
                    <a:srgbClr val="111827"/>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11827"/>
                </a:solidFill>
                <a:latin typeface="Calibri"/>
              </a:defRPr>
            </a:pPr>
            <a:endParaRPr lang="en-US"/>
          </a:p>
        </c:txPr>
        <c:crossAx val="2094734552"/>
        <c:crosses val="autoZero"/>
        <c:auto val="1"/>
        <c:lblAlgn val="ctr"/>
        <c:noMultiLvlLbl val="1"/>
      </c:catAx>
      <c:valAx>
        <c:axId val="2094734552"/>
        <c:scaling>
          <c:orientation val="minMax"/>
          <c:max val="29"/>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Udhaya. This is my take on the renewal risk exercise. In about nine minutes I'll show the problem, what I built, a live demo, how the score works, and how I know it works. All the data is generated, so the results show the system works, not how it would do on real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VP asked for a dashboard with a red, yellow or green score, and automatic emails to accounts that turn red. I read the real problem differently. A customer success manager looks after about 120 accounts and cannot call them all. The warning signs sit in five separate tools, so nobody sees the whole picture. Two renewals were lost last quarter with the signs already in the data. So the goal is simple: every Monday, give each manager a short ranked list, who to call first and why. A renewal is the moment a customer decides whether to keep paying.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disagreed in three places. One: a colour hides how sure we are and how much money is at stake, so I rank by chance of leaving times contract value, and keep colours only as cut-offs. Two: emailing a customer that we think they are leaving can cause the loss we want to prevent, so the manager gets an alert and decides. The only automatic customer email is a reminder to update a card after a failed payment. Three: nothing should slip. I can promise no renewal is missed just because its clues were scattered, because every renewal in the next 90 days appears once, as a call, on the watch list, or as not scored with the reason. I cannot promise every risky customer is called or saved, because call time is 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 manager opens on Monday. The top fifteen are this week's calls, sorted by money at risk, which is the chance of leaving times what the customer pays. Each row shows the chance and the reasons in plain words. A big customer with a small chance can sit above a small customer with a bigger chance, because losing them costs more. Customers we cannot score are shown as not scored, never as safe. After a call, one button removes the customer and the next one moves up. Switch to the live app here and open the top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build in six steps. One: collect data from five places, about two hundred thousand records, made messy on purpose, with late, repeated and missing records. Two: match each record to one customer by email domain, then company name. Records we cannot match are kept aside for review, not thrown away. Three: summarise into eleven simple facts per customer, using only what was known on that date. Four: score, a chance of leaving learned from past renewals. Five: run every night by itself, and publish only if the whole run worked. Six: the manager's screen. Underneath, each company's data is kept separate in the database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real account from the demo. A typical customer starts at zero points, which is a 1.8 percent chance of leaving. Each clue then adds or removes points, depending on how this customer compares with a typical one. Here almost everything points to staying: no complaints in the last 90 days, a large contract, a long relationship. The points add up to minus 0.49, which moves the chance from 1.8 percent down to 1.1 percent. The same steps are used for every customer, and the account page shows every clue, its points, and the records behind it. Switch to the live app and open this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a clue add points? Because of what past customers did. Of about sixteen thousand past cases, 2.3 percent left overall. Where a customer had asked to cancel, 50 in 100 left, against 2 in 100 without. With three or more complaints in 90 days, 13 in 100 left. With a plan cut, 17 in 100. A complaint still open and inactive contacts matter a little. A fall in product usage on its own did not separate leavers from stayers. The points are fitted with all the clues together, so they are not exactly these percentages, but the bigger the gap, the more points a clue gets. The account page shows these numbers for every clue.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it behaves over time. On day one there is no waiting: the system learns straight away from all the history that is loaded, then scores every customer. Every night it scores again using the saved points, so a score changes because the customer changed, not because the formula did. Every 30 days it re-learns the points from the outcomes seen since. I chose monthly because a month adds too few new outcomes to change the points meaningfully, and re-learning every night would mostly add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cannot observe a real future year, so I replayed the sample data. One copy of the system learns only from what was known on 15 June 2025, the other from what was known on 15 June 2026, and both are tested on the same later date. Take one factor: asked to cancel at renewal. On day one, 44 in 100 past customers with that factor left, and it added 2.49 points. A year later, 51 in 100 left, and it adds 3.02 points. Where the share barely moved, such as plan cuts, the points barely moved. Overall, the top fifteen lists share 85 percent of their names, and ranking quality is 0.75 against 0.73, which is not a real difference with only 29 leavers. More history did not improve ranking here. This generated data has no change over time built in, while real customers do change, which is why the points are re-learned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I know it works? I trained on earlier renewals and tested on a later date the system had never seen, against a simple rule: pick the customers whose usage dropped. In each manager's top fifteen, the score catches 18 of the 29 leavers, against 12 for the rule. Ranking quality is 0.71 against 0.60, where 0.5 is a coin toss. The honest caveats: only 29 customers left in the test, so the ranges are wide. The data is generated, so this shows the system works, not how it would do on real customers. Earlier versions scored higher, 0.83, before I fixed how leaving is defined, and I reported the more defensible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set five non-negotiables. One, generate the data: five thousand customers across four companies, about two hundred thousand records from five places, messy on purpose. Two, a score fitted on the data: learned from past renewals and tested on later ones against a simple rule. Three, something that runs by itself: a nightly job, with a run log, and a run I broke on purpose was recorded and never shown to managers. Four, multiple companies: the database itself keeps each company's data separate, and tests with the wrong company, a forged, expired and edited login all fail. Five, everything traceable: every reason shows its points and the records behind it, and a test rebuilds every stored score from its stored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calls I made on purpose. Only use what was known at the time: a record that arrived after the scoring date is ignored, so the score never uses information from the future, and a test proves it. A failed card is not leaving: cards fail for many reasons, so only a renewal bill never paid or attempted counts. That costs 21 of 1,640 test customers being labelled differently from the true answer, and I say so. I kept customers who leave without warning: half the generated leavers gave no sign, removing them would have given 0.95, which looks great and is fake. I dropped days until renewal as a clue because it already decides who is on the list and a manager cannot act on it. And there is no chatbot-style AI in the score, because a chatbot can give a different answer each time and cannot show its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limits. Left out on purpose: real company login, real email sending, live connections to the real tools, and measuring whether a call actually saves a customer. Needs approval from the business: legal permission to read email details, who switches on automatic messages, the reminder wording, what counts as leaving, and where do-not-email choices are stored. What breaks first at ten times the size: the nightly job re-reads everything, two runs could overlap and send the same card reminder twice, large event tables slow the checks that keep companies separate, and old alerts pile up. The fixes are in the README. The live demo is linked here, and the Loom link goes with my submission.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sp>
        <p:nvSpPr>
          <p:cNvPr id="2" name="Text 0"/>
          <p:cNvSpPr/>
          <p:nvPr/>
        </p:nvSpPr>
        <p:spPr>
          <a:xfrm>
            <a:off x="822960" y="1554480"/>
            <a:ext cx="10058400" cy="365760"/>
          </a:xfrm>
          <a:prstGeom prst="rect">
            <a:avLst/>
          </a:prstGeom>
          <a:noFill/>
          <a:ln/>
        </p:spPr>
        <p:txBody>
          <a:bodyPr wrap="square" rtlCol="0" anchor="ctr"/>
          <a:lstStyle/>
          <a:p>
            <a:pPr indent="0" marL="0">
              <a:buNone/>
            </a:pPr>
            <a:r>
              <a:rPr lang="en-US" sz="1400" b="1" spc="400" kern="0" dirty="0">
                <a:solidFill>
                  <a:srgbClr val="9AA3F5"/>
                </a:solidFill>
                <a:latin typeface="Calibri" pitchFamily="34" charset="0"/>
                <a:ea typeface="Calibri" pitchFamily="34" charset="-122"/>
                <a:cs typeface="Calibri" pitchFamily="34" charset="-120"/>
              </a:rPr>
              <a:t>RENEWAL RISK CALL LIST</a:t>
            </a:r>
            <a:endParaRPr lang="en-US" sz="1400" dirty="0"/>
          </a:p>
        </p:txBody>
      </p:sp>
      <p:sp>
        <p:nvSpPr>
          <p:cNvPr id="3" name="Text 1"/>
          <p:cNvSpPr/>
          <p:nvPr/>
        </p:nvSpPr>
        <p:spPr>
          <a:xfrm>
            <a:off x="822960" y="2011680"/>
            <a:ext cx="10515600" cy="1463040"/>
          </a:xfrm>
          <a:prstGeom prst="rect">
            <a:avLst/>
          </a:prstGeom>
          <a:noFill/>
          <a:ln/>
        </p:spPr>
        <p:txBody>
          <a:bodyPr wrap="square"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Who should we call this Monday, and why?</a:t>
            </a:r>
            <a:endParaRPr lang="en-US" sz="4600" dirty="0"/>
          </a:p>
        </p:txBody>
      </p:sp>
      <p:sp>
        <p:nvSpPr>
          <p:cNvPr id="4" name="Text 2"/>
          <p:cNvSpPr/>
          <p:nvPr/>
        </p:nvSpPr>
        <p:spPr>
          <a:xfrm>
            <a:off x="822960" y="3611880"/>
            <a:ext cx="10515600" cy="548640"/>
          </a:xfrm>
          <a:prstGeom prst="rect">
            <a:avLst/>
          </a:prstGeom>
          <a:noFill/>
          <a:ln/>
        </p:spPr>
        <p:txBody>
          <a:bodyPr wrap="square" rtlCol="0" anchor="ctr"/>
          <a:lstStyle/>
          <a:p>
            <a:pPr indent="0" marL="0">
              <a:buNone/>
            </a:pPr>
            <a:r>
              <a:rPr lang="en-US" sz="2200" dirty="0">
                <a:solidFill>
                  <a:srgbClr val="C9CBD6"/>
                </a:solidFill>
                <a:latin typeface="Calibri" pitchFamily="34" charset="0"/>
                <a:ea typeface="Calibri" pitchFamily="34" charset="-122"/>
                <a:cs typeface="Calibri" pitchFamily="34" charset="-120"/>
              </a:rPr>
              <a:t>Finding customers who may stop paying, before they do</a:t>
            </a:r>
            <a:endParaRPr lang="en-US" sz="2200" dirty="0"/>
          </a:p>
        </p:txBody>
      </p:sp>
      <p:sp>
        <p:nvSpPr>
          <p:cNvPr id="5" name="Text 3"/>
          <p:cNvSpPr/>
          <p:nvPr/>
        </p:nvSpPr>
        <p:spPr>
          <a:xfrm>
            <a:off x="822960" y="4343400"/>
            <a:ext cx="10515600" cy="365760"/>
          </a:xfrm>
          <a:prstGeom prst="rect">
            <a:avLst/>
          </a:prstGeom>
          <a:noFill/>
          <a:ln/>
        </p:spPr>
        <p:txBody>
          <a:bodyPr wrap="square" rtlCol="0" anchor="ctr"/>
          <a:lstStyle/>
          <a:p>
            <a:pPr indent="0" marL="0">
              <a:buNone/>
            </a:pPr>
            <a:r>
              <a:rPr lang="en-US" sz="1500" dirty="0">
                <a:solidFill>
                  <a:srgbClr val="9AA3B8"/>
                </a:solidFill>
                <a:latin typeface="Calibri" pitchFamily="34" charset="0"/>
                <a:ea typeface="Calibri" pitchFamily="34" charset="-122"/>
                <a:cs typeface="Calibri" pitchFamily="34" charset="-120"/>
              </a:rPr>
              <a:t>Udhayakumar · Staff Engineer take-home · Fello GTM AI</a:t>
            </a:r>
            <a:endParaRPr lang="en-US" sz="1500" dirty="0"/>
          </a:p>
        </p:txBody>
      </p:sp>
      <p:sp>
        <p:nvSpPr>
          <p:cNvPr id="6" name="Text 4"/>
          <p:cNvSpPr/>
          <p:nvPr/>
        </p:nvSpPr>
        <p:spPr>
          <a:xfrm>
            <a:off x="822960" y="6035040"/>
            <a:ext cx="10515600" cy="365760"/>
          </a:xfrm>
          <a:prstGeom prst="rect">
            <a:avLst/>
          </a:prstGeom>
          <a:noFill/>
          <a:ln/>
        </p:spPr>
        <p:txBody>
          <a:bodyPr wrap="square" rtlCol="0" anchor="ctr"/>
          <a:lstStyle/>
          <a:p>
            <a:pPr indent="0" marL="0">
              <a:buNone/>
            </a:pPr>
            <a:r>
              <a:rPr lang="en-US" sz="1200" dirty="0">
                <a:solidFill>
                  <a:srgbClr val="9AA3B8"/>
                </a:solidFill>
                <a:latin typeface="Calibri" pitchFamily="34" charset="0"/>
                <a:ea typeface="Calibri" pitchFamily="34" charset="-122"/>
                <a:cs typeface="Calibri" pitchFamily="34" charset="-120"/>
              </a:rPr>
              <a:t>All data here is generated. Results show the system works, not how it would do on real customers.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274320"/>
          </a:xfrm>
          <a:prstGeom prst="rect">
            <a:avLst/>
          </a:prstGeom>
          <a:noFill/>
          <a:ln/>
        </p:spPr>
        <p:txBody>
          <a:bodyPr wrap="square" rtlCol="0" anchor="ctr"/>
          <a:lstStyle/>
          <a:p>
            <a:pPr indent="0" marL="0">
              <a:buNone/>
            </a:pPr>
            <a:r>
              <a:rPr lang="en-US" sz="1200" b="1" spc="300" kern="0" dirty="0">
                <a:solidFill>
                  <a:srgbClr val="3B4BD8"/>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658368"/>
            <a:ext cx="10908792" cy="868680"/>
          </a:xfrm>
          <a:prstGeom prst="rect">
            <a:avLst/>
          </a:prstGeom>
          <a:noFill/>
          <a:ln/>
        </p:spPr>
        <p:txBody>
          <a:bodyPr wrap="square" rtlCol="0" anchor="t"/>
          <a:lstStyle/>
          <a:p>
            <a:pPr indent="0" marL="0">
              <a:buNone/>
            </a:pPr>
            <a:r>
              <a:rPr lang="en-US" sz="2800" b="1" dirty="0">
                <a:solidFill>
                  <a:srgbClr val="111827"/>
                </a:solidFill>
                <a:latin typeface="Calibri" pitchFamily="34" charset="0"/>
                <a:ea typeface="Calibri" pitchFamily="34" charset="-122"/>
                <a:cs typeface="Calibri" pitchFamily="34" charset="-120"/>
              </a:rPr>
              <a:t>The request was a dashboard. The real need is a call list.</a:t>
            </a:r>
            <a:endParaRPr lang="en-US" sz="2800" dirty="0"/>
          </a:p>
        </p:txBody>
      </p:sp>
      <p:sp>
        <p:nvSpPr>
          <p:cNvPr id="4" name="Text 2"/>
          <p:cNvSpPr/>
          <p:nvPr/>
        </p:nvSpPr>
        <p:spPr>
          <a:xfrm>
            <a:off x="640080" y="641908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Renewal Risk Call List · Fello take-home</a:t>
            </a:r>
            <a:endParaRPr lang="en-US" sz="1000" dirty="0"/>
          </a:p>
        </p:txBody>
      </p:sp>
      <p:sp>
        <p:nvSpPr>
          <p:cNvPr id="6" name="Shape 3"/>
          <p:cNvSpPr/>
          <p:nvPr/>
        </p:nvSpPr>
        <p:spPr>
          <a:xfrm>
            <a:off x="640080" y="1783080"/>
            <a:ext cx="4206240" cy="3017520"/>
          </a:xfrm>
          <a:prstGeom prst="roundRect">
            <a:avLst>
              <a:gd name="adj" fmla="val 3636"/>
            </a:avLst>
          </a:prstGeom>
          <a:solidFill>
            <a:srgbClr val="F4F5FB"/>
          </a:solidFill>
          <a:ln w="12700">
            <a:solidFill>
              <a:srgbClr val="F4F5FB"/>
            </a:solidFill>
            <a:prstDash val="solid"/>
          </a:ln>
        </p:spPr>
      </p:sp>
      <p:sp>
        <p:nvSpPr>
          <p:cNvPr id="7" name="Text 4"/>
          <p:cNvSpPr/>
          <p:nvPr/>
        </p:nvSpPr>
        <p:spPr>
          <a:xfrm>
            <a:off x="868680" y="1947672"/>
            <a:ext cx="3749040" cy="411480"/>
          </a:xfrm>
          <a:prstGeom prst="rect">
            <a:avLst/>
          </a:prstGeom>
          <a:noFill/>
          <a:ln/>
        </p:spPr>
        <p:txBody>
          <a:bodyPr wrap="square" rtlCol="0" anchor="t"/>
          <a:lstStyle/>
          <a:p>
            <a:pPr indent="0" marL="0">
              <a:buNone/>
            </a:pPr>
            <a:r>
              <a:rPr lang="en-US" sz="1700" b="1" dirty="0">
                <a:solidFill>
                  <a:srgbClr val="6B7280"/>
                </a:solidFill>
                <a:latin typeface="Calibri" pitchFamily="34" charset="0"/>
                <a:ea typeface="Calibri" pitchFamily="34" charset="-122"/>
                <a:cs typeface="Calibri" pitchFamily="34" charset="-120"/>
              </a:rPr>
              <a:t>What was asked</a:t>
            </a:r>
            <a:endParaRPr lang="en-US" sz="1700" dirty="0"/>
          </a:p>
        </p:txBody>
      </p:sp>
      <p:sp>
        <p:nvSpPr>
          <p:cNvPr id="8" name="Text 5"/>
          <p:cNvSpPr/>
          <p:nvPr/>
        </p:nvSpPr>
        <p:spPr>
          <a:xfrm>
            <a:off x="868680" y="2423160"/>
            <a:ext cx="3749040" cy="2240280"/>
          </a:xfrm>
          <a:prstGeom prst="rect">
            <a:avLst/>
          </a:prstGeom>
          <a:noFill/>
          <a:ln/>
        </p:spPr>
        <p:txBody>
          <a:bodyPr wrap="square" rtlCol="0" anchor="t"/>
          <a:lstStyle/>
          <a:p>
            <a:pPr marL="177800" indent="-177800">
              <a:spcAft>
                <a:spcPts val="700"/>
              </a:spcAft>
              <a:buSzPct val="100000"/>
              <a:buChar char="•"/>
            </a:pPr>
            <a:r>
              <a:rPr lang="en-US" sz="1600" dirty="0">
                <a:solidFill>
                  <a:srgbClr val="111827"/>
                </a:solidFill>
                <a:latin typeface="Calibri" pitchFamily="34" charset="0"/>
                <a:ea typeface="Calibri" pitchFamily="34" charset="-122"/>
                <a:cs typeface="Calibri" pitchFamily="34" charset="-120"/>
              </a:rPr>
              <a:t>A red, yellow or green score for every account</a:t>
            </a:r>
            <a:endParaRPr lang="en-US" sz="1600" dirty="0"/>
          </a:p>
          <a:p>
            <a:pPr marL="177800" indent="-177800">
              <a:spcAft>
                <a:spcPts val="700"/>
              </a:spcAft>
              <a:buSzPct val="100000"/>
              <a:buChar char="•"/>
            </a:pPr>
            <a:r>
              <a:rPr lang="en-US" sz="1600" dirty="0">
                <a:solidFill>
                  <a:srgbClr val="111827"/>
                </a:solidFill>
                <a:latin typeface="Calibri" pitchFamily="34" charset="0"/>
                <a:ea typeface="Calibri" pitchFamily="34" charset="-122"/>
                <a:cs typeface="Calibri" pitchFamily="34" charset="-120"/>
              </a:rPr>
              <a:t>An automatic email to accounts that turn red</a:t>
            </a:r>
            <a:endParaRPr lang="en-US" sz="1600" dirty="0"/>
          </a:p>
        </p:txBody>
      </p:sp>
      <p:sp>
        <p:nvSpPr>
          <p:cNvPr id="9" name="Shape 6"/>
          <p:cNvSpPr/>
          <p:nvPr/>
        </p:nvSpPr>
        <p:spPr>
          <a:xfrm>
            <a:off x="5074920" y="1783080"/>
            <a:ext cx="6473952" cy="3017520"/>
          </a:xfrm>
          <a:prstGeom prst="roundRect">
            <a:avLst>
              <a:gd name="adj" fmla="val 3636"/>
            </a:avLst>
          </a:prstGeom>
          <a:solidFill>
            <a:srgbClr val="E8EAFD"/>
          </a:solidFill>
          <a:ln w="12700">
            <a:solidFill>
              <a:srgbClr val="E8EAFD"/>
            </a:solidFill>
            <a:prstDash val="solid"/>
          </a:ln>
        </p:spPr>
      </p:sp>
      <p:sp>
        <p:nvSpPr>
          <p:cNvPr id="10" name="Text 7"/>
          <p:cNvSpPr/>
          <p:nvPr/>
        </p:nvSpPr>
        <p:spPr>
          <a:xfrm>
            <a:off x="5303520" y="1947672"/>
            <a:ext cx="6016752" cy="411480"/>
          </a:xfrm>
          <a:prstGeom prst="rect">
            <a:avLst/>
          </a:prstGeom>
          <a:noFill/>
          <a:ln/>
        </p:spPr>
        <p:txBody>
          <a:bodyPr wrap="square" rtlCol="0" anchor="t"/>
          <a:lstStyle/>
          <a:p>
            <a:pPr indent="0" marL="0">
              <a:buNone/>
            </a:pPr>
            <a:r>
              <a:rPr lang="en-US" sz="1700" b="1" dirty="0">
                <a:solidFill>
                  <a:srgbClr val="3B4BD8"/>
                </a:solidFill>
                <a:latin typeface="Calibri" pitchFamily="34" charset="0"/>
                <a:ea typeface="Calibri" pitchFamily="34" charset="-122"/>
                <a:cs typeface="Calibri" pitchFamily="34" charset="-120"/>
              </a:rPr>
              <a:t>What is actually needed</a:t>
            </a:r>
            <a:endParaRPr lang="en-US" sz="1700" dirty="0"/>
          </a:p>
        </p:txBody>
      </p:sp>
      <p:sp>
        <p:nvSpPr>
          <p:cNvPr id="11" name="Text 8"/>
          <p:cNvSpPr/>
          <p:nvPr/>
        </p:nvSpPr>
        <p:spPr>
          <a:xfrm>
            <a:off x="5303520" y="2423160"/>
            <a:ext cx="6016752" cy="2240280"/>
          </a:xfrm>
          <a:prstGeom prst="rect">
            <a:avLst/>
          </a:prstGeom>
          <a:noFill/>
          <a:ln/>
        </p:spPr>
        <p:txBody>
          <a:bodyPr wrap="square" rtlCol="0" anchor="t"/>
          <a:lstStyle/>
          <a:p>
            <a:pPr marL="177800" indent="-1778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Each manager (CSM) looks after about 120 accounts and cannot call them all. I assume 15 to 20 calls a week: a working assumption, not a given.</a:t>
            </a:r>
            <a:endParaRPr lang="en-US" sz="1500" dirty="0"/>
          </a:p>
          <a:p>
            <a:pPr marL="177800" indent="-1778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Warning signs sit in five separate tools, so nobody sees the whole picture.</a:t>
            </a:r>
            <a:endParaRPr lang="en-US" sz="1500" dirty="0"/>
          </a:p>
          <a:p>
            <a:pPr marL="177800" indent="-1778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Two renewals were lost last quarter, and the signs were already in the data.</a:t>
            </a:r>
            <a:endParaRPr lang="en-US" sz="1500" dirty="0"/>
          </a:p>
        </p:txBody>
      </p:sp>
      <p:sp>
        <p:nvSpPr>
          <p:cNvPr id="12" name="Shape 9"/>
          <p:cNvSpPr/>
          <p:nvPr/>
        </p:nvSpPr>
        <p:spPr>
          <a:xfrm>
            <a:off x="640080" y="5074920"/>
            <a:ext cx="10908792" cy="640080"/>
          </a:xfrm>
          <a:prstGeom prst="roundRect">
            <a:avLst>
              <a:gd name="adj" fmla="val 17143"/>
            </a:avLst>
          </a:prstGeom>
          <a:solidFill>
            <a:srgbClr val="E8EAFD"/>
          </a:solidFill>
          <a:ln w="12700">
            <a:solidFill>
              <a:srgbClr val="E8EAFD"/>
            </a:solidFill>
            <a:prstDash val="solid"/>
          </a:ln>
        </p:spPr>
      </p:sp>
      <p:sp>
        <p:nvSpPr>
          <p:cNvPr id="13" name="Text 10"/>
          <p:cNvSpPr/>
          <p:nvPr/>
        </p:nvSpPr>
        <p:spPr>
          <a:xfrm>
            <a:off x="868680" y="5074920"/>
            <a:ext cx="10451592" cy="640080"/>
          </a:xfrm>
          <a:prstGeom prst="rect">
            <a:avLst/>
          </a:prstGeom>
          <a:noFill/>
          <a:ln/>
        </p:spPr>
        <p:txBody>
          <a:bodyPr wrap="square"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Goal: every Monday, each manager gets a short ranked list. Who to call first, and why.</a:t>
            </a:r>
            <a:endParaRPr lang="en-US" sz="1500" dirty="0"/>
          </a:p>
        </p:txBody>
      </p:sp>
      <p:sp>
        <p:nvSpPr>
          <p:cNvPr id="14" name="Text 11"/>
          <p:cNvSpPr/>
          <p:nvPr/>
        </p:nvSpPr>
        <p:spPr>
          <a:xfrm>
            <a:off x="640080" y="5852160"/>
            <a:ext cx="10908792"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Renewal = the moment a customer decides whether to keep paying. CSM = customer success manager.</a:t>
            </a:r>
            <a:endParaRPr lang="en-US" sz="1100" dirty="0"/>
          </a:p>
        </p:txBody>
      </p:sp>
      <p:sp>
        <p:nvSpPr>
          <p:cNvPr id="25" name="Slide Number Placeholder 0"/>
          <p:cNvSpPr>
            <a:spLocks noGrp="1"/>
          </p:cNvSpPr>
          <p:nvPr>
            <p:ph type="sldNum" sz="quarter" idx="4294967295"/>
          </p:nvPr>
        </p:nvSpPr>
        <p:spPr>
          <a:xfrm>
            <a:off x="1088136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274320"/>
          </a:xfrm>
          <a:prstGeom prst="rect">
            <a:avLst/>
          </a:prstGeom>
          <a:noFill/>
          <a:ln/>
        </p:spPr>
        <p:txBody>
          <a:bodyPr wrap="square" rtlCol="0" anchor="ctr"/>
          <a:lstStyle/>
          <a:p>
            <a:pPr indent="0" marL="0">
              <a:buNone/>
            </a:pPr>
            <a:r>
              <a:rPr lang="en-US" sz="1200" b="1" spc="300" kern="0" dirty="0">
                <a:solidFill>
                  <a:srgbClr val="3B4BD8"/>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658368"/>
            <a:ext cx="10908792" cy="868680"/>
          </a:xfrm>
          <a:prstGeom prst="rect">
            <a:avLst/>
          </a:prstGeom>
          <a:noFill/>
          <a:ln/>
        </p:spPr>
        <p:txBody>
          <a:bodyPr wrap="square" rtlCol="0" anchor="t"/>
          <a:lstStyle/>
          <a:p>
            <a:pPr indent="0" marL="0">
              <a:buNone/>
            </a:pPr>
            <a:r>
              <a:rPr lang="en-US" sz="2800" b="1" dirty="0">
                <a:solidFill>
                  <a:srgbClr val="111827"/>
                </a:solidFill>
                <a:latin typeface="Calibri" pitchFamily="34" charset="0"/>
                <a:ea typeface="Calibri" pitchFamily="34" charset="-122"/>
                <a:cs typeface="Calibri" pitchFamily="34" charset="-120"/>
              </a:rPr>
              <a:t>Three places I disagreed with the request</a:t>
            </a:r>
            <a:endParaRPr lang="en-US" sz="2800" dirty="0"/>
          </a:p>
        </p:txBody>
      </p:sp>
      <p:sp>
        <p:nvSpPr>
          <p:cNvPr id="4" name="Text 2"/>
          <p:cNvSpPr/>
          <p:nvPr/>
        </p:nvSpPr>
        <p:spPr>
          <a:xfrm>
            <a:off x="640080" y="641908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Renewal Risk Call List · Fello take-home</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908792" cy="914400"/>
        </p:xfrm>
        <a:graphic>
          <a:graphicData uri="http://schemas.openxmlformats.org/drawingml/2006/table">
            <a:tbl>
              <a:tblPr/>
              <a:tblGrid>
                <a:gridCol w="2651760"/>
                <a:gridCol w="3749040"/>
                <a:gridCol w="4507992"/>
              </a:tblGrid>
              <a:tr h="0">
                <a:tc>
                  <a:txBody>
                    <a:bodyPr/>
                    <a:lstStyle/>
                    <a:p>
                      <a:pPr indent="0" marL="0">
                        <a:buNone/>
                      </a:pPr>
                      <a:r>
                        <a:rPr lang="en-US" sz="1600" b="1" dirty="0">
                          <a:solidFill>
                            <a:srgbClr val="6B7280"/>
                          </a:solidFill>
                          <a:latin typeface="Calibri" pitchFamily="34" charset="0"/>
                          <a:ea typeface="Calibri" pitchFamily="34" charset="-122"/>
                          <a:cs typeface="Calibri" pitchFamily="34" charset="-120"/>
                        </a:rPr>
                        <a:t>Asked for</a:t>
                      </a:r>
                      <a:endParaRPr lang="en-US" sz="1600" dirty="0">
                        <a:latin typeface="Calibri" charset="0"/>
                        <a:ea typeface="Calibri" charset="0"/>
                        <a:cs typeface="Calibri" charset="0"/>
                      </a:endParaRPr>
                    </a:p>
                  </a:txBody>
                  <a:tcPr marL="146304" marR="146304" marT="128016" marB="12801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4F5FB"/>
                    </a:solidFill>
                  </a:tcPr>
                </a:tc>
                <a:tc>
                  <a:txBody>
                    <a:bodyPr/>
                    <a:lstStyle/>
                    <a:p>
                      <a:pPr indent="0" marL="0">
                        <a:buNone/>
                      </a:pPr>
                      <a:r>
                        <a:rPr lang="en-US" sz="1600" b="1" dirty="0">
                          <a:solidFill>
                            <a:srgbClr val="6B7280"/>
                          </a:solidFill>
                          <a:latin typeface="Calibri" pitchFamily="34" charset="0"/>
                          <a:ea typeface="Calibri" pitchFamily="34" charset="-122"/>
                          <a:cs typeface="Calibri" pitchFamily="34" charset="-120"/>
                        </a:rPr>
                        <a:t>The problem</a:t>
                      </a:r>
                      <a:endParaRPr lang="en-US" sz="1600" dirty="0">
                        <a:latin typeface="Calibri" charset="0"/>
                        <a:ea typeface="Calibri" charset="0"/>
                        <a:cs typeface="Calibri" charset="0"/>
                      </a:endParaRPr>
                    </a:p>
                  </a:txBody>
                  <a:tcPr marL="146304" marR="146304" marT="128016" marB="12801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4F5FB"/>
                    </a:solidFill>
                  </a:tcPr>
                </a:tc>
                <a:tc>
                  <a:txBody>
                    <a:bodyPr/>
                    <a:lstStyle/>
                    <a:p>
                      <a:pPr indent="0" marL="0">
                        <a:buNone/>
                      </a:pPr>
                      <a:r>
                        <a:rPr lang="en-US" sz="1600" b="1" dirty="0">
                          <a:solidFill>
                            <a:srgbClr val="6B7280"/>
                          </a:solidFill>
                          <a:latin typeface="Calibri" pitchFamily="34" charset="0"/>
                          <a:ea typeface="Calibri" pitchFamily="34" charset="-122"/>
                          <a:cs typeface="Calibri" pitchFamily="34" charset="-120"/>
                        </a:rPr>
                        <a:t>What I did instead</a:t>
                      </a:r>
                      <a:endParaRPr lang="en-US" sz="1600" dirty="0">
                        <a:latin typeface="Calibri" charset="0"/>
                        <a:ea typeface="Calibri" charset="0"/>
                        <a:cs typeface="Calibri" charset="0"/>
                      </a:endParaRPr>
                    </a:p>
                  </a:txBody>
                  <a:tcPr marL="146304" marR="146304" marT="128016" marB="12801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4F5FB"/>
                    </a:solidFill>
                  </a:tcPr>
                </a:tc>
              </a:tr>
              <a:tr h="0">
                <a:tc>
                  <a:txBody>
                    <a:bodyPr/>
                    <a:lstStyle/>
                    <a:p>
                      <a:pPr indent="0" marL="0">
                        <a:buNone/>
                      </a:pPr>
                      <a:r>
                        <a:rPr lang="en-US" sz="1600" b="1" dirty="0">
                          <a:solidFill>
                            <a:srgbClr val="111827"/>
                          </a:solidFill>
                          <a:latin typeface="Calibri" pitchFamily="34" charset="0"/>
                          <a:ea typeface="Calibri" pitchFamily="34" charset="-122"/>
                          <a:cs typeface="Calibri" pitchFamily="34" charset="-120"/>
                        </a:rPr>
                        <a:t>Red / yellow / green score</a:t>
                      </a:r>
                      <a:endParaRPr lang="en-US" sz="1600" dirty="0">
                        <a:latin typeface="Calibri" charset="0"/>
                        <a:ea typeface="Calibri" charset="0"/>
                        <a:cs typeface="Calibri" charset="0"/>
                      </a:endParaRPr>
                    </a:p>
                  </a:txBody>
                  <a:tcPr marL="146304" marR="146304" marT="128016" marB="12801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A colour does not say how sure we are, or how much money is at stake</a:t>
                      </a:r>
                      <a:endParaRPr lang="en-US" sz="1600" dirty="0">
                        <a:latin typeface="Calibri" charset="0"/>
                        <a:ea typeface="Calibri" charset="0"/>
                        <a:cs typeface="Calibri" charset="0"/>
                      </a:endParaRPr>
                    </a:p>
                  </a:txBody>
                  <a:tcPr marL="146304" marR="146304" marT="128016" marB="12801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Rank by chance of leaving × contract value. Colours are only cut-offs on that ranking</a:t>
                      </a:r>
                      <a:endParaRPr lang="en-US" sz="1600" dirty="0">
                        <a:latin typeface="Calibri" charset="0"/>
                        <a:ea typeface="Calibri" charset="0"/>
                        <a:cs typeface="Calibri" charset="0"/>
                      </a:endParaRPr>
                    </a:p>
                  </a:txBody>
                  <a:tcPr marL="146304" marR="146304" marT="128016" marB="12801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0">
                <a:tc>
                  <a:txBody>
                    <a:bodyPr/>
                    <a:lstStyle/>
                    <a:p>
                      <a:pPr indent="0" marL="0">
                        <a:buNone/>
                      </a:pPr>
                      <a:r>
                        <a:rPr lang="en-US" sz="1600" b="1" dirty="0">
                          <a:solidFill>
                            <a:srgbClr val="111827"/>
                          </a:solidFill>
                          <a:latin typeface="Calibri" pitchFamily="34" charset="0"/>
                          <a:ea typeface="Calibri" pitchFamily="34" charset="-122"/>
                          <a:cs typeface="Calibri" pitchFamily="34" charset="-120"/>
                        </a:rPr>
                        <a:t>Email customers who turn red</a:t>
                      </a:r>
                      <a:endParaRPr lang="en-US" sz="1600" dirty="0">
                        <a:latin typeface="Calibri" charset="0"/>
                        <a:ea typeface="Calibri" charset="0"/>
                        <a:cs typeface="Calibri" charset="0"/>
                      </a:endParaRPr>
                    </a:p>
                  </a:txBody>
                  <a:tcPr marL="146304" marR="146304" marT="128016" marB="12801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"We think you are leaving" can cause the loss it is meant to prevent</a:t>
                      </a:r>
                      <a:endParaRPr lang="en-US" sz="1600" dirty="0">
                        <a:latin typeface="Calibri" charset="0"/>
                        <a:ea typeface="Calibri" charset="0"/>
                        <a:cs typeface="Calibri" charset="0"/>
                      </a:endParaRPr>
                    </a:p>
                  </a:txBody>
                  <a:tcPr marL="146304" marR="146304" marT="128016" marB="12801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The manager gets an alert and decides. The only automatic email is a card-update reminder after a failed payment</a:t>
                      </a:r>
                      <a:endParaRPr lang="en-US" sz="1600" dirty="0">
                        <a:latin typeface="Calibri" charset="0"/>
                        <a:ea typeface="Calibri" charset="0"/>
                        <a:cs typeface="Calibri" charset="0"/>
                      </a:endParaRPr>
                    </a:p>
                  </a:txBody>
                  <a:tcPr marL="146304" marR="146304" marT="128016" marB="12801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0">
                <a:tc>
                  <a:txBody>
                    <a:bodyPr/>
                    <a:lstStyle/>
                    <a:p>
                      <a:pPr indent="0" marL="0">
                        <a:buNone/>
                      </a:pPr>
                      <a:r>
                        <a:rPr lang="en-US" sz="1600" b="1" dirty="0">
                          <a:solidFill>
                            <a:srgbClr val="111827"/>
                          </a:solidFill>
                          <a:latin typeface="Calibri" pitchFamily="34" charset="0"/>
                          <a:ea typeface="Calibri" pitchFamily="34" charset="-122"/>
                          <a:cs typeface="Calibri" pitchFamily="34" charset="-120"/>
                        </a:rPr>
                        <a:t>"Nothing should slip"</a:t>
                      </a:r>
                      <a:endParaRPr lang="en-US" sz="1600" dirty="0">
                        <a:latin typeface="Calibri" charset="0"/>
                        <a:ea typeface="Calibri" charset="0"/>
                        <a:cs typeface="Calibri" charset="0"/>
                      </a:endParaRPr>
                    </a:p>
                  </a:txBody>
                  <a:tcPr marL="146304" marR="146304" marT="128016" marB="12801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No system can guarantee every risky customer is called or saved</a:t>
                      </a:r>
                      <a:endParaRPr lang="en-US" sz="1600" dirty="0">
                        <a:latin typeface="Calibri" charset="0"/>
                        <a:ea typeface="Calibri" charset="0"/>
                        <a:cs typeface="Calibri" charset="0"/>
                      </a:endParaRPr>
                    </a:p>
                  </a:txBody>
                  <a:tcPr marL="146304" marR="146304" marT="128016" marB="12801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600" dirty="0">
                          <a:solidFill>
                            <a:srgbClr val="111827"/>
                          </a:solidFill>
                          <a:latin typeface="Calibri" pitchFamily="34" charset="0"/>
                          <a:ea typeface="Calibri" pitchFamily="34" charset="-122"/>
                          <a:cs typeface="Calibri" pitchFamily="34" charset="-120"/>
                        </a:rPr>
                        <a:t>No renewal is missed because clues were scattered: each one shows as a call, on the watch list, or "not scored" with the reason</a:t>
                      </a:r>
                      <a:endParaRPr lang="en-US" sz="1600" dirty="0">
                        <a:latin typeface="Calibri" charset="0"/>
                        <a:ea typeface="Calibri" charset="0"/>
                        <a:cs typeface="Calibri" charset="0"/>
                      </a:endParaRPr>
                    </a:p>
                  </a:txBody>
                  <a:tcPr marL="146304" marR="146304" marT="128016" marB="12801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88136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274320"/>
          </a:xfrm>
          <a:prstGeom prst="rect">
            <a:avLst/>
          </a:prstGeom>
          <a:noFill/>
          <a:ln/>
        </p:spPr>
        <p:txBody>
          <a:bodyPr wrap="square" rtlCol="0" anchor="ctr"/>
          <a:lstStyle/>
          <a:p>
            <a:pPr indent="0" marL="0">
              <a:buNone/>
            </a:pPr>
            <a:r>
              <a:rPr lang="en-US" sz="1200" b="1" spc="300" kern="0" dirty="0">
                <a:solidFill>
                  <a:srgbClr val="3B4BD8"/>
                </a:solidFill>
                <a:latin typeface="Calibri" pitchFamily="34" charset="0"/>
                <a:ea typeface="Calibri" pitchFamily="34" charset="-122"/>
                <a:cs typeface="Calibri" pitchFamily="34" charset="-120"/>
              </a:rPr>
              <a:t>THE RESULT</a:t>
            </a:r>
            <a:endParaRPr lang="en-US" sz="1200" dirty="0"/>
          </a:p>
        </p:txBody>
      </p:sp>
      <p:sp>
        <p:nvSpPr>
          <p:cNvPr id="3" name="Text 1"/>
          <p:cNvSpPr/>
          <p:nvPr/>
        </p:nvSpPr>
        <p:spPr>
          <a:xfrm>
            <a:off x="640080" y="658368"/>
            <a:ext cx="8778240" cy="868680"/>
          </a:xfrm>
          <a:prstGeom prst="rect">
            <a:avLst/>
          </a:prstGeom>
          <a:noFill/>
          <a:ln/>
        </p:spPr>
        <p:txBody>
          <a:bodyPr wrap="square" rtlCol="0" anchor="t"/>
          <a:lstStyle/>
          <a:p>
            <a:pPr indent="0" marL="0">
              <a:buNone/>
            </a:pPr>
            <a:r>
              <a:rPr lang="en-US" sz="2800" b="1" dirty="0">
                <a:solidFill>
                  <a:srgbClr val="111827"/>
                </a:solidFill>
                <a:latin typeface="Calibri" pitchFamily="34" charset="0"/>
                <a:ea typeface="Calibri" pitchFamily="34" charset="-122"/>
                <a:cs typeface="Calibri" pitchFamily="34" charset="-120"/>
              </a:rPr>
              <a:t>Every Monday: a short call list, with reasons</a:t>
            </a:r>
            <a:endParaRPr lang="en-US" sz="2800" dirty="0"/>
          </a:p>
        </p:txBody>
      </p:sp>
      <p:sp>
        <p:nvSpPr>
          <p:cNvPr id="4" name="Text 2"/>
          <p:cNvSpPr/>
          <p:nvPr/>
        </p:nvSpPr>
        <p:spPr>
          <a:xfrm>
            <a:off x="9902952" y="411480"/>
            <a:ext cx="1645920" cy="347472"/>
          </a:xfrm>
          <a:prstGeom prst="rect">
            <a:avLst/>
          </a:prstGeom>
          <a:solidFill>
            <a:srgbClr val="3B4BD8"/>
          </a:solid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LIVE DEMO</a:t>
            </a:r>
            <a:endParaRPr lang="en-US" sz="1200" dirty="0"/>
          </a:p>
        </p:txBody>
      </p:sp>
      <p:sp>
        <p:nvSpPr>
          <p:cNvPr id="5" name="Text 3"/>
          <p:cNvSpPr/>
          <p:nvPr/>
        </p:nvSpPr>
        <p:spPr>
          <a:xfrm>
            <a:off x="640080" y="641908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Renewal Risk Call List · Fello take-home</a:t>
            </a:r>
            <a:endParaRPr lang="en-US" sz="1000" dirty="0"/>
          </a:p>
        </p:txBody>
      </p:sp>
      <p:pic>
        <p:nvPicPr>
          <p:cNvPr id="7" name="Image 0" descr="/home/udhayakumar/projects/interviews/assignments/fello-take-home/docs/screenshots/e2e/06-desktop-list-final.png">    </p:cNvPr>
          <p:cNvPicPr>
            <a:picLocks noChangeAspect="1"/>
          </p:cNvPicPr>
          <p:nvPr/>
        </p:nvPicPr>
        <p:blipFill>
          <a:blip r:embed="rId1"/>
          <a:stretch>
            <a:fillRect/>
          </a:stretch>
        </p:blipFill>
        <p:spPr>
          <a:xfrm>
            <a:off x="640080" y="1737360"/>
            <a:ext cx="6766560" cy="4014216"/>
          </a:xfrm>
          <a:prstGeom prst="rect">
            <a:avLst/>
          </a:prstGeom>
        </p:spPr>
      </p:pic>
      <p:sp>
        <p:nvSpPr>
          <p:cNvPr id="8" name="Text 4"/>
          <p:cNvSpPr/>
          <p:nvPr/>
        </p:nvSpPr>
        <p:spPr>
          <a:xfrm>
            <a:off x="7680960" y="1783080"/>
            <a:ext cx="3840480" cy="320040"/>
          </a:xfrm>
          <a:prstGeom prst="rect">
            <a:avLst/>
          </a:prstGeom>
          <a:noFill/>
          <a:ln/>
        </p:spPr>
        <p:txBody>
          <a:bodyPr wrap="square" rtlCol="0" anchor="ctr"/>
          <a:lstStyle/>
          <a:p>
            <a:pPr indent="0" marL="0">
              <a:buNone/>
            </a:pPr>
            <a:r>
              <a:rPr lang="en-US" sz="1500" b="1" dirty="0">
                <a:solidFill>
                  <a:srgbClr val="3B4BD8"/>
                </a:solidFill>
                <a:latin typeface="Calibri" pitchFamily="34" charset="0"/>
                <a:ea typeface="Calibri" pitchFamily="34" charset="-122"/>
                <a:cs typeface="Calibri" pitchFamily="34" charset="-120"/>
              </a:rPr>
              <a:t>Top 15 = this week's calls</a:t>
            </a:r>
            <a:endParaRPr lang="en-US" sz="1500" dirty="0"/>
          </a:p>
        </p:txBody>
      </p:sp>
      <p:sp>
        <p:nvSpPr>
          <p:cNvPr id="9" name="Text 5"/>
          <p:cNvSpPr/>
          <p:nvPr/>
        </p:nvSpPr>
        <p:spPr>
          <a:xfrm>
            <a:off x="7680960" y="2112264"/>
            <a:ext cx="3840480" cy="594360"/>
          </a:xfrm>
          <a:prstGeom prst="rect">
            <a:avLst/>
          </a:prstGeom>
          <a:noFill/>
          <a:ln/>
        </p:spPr>
        <p:txBody>
          <a:bodyPr wrap="square" rtlCol="0" anchor="t"/>
          <a:lstStyle/>
          <a:p>
            <a:pPr indent="0" marL="0">
              <a:buNone/>
            </a:pPr>
            <a:r>
              <a:rPr lang="en-US" sz="1300" dirty="0">
                <a:solidFill>
                  <a:srgbClr val="111827"/>
                </a:solidFill>
                <a:latin typeface="Calibri" pitchFamily="34" charset="0"/>
                <a:ea typeface="Calibri" pitchFamily="34" charset="-122"/>
                <a:cs typeface="Calibri" pitchFamily="34" charset="-120"/>
              </a:rPr>
              <a:t>Sorted by money at risk: chance of leaving × what the customer pays.</a:t>
            </a:r>
            <a:endParaRPr lang="en-US" sz="1300" dirty="0"/>
          </a:p>
        </p:txBody>
      </p:sp>
      <p:sp>
        <p:nvSpPr>
          <p:cNvPr id="10" name="Text 6"/>
          <p:cNvSpPr/>
          <p:nvPr/>
        </p:nvSpPr>
        <p:spPr>
          <a:xfrm>
            <a:off x="7680960" y="2788920"/>
            <a:ext cx="3840480" cy="320040"/>
          </a:xfrm>
          <a:prstGeom prst="rect">
            <a:avLst/>
          </a:prstGeom>
          <a:noFill/>
          <a:ln/>
        </p:spPr>
        <p:txBody>
          <a:bodyPr wrap="square" rtlCol="0" anchor="ctr"/>
          <a:lstStyle/>
          <a:p>
            <a:pPr indent="0" marL="0">
              <a:buNone/>
            </a:pPr>
            <a:r>
              <a:rPr lang="en-US" sz="1500" b="1" dirty="0">
                <a:solidFill>
                  <a:srgbClr val="3B4BD8"/>
                </a:solidFill>
                <a:latin typeface="Calibri" pitchFamily="34" charset="0"/>
                <a:ea typeface="Calibri" pitchFamily="34" charset="-122"/>
                <a:cs typeface="Calibri" pitchFamily="34" charset="-120"/>
              </a:rPr>
              <a:t>Reasons in plain words</a:t>
            </a:r>
            <a:endParaRPr lang="en-US" sz="1500" dirty="0"/>
          </a:p>
        </p:txBody>
      </p:sp>
      <p:sp>
        <p:nvSpPr>
          <p:cNvPr id="11" name="Text 7"/>
          <p:cNvSpPr/>
          <p:nvPr/>
        </p:nvSpPr>
        <p:spPr>
          <a:xfrm>
            <a:off x="7680960" y="3118104"/>
            <a:ext cx="3840480" cy="594360"/>
          </a:xfrm>
          <a:prstGeom prst="rect">
            <a:avLst/>
          </a:prstGeom>
          <a:noFill/>
          <a:ln/>
        </p:spPr>
        <p:txBody>
          <a:bodyPr wrap="square" rtlCol="0" anchor="t"/>
          <a:lstStyle/>
          <a:p>
            <a:pPr indent="0" marL="0">
              <a:buNone/>
            </a:pPr>
            <a:r>
              <a:rPr lang="en-US" sz="1300" dirty="0">
                <a:solidFill>
                  <a:srgbClr val="111827"/>
                </a:solidFill>
                <a:latin typeface="Calibri" pitchFamily="34" charset="0"/>
                <a:ea typeface="Calibri" pitchFamily="34" charset="-122"/>
                <a:cs typeface="Calibri" pitchFamily="34" charset="-120"/>
              </a:rPr>
              <a:t>Each row says why, so the call has a talking point.</a:t>
            </a:r>
            <a:endParaRPr lang="en-US" sz="1300" dirty="0"/>
          </a:p>
        </p:txBody>
      </p:sp>
      <p:sp>
        <p:nvSpPr>
          <p:cNvPr id="12" name="Text 8"/>
          <p:cNvSpPr/>
          <p:nvPr/>
        </p:nvSpPr>
        <p:spPr>
          <a:xfrm>
            <a:off x="7680960" y="3794760"/>
            <a:ext cx="3840480" cy="320040"/>
          </a:xfrm>
          <a:prstGeom prst="rect">
            <a:avLst/>
          </a:prstGeom>
          <a:noFill/>
          <a:ln/>
        </p:spPr>
        <p:txBody>
          <a:bodyPr wrap="square" rtlCol="0" anchor="ctr"/>
          <a:lstStyle/>
          <a:p>
            <a:pPr indent="0" marL="0">
              <a:buNone/>
            </a:pPr>
            <a:r>
              <a:rPr lang="en-US" sz="1500" b="1" dirty="0">
                <a:solidFill>
                  <a:srgbClr val="3B4BD8"/>
                </a:solidFill>
                <a:latin typeface="Calibri" pitchFamily="34" charset="0"/>
                <a:ea typeface="Calibri" pitchFamily="34" charset="-122"/>
                <a:cs typeface="Calibri" pitchFamily="34" charset="-120"/>
              </a:rPr>
              <a:t>Not scored is not safe</a:t>
            </a:r>
            <a:endParaRPr lang="en-US" sz="1500" dirty="0"/>
          </a:p>
        </p:txBody>
      </p:sp>
      <p:sp>
        <p:nvSpPr>
          <p:cNvPr id="13" name="Text 9"/>
          <p:cNvSpPr/>
          <p:nvPr/>
        </p:nvSpPr>
        <p:spPr>
          <a:xfrm>
            <a:off x="7680960" y="4123944"/>
            <a:ext cx="3840480" cy="594360"/>
          </a:xfrm>
          <a:prstGeom prst="rect">
            <a:avLst/>
          </a:prstGeom>
          <a:noFill/>
          <a:ln/>
        </p:spPr>
        <p:txBody>
          <a:bodyPr wrap="square" rtlCol="0" anchor="t"/>
          <a:lstStyle/>
          <a:p>
            <a:pPr indent="0" marL="0">
              <a:buNone/>
            </a:pPr>
            <a:r>
              <a:rPr lang="en-US" sz="1300" dirty="0">
                <a:solidFill>
                  <a:srgbClr val="111827"/>
                </a:solidFill>
                <a:latin typeface="Calibri" pitchFamily="34" charset="0"/>
                <a:ea typeface="Calibri" pitchFamily="34" charset="-122"/>
                <a:cs typeface="Calibri" pitchFamily="34" charset="-120"/>
              </a:rPr>
              <a:t>Customers we cannot score are listed with the reason.</a:t>
            </a:r>
            <a:endParaRPr lang="en-US" sz="1300" dirty="0"/>
          </a:p>
        </p:txBody>
      </p:sp>
      <p:sp>
        <p:nvSpPr>
          <p:cNvPr id="14" name="Text 10"/>
          <p:cNvSpPr/>
          <p:nvPr/>
        </p:nvSpPr>
        <p:spPr>
          <a:xfrm>
            <a:off x="7680960" y="4800600"/>
            <a:ext cx="3840480" cy="320040"/>
          </a:xfrm>
          <a:prstGeom prst="rect">
            <a:avLst/>
          </a:prstGeom>
          <a:noFill/>
          <a:ln/>
        </p:spPr>
        <p:txBody>
          <a:bodyPr wrap="square" rtlCol="0" anchor="ctr"/>
          <a:lstStyle/>
          <a:p>
            <a:pPr indent="0" marL="0">
              <a:buNone/>
            </a:pPr>
            <a:r>
              <a:rPr lang="en-US" sz="1500" b="1" dirty="0">
                <a:solidFill>
                  <a:srgbClr val="3B4BD8"/>
                </a:solidFill>
                <a:latin typeface="Calibri" pitchFamily="34" charset="0"/>
                <a:ea typeface="Calibri" pitchFamily="34" charset="-122"/>
                <a:cs typeface="Calibri" pitchFamily="34" charset="-120"/>
              </a:rPr>
              <a:t>One button after a call</a:t>
            </a:r>
            <a:endParaRPr lang="en-US" sz="1500" dirty="0"/>
          </a:p>
        </p:txBody>
      </p:sp>
      <p:sp>
        <p:nvSpPr>
          <p:cNvPr id="15" name="Text 11"/>
          <p:cNvSpPr/>
          <p:nvPr/>
        </p:nvSpPr>
        <p:spPr>
          <a:xfrm>
            <a:off x="7680960" y="5129784"/>
            <a:ext cx="3840480" cy="594360"/>
          </a:xfrm>
          <a:prstGeom prst="rect">
            <a:avLst/>
          </a:prstGeom>
          <a:noFill/>
          <a:ln/>
        </p:spPr>
        <p:txBody>
          <a:bodyPr wrap="square" rtlCol="0" anchor="t"/>
          <a:lstStyle/>
          <a:p>
            <a:pPr indent="0" marL="0">
              <a:buNone/>
            </a:pPr>
            <a:r>
              <a:rPr lang="en-US" sz="1300" dirty="0">
                <a:solidFill>
                  <a:srgbClr val="111827"/>
                </a:solidFill>
                <a:latin typeface="Calibri" pitchFamily="34" charset="0"/>
                <a:ea typeface="Calibri" pitchFamily="34" charset="-122"/>
                <a:cs typeface="Calibri" pitchFamily="34" charset="-120"/>
              </a:rPr>
              <a:t>The customer drops off and the next one moves up.</a:t>
            </a:r>
            <a:endParaRPr lang="en-US" sz="1300" dirty="0"/>
          </a:p>
        </p:txBody>
      </p:sp>
      <p:sp>
        <p:nvSpPr>
          <p:cNvPr id="25" name="Slide Number Placeholder 0"/>
          <p:cNvSpPr>
            <a:spLocks noGrp="1"/>
          </p:cNvSpPr>
          <p:nvPr>
            <p:ph type="sldNum" sz="quarter" idx="4294967295"/>
          </p:nvPr>
        </p:nvSpPr>
        <p:spPr>
          <a:xfrm>
            <a:off x="1088136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274320"/>
          </a:xfrm>
          <a:prstGeom prst="rect">
            <a:avLst/>
          </a:prstGeom>
          <a:noFill/>
          <a:ln/>
        </p:spPr>
        <p:txBody>
          <a:bodyPr wrap="square" rtlCol="0" anchor="ctr"/>
          <a:lstStyle/>
          <a:p>
            <a:pPr indent="0" marL="0">
              <a:buNone/>
            </a:pPr>
            <a:r>
              <a:rPr lang="en-US" sz="1200" b="1" spc="300" kern="0" dirty="0">
                <a:solidFill>
                  <a:srgbClr val="3B4BD8"/>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640080" y="658368"/>
            <a:ext cx="10908792" cy="868680"/>
          </a:xfrm>
          <a:prstGeom prst="rect">
            <a:avLst/>
          </a:prstGeom>
          <a:noFill/>
          <a:ln/>
        </p:spPr>
        <p:txBody>
          <a:bodyPr wrap="square" rtlCol="0" anchor="t"/>
          <a:lstStyle/>
          <a:p>
            <a:pPr indent="0" marL="0">
              <a:buNone/>
            </a:pPr>
            <a:r>
              <a:rPr lang="en-US" sz="2800" b="1" dirty="0">
                <a:solidFill>
                  <a:srgbClr val="111827"/>
                </a:solidFill>
                <a:latin typeface="Calibri" pitchFamily="34" charset="0"/>
                <a:ea typeface="Calibri" pitchFamily="34" charset="-122"/>
                <a:cs typeface="Calibri" pitchFamily="34" charset="-120"/>
              </a:rPr>
              <a:t>Six steps turn scattered data into that list</a:t>
            </a:r>
            <a:endParaRPr lang="en-US" sz="2800" dirty="0"/>
          </a:p>
        </p:txBody>
      </p:sp>
      <p:sp>
        <p:nvSpPr>
          <p:cNvPr id="4" name="Text 2"/>
          <p:cNvSpPr/>
          <p:nvPr/>
        </p:nvSpPr>
        <p:spPr>
          <a:xfrm>
            <a:off x="640080" y="641908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Renewal Risk Call List · Fello take-home</a:t>
            </a:r>
            <a:endParaRPr lang="en-US" sz="1000" dirty="0"/>
          </a:p>
        </p:txBody>
      </p:sp>
      <p:sp>
        <p:nvSpPr>
          <p:cNvPr id="6" name="Shape 3"/>
          <p:cNvSpPr/>
          <p:nvPr/>
        </p:nvSpPr>
        <p:spPr>
          <a:xfrm>
            <a:off x="685800" y="1828800"/>
            <a:ext cx="502920" cy="502920"/>
          </a:xfrm>
          <a:prstGeom prst="ellipse">
            <a:avLst/>
          </a:prstGeom>
          <a:solidFill>
            <a:srgbClr val="111827"/>
          </a:solidFill>
          <a:ln w="12700">
            <a:solidFill>
              <a:srgbClr val="111827"/>
            </a:solidFill>
            <a:prstDash val="solid"/>
          </a:ln>
        </p:spPr>
      </p:sp>
      <p:sp>
        <p:nvSpPr>
          <p:cNvPr id="7" name="Text 4"/>
          <p:cNvSpPr/>
          <p:nvPr/>
        </p:nvSpPr>
        <p:spPr>
          <a:xfrm>
            <a:off x="685800" y="182880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5"/>
          <p:cNvSpPr/>
          <p:nvPr/>
        </p:nvSpPr>
        <p:spPr>
          <a:xfrm>
            <a:off x="640080" y="2468880"/>
            <a:ext cx="1673352" cy="36576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Collect</a:t>
            </a:r>
            <a:endParaRPr lang="en-US" sz="1800" dirty="0"/>
          </a:p>
        </p:txBody>
      </p:sp>
      <p:sp>
        <p:nvSpPr>
          <p:cNvPr id="9" name="Text 6"/>
          <p:cNvSpPr/>
          <p:nvPr/>
        </p:nvSpPr>
        <p:spPr>
          <a:xfrm>
            <a:off x="640080" y="2880360"/>
            <a:ext cx="1673352" cy="1737360"/>
          </a:xfrm>
          <a:prstGeom prst="rect">
            <a:avLst/>
          </a:prstGeom>
          <a:noFill/>
          <a:ln/>
        </p:spPr>
        <p:txBody>
          <a:bodyPr wrap="square" rtlCol="0" anchor="t"/>
          <a:lstStyle/>
          <a:p>
            <a:pPr indent="0" marL="0">
              <a:buNone/>
            </a:pPr>
            <a:r>
              <a:rPr lang="en-US" sz="1300" dirty="0">
                <a:solidFill>
                  <a:srgbClr val="111827"/>
                </a:solidFill>
                <a:latin typeface="Calibri" pitchFamily="34" charset="0"/>
                <a:ea typeface="Calibri" pitchFamily="34" charset="-122"/>
                <a:cs typeface="Calibri" pitchFamily="34" charset="-120"/>
              </a:rPr>
              <a:t>Five tools: sales, support, product use, payments, email. About 201,000 records, messy on purpose</a:t>
            </a:r>
            <a:endParaRPr lang="en-US" sz="1300" dirty="0"/>
          </a:p>
        </p:txBody>
      </p:sp>
      <p:sp>
        <p:nvSpPr>
          <p:cNvPr id="10" name="Shape 7"/>
          <p:cNvSpPr/>
          <p:nvPr/>
        </p:nvSpPr>
        <p:spPr>
          <a:xfrm>
            <a:off x="2532888" y="1828800"/>
            <a:ext cx="502920" cy="502920"/>
          </a:xfrm>
          <a:prstGeom prst="ellipse">
            <a:avLst/>
          </a:prstGeom>
          <a:solidFill>
            <a:srgbClr val="111827"/>
          </a:solidFill>
          <a:ln w="12700">
            <a:solidFill>
              <a:srgbClr val="111827"/>
            </a:solidFill>
            <a:prstDash val="solid"/>
          </a:ln>
        </p:spPr>
      </p:sp>
      <p:sp>
        <p:nvSpPr>
          <p:cNvPr id="11" name="Text 8"/>
          <p:cNvSpPr/>
          <p:nvPr/>
        </p:nvSpPr>
        <p:spPr>
          <a:xfrm>
            <a:off x="2532888" y="182880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9"/>
          <p:cNvSpPr/>
          <p:nvPr/>
        </p:nvSpPr>
        <p:spPr>
          <a:xfrm>
            <a:off x="2487168" y="2468880"/>
            <a:ext cx="1673352" cy="36576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Match</a:t>
            </a:r>
            <a:endParaRPr lang="en-US" sz="1800" dirty="0"/>
          </a:p>
        </p:txBody>
      </p:sp>
      <p:sp>
        <p:nvSpPr>
          <p:cNvPr id="13" name="Text 10"/>
          <p:cNvSpPr/>
          <p:nvPr/>
        </p:nvSpPr>
        <p:spPr>
          <a:xfrm>
            <a:off x="2487168" y="2880360"/>
            <a:ext cx="1673352" cy="1737360"/>
          </a:xfrm>
          <a:prstGeom prst="rect">
            <a:avLst/>
          </a:prstGeom>
          <a:noFill/>
          <a:ln/>
        </p:spPr>
        <p:txBody>
          <a:bodyPr wrap="square" rtlCol="0" anchor="t"/>
          <a:lstStyle/>
          <a:p>
            <a:pPr indent="0" marL="0">
              <a:buNone/>
            </a:pPr>
            <a:r>
              <a:rPr lang="en-US" sz="1300" dirty="0">
                <a:solidFill>
                  <a:srgbClr val="111827"/>
                </a:solidFill>
                <a:latin typeface="Calibri" pitchFamily="34" charset="0"/>
                <a:ea typeface="Calibri" pitchFamily="34" charset="-122"/>
                <a:cs typeface="Calibri" pitchFamily="34" charset="-120"/>
              </a:rPr>
              <a:t>Link each record to one customer by email domain, then company name. Unmatched records are kept for review</a:t>
            </a:r>
            <a:endParaRPr lang="en-US" sz="1300" dirty="0"/>
          </a:p>
        </p:txBody>
      </p:sp>
      <p:sp>
        <p:nvSpPr>
          <p:cNvPr id="14" name="Shape 11"/>
          <p:cNvSpPr/>
          <p:nvPr/>
        </p:nvSpPr>
        <p:spPr>
          <a:xfrm>
            <a:off x="4379976" y="1828800"/>
            <a:ext cx="502920" cy="502920"/>
          </a:xfrm>
          <a:prstGeom prst="ellipse">
            <a:avLst/>
          </a:prstGeom>
          <a:solidFill>
            <a:srgbClr val="111827"/>
          </a:solidFill>
          <a:ln w="12700">
            <a:solidFill>
              <a:srgbClr val="111827"/>
            </a:solidFill>
            <a:prstDash val="solid"/>
          </a:ln>
        </p:spPr>
      </p:sp>
      <p:sp>
        <p:nvSpPr>
          <p:cNvPr id="15" name="Text 12"/>
          <p:cNvSpPr/>
          <p:nvPr/>
        </p:nvSpPr>
        <p:spPr>
          <a:xfrm>
            <a:off x="4379976" y="182880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3"/>
          <p:cNvSpPr/>
          <p:nvPr/>
        </p:nvSpPr>
        <p:spPr>
          <a:xfrm>
            <a:off x="4334256" y="2468880"/>
            <a:ext cx="1673352" cy="36576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Summarise</a:t>
            </a:r>
            <a:endParaRPr lang="en-US" sz="1800" dirty="0"/>
          </a:p>
        </p:txBody>
      </p:sp>
      <p:sp>
        <p:nvSpPr>
          <p:cNvPr id="17" name="Text 14"/>
          <p:cNvSpPr/>
          <p:nvPr/>
        </p:nvSpPr>
        <p:spPr>
          <a:xfrm>
            <a:off x="4334256" y="2880360"/>
            <a:ext cx="1673352" cy="1737360"/>
          </a:xfrm>
          <a:prstGeom prst="rect">
            <a:avLst/>
          </a:prstGeom>
          <a:noFill/>
          <a:ln/>
        </p:spPr>
        <p:txBody>
          <a:bodyPr wrap="square" rtlCol="0" anchor="t"/>
          <a:lstStyle/>
          <a:p>
            <a:pPr indent="0" marL="0">
              <a:buNone/>
            </a:pPr>
            <a:r>
              <a:rPr lang="en-US" sz="1300" dirty="0">
                <a:solidFill>
                  <a:srgbClr val="111827"/>
                </a:solidFill>
                <a:latin typeface="Calibri" pitchFamily="34" charset="0"/>
                <a:ea typeface="Calibri" pitchFamily="34" charset="-122"/>
                <a:cs typeface="Calibri" pitchFamily="34" charset="-120"/>
              </a:rPr>
              <a:t>11 simple facts per customer, using only what was known on that date</a:t>
            </a:r>
            <a:endParaRPr lang="en-US" sz="1300" dirty="0"/>
          </a:p>
        </p:txBody>
      </p:sp>
      <p:sp>
        <p:nvSpPr>
          <p:cNvPr id="18" name="Shape 15"/>
          <p:cNvSpPr/>
          <p:nvPr/>
        </p:nvSpPr>
        <p:spPr>
          <a:xfrm>
            <a:off x="6227064" y="1828800"/>
            <a:ext cx="502920" cy="502920"/>
          </a:xfrm>
          <a:prstGeom prst="ellipse">
            <a:avLst/>
          </a:prstGeom>
          <a:solidFill>
            <a:srgbClr val="111827"/>
          </a:solidFill>
          <a:ln w="12700">
            <a:solidFill>
              <a:srgbClr val="111827"/>
            </a:solidFill>
            <a:prstDash val="solid"/>
          </a:ln>
        </p:spPr>
      </p:sp>
      <p:sp>
        <p:nvSpPr>
          <p:cNvPr id="19" name="Text 16"/>
          <p:cNvSpPr/>
          <p:nvPr/>
        </p:nvSpPr>
        <p:spPr>
          <a:xfrm>
            <a:off x="6227064" y="182880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7"/>
          <p:cNvSpPr/>
          <p:nvPr/>
        </p:nvSpPr>
        <p:spPr>
          <a:xfrm>
            <a:off x="6181344" y="2468880"/>
            <a:ext cx="1673352" cy="36576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Score</a:t>
            </a:r>
            <a:endParaRPr lang="en-US" sz="1800" dirty="0"/>
          </a:p>
        </p:txBody>
      </p:sp>
      <p:sp>
        <p:nvSpPr>
          <p:cNvPr id="21" name="Text 18"/>
          <p:cNvSpPr/>
          <p:nvPr/>
        </p:nvSpPr>
        <p:spPr>
          <a:xfrm>
            <a:off x="6181344" y="2880360"/>
            <a:ext cx="1673352" cy="1737360"/>
          </a:xfrm>
          <a:prstGeom prst="rect">
            <a:avLst/>
          </a:prstGeom>
          <a:noFill/>
          <a:ln/>
        </p:spPr>
        <p:txBody>
          <a:bodyPr wrap="square" rtlCol="0" anchor="t"/>
          <a:lstStyle/>
          <a:p>
            <a:pPr indent="0" marL="0">
              <a:buNone/>
            </a:pPr>
            <a:r>
              <a:rPr lang="en-US" sz="1300" dirty="0">
                <a:solidFill>
                  <a:srgbClr val="111827"/>
                </a:solidFill>
                <a:latin typeface="Calibri" pitchFamily="34" charset="0"/>
                <a:ea typeface="Calibri" pitchFamily="34" charset="-122"/>
                <a:cs typeface="Calibri" pitchFamily="34" charset="-120"/>
              </a:rPr>
              <a:t>A chance of leaving, learned from past renewals</a:t>
            </a:r>
            <a:endParaRPr lang="en-US" sz="1300" dirty="0"/>
          </a:p>
        </p:txBody>
      </p:sp>
      <p:sp>
        <p:nvSpPr>
          <p:cNvPr id="22" name="Shape 19"/>
          <p:cNvSpPr/>
          <p:nvPr/>
        </p:nvSpPr>
        <p:spPr>
          <a:xfrm>
            <a:off x="8074152" y="1828800"/>
            <a:ext cx="502920" cy="502920"/>
          </a:xfrm>
          <a:prstGeom prst="ellipse">
            <a:avLst/>
          </a:prstGeom>
          <a:solidFill>
            <a:srgbClr val="111827"/>
          </a:solidFill>
          <a:ln w="12700">
            <a:solidFill>
              <a:srgbClr val="111827"/>
            </a:solidFill>
            <a:prstDash val="solid"/>
          </a:ln>
        </p:spPr>
      </p:sp>
      <p:sp>
        <p:nvSpPr>
          <p:cNvPr id="23" name="Text 20"/>
          <p:cNvSpPr/>
          <p:nvPr/>
        </p:nvSpPr>
        <p:spPr>
          <a:xfrm>
            <a:off x="8074152" y="182880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4" name="Text 21"/>
          <p:cNvSpPr/>
          <p:nvPr/>
        </p:nvSpPr>
        <p:spPr>
          <a:xfrm>
            <a:off x="8028432" y="2468880"/>
            <a:ext cx="1673352" cy="36576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Run nightly</a:t>
            </a:r>
            <a:endParaRPr lang="en-US" sz="1800" dirty="0"/>
          </a:p>
        </p:txBody>
      </p:sp>
      <p:sp>
        <p:nvSpPr>
          <p:cNvPr id="25" name="Text 22"/>
          <p:cNvSpPr/>
          <p:nvPr/>
        </p:nvSpPr>
        <p:spPr>
          <a:xfrm>
            <a:off x="8028432" y="2880360"/>
            <a:ext cx="1673352" cy="1737360"/>
          </a:xfrm>
          <a:prstGeom prst="rect">
            <a:avLst/>
          </a:prstGeom>
          <a:noFill/>
          <a:ln/>
        </p:spPr>
        <p:txBody>
          <a:bodyPr wrap="square" rtlCol="0" anchor="t"/>
          <a:lstStyle/>
          <a:p>
            <a:pPr indent="0" marL="0">
              <a:buNone/>
            </a:pPr>
            <a:r>
              <a:rPr lang="en-US" sz="1300" dirty="0">
                <a:solidFill>
                  <a:srgbClr val="111827"/>
                </a:solidFill>
                <a:latin typeface="Calibri" pitchFamily="34" charset="0"/>
                <a:ea typeface="Calibri" pitchFamily="34" charset="-122"/>
                <a:cs typeface="Calibri" pitchFamily="34" charset="-120"/>
              </a:rPr>
              <a:t>Runs by itself at 2am. Results go live only if the whole run worked</a:t>
            </a:r>
            <a:endParaRPr lang="en-US" sz="1300" dirty="0"/>
          </a:p>
        </p:txBody>
      </p:sp>
      <p:sp>
        <p:nvSpPr>
          <p:cNvPr id="26" name="Shape 23"/>
          <p:cNvSpPr/>
          <p:nvPr/>
        </p:nvSpPr>
        <p:spPr>
          <a:xfrm>
            <a:off x="9921240" y="1828800"/>
            <a:ext cx="502920" cy="502920"/>
          </a:xfrm>
          <a:prstGeom prst="ellipse">
            <a:avLst/>
          </a:prstGeom>
          <a:solidFill>
            <a:srgbClr val="3B4BD8"/>
          </a:solidFill>
          <a:ln w="12700">
            <a:solidFill>
              <a:srgbClr val="3B4BD8"/>
            </a:solidFill>
            <a:prstDash val="solid"/>
          </a:ln>
        </p:spPr>
      </p:sp>
      <p:sp>
        <p:nvSpPr>
          <p:cNvPr id="27" name="Text 24"/>
          <p:cNvSpPr/>
          <p:nvPr/>
        </p:nvSpPr>
        <p:spPr>
          <a:xfrm>
            <a:off x="9921240" y="182880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8" name="Text 25"/>
          <p:cNvSpPr/>
          <p:nvPr/>
        </p:nvSpPr>
        <p:spPr>
          <a:xfrm>
            <a:off x="9875520" y="2468880"/>
            <a:ext cx="1673352" cy="365760"/>
          </a:xfrm>
          <a:prstGeom prst="rect">
            <a:avLst/>
          </a:prstGeom>
          <a:noFill/>
          <a:ln/>
        </p:spPr>
        <p:txBody>
          <a:bodyPr wrap="square"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Show</a:t>
            </a:r>
            <a:endParaRPr lang="en-US" sz="1800" dirty="0"/>
          </a:p>
        </p:txBody>
      </p:sp>
      <p:sp>
        <p:nvSpPr>
          <p:cNvPr id="29" name="Text 26"/>
          <p:cNvSpPr/>
          <p:nvPr/>
        </p:nvSpPr>
        <p:spPr>
          <a:xfrm>
            <a:off x="9875520" y="2880360"/>
            <a:ext cx="1673352" cy="1737360"/>
          </a:xfrm>
          <a:prstGeom prst="rect">
            <a:avLst/>
          </a:prstGeom>
          <a:noFill/>
          <a:ln/>
        </p:spPr>
        <p:txBody>
          <a:bodyPr wrap="square" rtlCol="0" anchor="t"/>
          <a:lstStyle/>
          <a:p>
            <a:pPr indent="0" marL="0">
              <a:buNone/>
            </a:pPr>
            <a:r>
              <a:rPr lang="en-US" sz="1300" dirty="0">
                <a:solidFill>
                  <a:srgbClr val="111827"/>
                </a:solidFill>
                <a:latin typeface="Calibri" pitchFamily="34" charset="0"/>
                <a:ea typeface="Calibri" pitchFamily="34" charset="-122"/>
                <a:cs typeface="Calibri" pitchFamily="34" charset="-120"/>
              </a:rPr>
              <a:t>Ranked list, reasons, and the records behind each reason</a:t>
            </a:r>
            <a:endParaRPr lang="en-US" sz="1300" dirty="0"/>
          </a:p>
        </p:txBody>
      </p:sp>
      <p:sp>
        <p:nvSpPr>
          <p:cNvPr id="30" name="Shape 27"/>
          <p:cNvSpPr/>
          <p:nvPr/>
        </p:nvSpPr>
        <p:spPr>
          <a:xfrm>
            <a:off x="640080" y="4983480"/>
            <a:ext cx="10908792" cy="640080"/>
          </a:xfrm>
          <a:prstGeom prst="roundRect">
            <a:avLst>
              <a:gd name="adj" fmla="val 17143"/>
            </a:avLst>
          </a:prstGeom>
          <a:solidFill>
            <a:srgbClr val="E8EAFD"/>
          </a:solidFill>
          <a:ln w="12700">
            <a:solidFill>
              <a:srgbClr val="E8EAFD"/>
            </a:solidFill>
            <a:prstDash val="solid"/>
          </a:ln>
        </p:spPr>
      </p:sp>
      <p:sp>
        <p:nvSpPr>
          <p:cNvPr id="31" name="Text 28"/>
          <p:cNvSpPr/>
          <p:nvPr/>
        </p:nvSpPr>
        <p:spPr>
          <a:xfrm>
            <a:off x="868680" y="4983480"/>
            <a:ext cx="10451592" cy="640080"/>
          </a:xfrm>
          <a:prstGeom prst="rect">
            <a:avLst/>
          </a:prstGeom>
          <a:noFill/>
          <a:ln/>
        </p:spPr>
        <p:txBody>
          <a:bodyPr wrap="square"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Underneath: each company's data is kept separate in the database, so one company can never see another's.</a:t>
            </a:r>
            <a:endParaRPr lang="en-US" sz="1500" dirty="0"/>
          </a:p>
        </p:txBody>
      </p:sp>
      <p:sp>
        <p:nvSpPr>
          <p:cNvPr id="25" name="Slide Number Placeholder 0"/>
          <p:cNvSpPr>
            <a:spLocks noGrp="1"/>
          </p:cNvSpPr>
          <p:nvPr>
            <p:ph type="sldNum" sz="quarter" idx="4294967295"/>
          </p:nvPr>
        </p:nvSpPr>
        <p:spPr>
          <a:xfrm>
            <a:off x="1088136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274320"/>
          </a:xfrm>
          <a:prstGeom prst="rect">
            <a:avLst/>
          </a:prstGeom>
          <a:noFill/>
          <a:ln/>
        </p:spPr>
        <p:txBody>
          <a:bodyPr wrap="square" rtlCol="0" anchor="ctr"/>
          <a:lstStyle/>
          <a:p>
            <a:pPr indent="0" marL="0">
              <a:buNone/>
            </a:pPr>
            <a:r>
              <a:rPr lang="en-US" sz="1200" b="1" spc="300" kern="0" dirty="0">
                <a:solidFill>
                  <a:srgbClr val="3B4BD8"/>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640080" y="658368"/>
            <a:ext cx="8778240" cy="868680"/>
          </a:xfrm>
          <a:prstGeom prst="rect">
            <a:avLst/>
          </a:prstGeom>
          <a:noFill/>
          <a:ln/>
        </p:spPr>
        <p:txBody>
          <a:bodyPr wrap="square" rtlCol="0" anchor="t"/>
          <a:lstStyle/>
          <a:p>
            <a:pPr indent="0" marL="0">
              <a:buNone/>
            </a:pPr>
            <a:r>
              <a:rPr lang="en-US" sz="2800" b="1" dirty="0">
                <a:solidFill>
                  <a:srgbClr val="111827"/>
                </a:solidFill>
                <a:latin typeface="Calibri" pitchFamily="34" charset="0"/>
                <a:ea typeface="Calibri" pitchFamily="34" charset="-122"/>
                <a:cs typeface="Calibri" pitchFamily="34" charset="-120"/>
              </a:rPr>
              <a:t>One customer's score, worked out</a:t>
            </a:r>
            <a:endParaRPr lang="en-US" sz="2800" dirty="0"/>
          </a:p>
        </p:txBody>
      </p:sp>
      <p:sp>
        <p:nvSpPr>
          <p:cNvPr id="4" name="Text 2"/>
          <p:cNvSpPr/>
          <p:nvPr/>
        </p:nvSpPr>
        <p:spPr>
          <a:xfrm>
            <a:off x="9902952" y="411480"/>
            <a:ext cx="1645920" cy="347472"/>
          </a:xfrm>
          <a:prstGeom prst="rect">
            <a:avLst/>
          </a:prstGeom>
          <a:solidFill>
            <a:srgbClr val="3B4BD8"/>
          </a:solid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LIVE DEMO</a:t>
            </a:r>
            <a:endParaRPr lang="en-US" sz="1200" dirty="0"/>
          </a:p>
        </p:txBody>
      </p:sp>
      <p:sp>
        <p:nvSpPr>
          <p:cNvPr id="5" name="Text 3"/>
          <p:cNvSpPr/>
          <p:nvPr/>
        </p:nvSpPr>
        <p:spPr>
          <a:xfrm>
            <a:off x="640080" y="641908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Renewal Risk Call List · Fello take-home</a:t>
            </a:r>
            <a:endParaRPr lang="en-US" sz="1000" dirty="0"/>
          </a:p>
        </p:txBody>
      </p:sp>
      <p:sp>
        <p:nvSpPr>
          <p:cNvPr id="7" name="Text 4"/>
          <p:cNvSpPr/>
          <p:nvPr/>
        </p:nvSpPr>
        <p:spPr>
          <a:xfrm>
            <a:off x="640080" y="1783080"/>
            <a:ext cx="3931920" cy="365760"/>
          </a:xfrm>
          <a:prstGeom prst="rect">
            <a:avLst/>
          </a:prstGeom>
          <a:noFill/>
          <a:ln/>
        </p:spPr>
        <p:txBody>
          <a:bodyPr wrap="square" rtlCol="0" anchor="ctr"/>
          <a:lstStyle/>
          <a:p>
            <a:pPr indent="0" marL="0">
              <a:buNone/>
            </a:pPr>
            <a:r>
              <a:rPr lang="en-US" sz="1700" b="1" dirty="0">
                <a:solidFill>
                  <a:srgbClr val="3B4BD8"/>
                </a:solidFill>
                <a:latin typeface="Calibri" pitchFamily="34" charset="0"/>
                <a:ea typeface="Calibri" pitchFamily="34" charset="-122"/>
                <a:cs typeface="Calibri" pitchFamily="34" charset="-120"/>
              </a:rPr>
              <a:t>1. Start at 0</a:t>
            </a:r>
            <a:endParaRPr lang="en-US" sz="1700" dirty="0"/>
          </a:p>
        </p:txBody>
      </p:sp>
      <p:sp>
        <p:nvSpPr>
          <p:cNvPr id="8" name="Text 5"/>
          <p:cNvSpPr/>
          <p:nvPr/>
        </p:nvSpPr>
        <p:spPr>
          <a:xfrm>
            <a:off x="640080" y="2167128"/>
            <a:ext cx="3931920" cy="822960"/>
          </a:xfrm>
          <a:prstGeom prst="rect">
            <a:avLst/>
          </a:prstGeom>
          <a:noFill/>
          <a:ln/>
        </p:spPr>
        <p:txBody>
          <a:bodyPr wrap="square" rtlCol="0" anchor="t"/>
          <a:lstStyle/>
          <a:p>
            <a:pPr indent="0" marL="0">
              <a:buNone/>
            </a:pPr>
            <a:r>
              <a:rPr lang="en-US" sz="1400" dirty="0">
                <a:solidFill>
                  <a:srgbClr val="111827"/>
                </a:solidFill>
                <a:latin typeface="Calibri" pitchFamily="34" charset="0"/>
                <a:ea typeface="Calibri" pitchFamily="34" charset="-122"/>
                <a:cs typeface="Calibri" pitchFamily="34" charset="-120"/>
              </a:rPr>
              <a:t>A typical customer has a 1.8% chance of leaving.</a:t>
            </a:r>
            <a:endParaRPr lang="en-US" sz="1400" dirty="0"/>
          </a:p>
        </p:txBody>
      </p:sp>
      <p:sp>
        <p:nvSpPr>
          <p:cNvPr id="9" name="Text 6"/>
          <p:cNvSpPr/>
          <p:nvPr/>
        </p:nvSpPr>
        <p:spPr>
          <a:xfrm>
            <a:off x="640080" y="3108960"/>
            <a:ext cx="3931920" cy="365760"/>
          </a:xfrm>
          <a:prstGeom prst="rect">
            <a:avLst/>
          </a:prstGeom>
          <a:noFill/>
          <a:ln/>
        </p:spPr>
        <p:txBody>
          <a:bodyPr wrap="square" rtlCol="0" anchor="ctr"/>
          <a:lstStyle/>
          <a:p>
            <a:pPr indent="0" marL="0">
              <a:buNone/>
            </a:pPr>
            <a:r>
              <a:rPr lang="en-US" sz="1700" b="1" dirty="0">
                <a:solidFill>
                  <a:srgbClr val="3B4BD8"/>
                </a:solidFill>
                <a:latin typeface="Calibri" pitchFamily="34" charset="0"/>
                <a:ea typeface="Calibri" pitchFamily="34" charset="-122"/>
                <a:cs typeface="Calibri" pitchFamily="34" charset="-120"/>
              </a:rPr>
              <a:t>2. Add or remove points</a:t>
            </a:r>
            <a:endParaRPr lang="en-US" sz="1700" dirty="0"/>
          </a:p>
        </p:txBody>
      </p:sp>
      <p:sp>
        <p:nvSpPr>
          <p:cNvPr id="10" name="Text 7"/>
          <p:cNvSpPr/>
          <p:nvPr/>
        </p:nvSpPr>
        <p:spPr>
          <a:xfrm>
            <a:off x="640080" y="3493008"/>
            <a:ext cx="3931920" cy="822960"/>
          </a:xfrm>
          <a:prstGeom prst="rect">
            <a:avLst/>
          </a:prstGeom>
          <a:noFill/>
          <a:ln/>
        </p:spPr>
        <p:txBody>
          <a:bodyPr wrap="square" rtlCol="0" anchor="t"/>
          <a:lstStyle/>
          <a:p>
            <a:pPr indent="0" marL="0">
              <a:buNone/>
            </a:pPr>
            <a:r>
              <a:rPr lang="en-US" sz="1400" dirty="0">
                <a:solidFill>
                  <a:srgbClr val="111827"/>
                </a:solidFill>
                <a:latin typeface="Calibri" pitchFamily="34" charset="0"/>
                <a:ea typeface="Calibri" pitchFamily="34" charset="-122"/>
                <a:cs typeface="Calibri" pitchFamily="34" charset="-120"/>
              </a:rPr>
              <a:t>Each clue pushes the risk up or down, depending on how this customer compares with a typical one.</a:t>
            </a:r>
            <a:endParaRPr lang="en-US" sz="1400" dirty="0"/>
          </a:p>
        </p:txBody>
      </p:sp>
      <p:sp>
        <p:nvSpPr>
          <p:cNvPr id="11" name="Text 8"/>
          <p:cNvSpPr/>
          <p:nvPr/>
        </p:nvSpPr>
        <p:spPr>
          <a:xfrm>
            <a:off x="640080" y="4434840"/>
            <a:ext cx="3931920" cy="365760"/>
          </a:xfrm>
          <a:prstGeom prst="rect">
            <a:avLst/>
          </a:prstGeom>
          <a:noFill/>
          <a:ln/>
        </p:spPr>
        <p:txBody>
          <a:bodyPr wrap="square" rtlCol="0" anchor="ctr"/>
          <a:lstStyle/>
          <a:p>
            <a:pPr indent="0" marL="0">
              <a:buNone/>
            </a:pPr>
            <a:r>
              <a:rPr lang="en-US" sz="1700" b="1" dirty="0">
                <a:solidFill>
                  <a:srgbClr val="3B4BD8"/>
                </a:solidFill>
                <a:latin typeface="Calibri" pitchFamily="34" charset="0"/>
                <a:ea typeface="Calibri" pitchFamily="34" charset="-122"/>
                <a:cs typeface="Calibri" pitchFamily="34" charset="-120"/>
              </a:rPr>
              <a:t>3. Turn the total into a chance</a:t>
            </a:r>
            <a:endParaRPr lang="en-US" sz="1700" dirty="0"/>
          </a:p>
        </p:txBody>
      </p:sp>
      <p:sp>
        <p:nvSpPr>
          <p:cNvPr id="12" name="Text 9"/>
          <p:cNvSpPr/>
          <p:nvPr/>
        </p:nvSpPr>
        <p:spPr>
          <a:xfrm>
            <a:off x="640080" y="4818888"/>
            <a:ext cx="3931920" cy="822960"/>
          </a:xfrm>
          <a:prstGeom prst="rect">
            <a:avLst/>
          </a:prstGeom>
          <a:noFill/>
          <a:ln/>
        </p:spPr>
        <p:txBody>
          <a:bodyPr wrap="square" rtlCol="0" anchor="t"/>
          <a:lstStyle/>
          <a:p>
            <a:pPr indent="0" marL="0">
              <a:buNone/>
            </a:pPr>
            <a:r>
              <a:rPr lang="en-US" sz="1400" dirty="0">
                <a:solidFill>
                  <a:srgbClr val="111827"/>
                </a:solidFill>
                <a:latin typeface="Calibri" pitchFamily="34" charset="0"/>
                <a:ea typeface="Calibri" pitchFamily="34" charset="-122"/>
                <a:cs typeface="Calibri" pitchFamily="34" charset="-120"/>
              </a:rPr>
              <a:t>−0.49 points moves 1.8% down to 1.1%.</a:t>
            </a:r>
            <a:endParaRPr lang="en-US" sz="1400" dirty="0"/>
          </a:p>
        </p:txBody>
      </p:sp>
      <p:sp>
        <p:nvSpPr>
          <p:cNvPr id="13" name="Text 10"/>
          <p:cNvSpPr/>
          <p:nvPr/>
        </p:nvSpPr>
        <p:spPr>
          <a:xfrm>
            <a:off x="4846320" y="1737360"/>
            <a:ext cx="6675120" cy="320040"/>
          </a:xfrm>
          <a:prstGeom prst="rect">
            <a:avLst/>
          </a:prstGeom>
          <a:noFill/>
          <a:ln/>
        </p:spPr>
        <p:txBody>
          <a:bodyPr wrap="square"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Points added or removed for Copperline Learning (negative = safer)</a:t>
            </a:r>
            <a:endParaRPr lang="en-US" sz="1400" dirty="0"/>
          </a:p>
        </p:txBody>
      </p:sp>
      <p:graphicFrame>
        <p:nvGraphicFramePr>
          <p:cNvPr id="14" name="Chart 0" descr=""/>
          <p:cNvGraphicFramePr/>
          <p:nvPr/>
        </p:nvGraphicFramePr>
        <p:xfrm>
          <a:off x="4754880" y="2057400"/>
          <a:ext cx="6766560" cy="2926080"/>
        </p:xfrm>
        <a:graphic xmlns:a="http://schemas.openxmlformats.org/drawingml/2006/main">
          <a:graphicData uri="http://schemas.openxmlformats.org/drawingml/2006/chart">
            <c:chart xmlns:c="http://schemas.openxmlformats.org/drawingml/2006/chart" r:id="rId1"/>
          </a:graphicData>
        </a:graphic>
      </p:graphicFrame>
      <p:sp>
        <p:nvSpPr>
          <p:cNvPr id="15" name="Shape 11"/>
          <p:cNvSpPr/>
          <p:nvPr/>
        </p:nvSpPr>
        <p:spPr>
          <a:xfrm>
            <a:off x="640080" y="5257800"/>
            <a:ext cx="10908792" cy="640080"/>
          </a:xfrm>
          <a:prstGeom prst="roundRect">
            <a:avLst>
              <a:gd name="adj" fmla="val 17143"/>
            </a:avLst>
          </a:prstGeom>
          <a:solidFill>
            <a:srgbClr val="E8EAFD"/>
          </a:solidFill>
          <a:ln w="12700">
            <a:solidFill>
              <a:srgbClr val="E8EAFD"/>
            </a:solidFill>
            <a:prstDash val="solid"/>
          </a:ln>
        </p:spPr>
      </p:sp>
      <p:sp>
        <p:nvSpPr>
          <p:cNvPr id="16" name="Text 12"/>
          <p:cNvSpPr/>
          <p:nvPr/>
        </p:nvSpPr>
        <p:spPr>
          <a:xfrm>
            <a:off x="868680" y="5257800"/>
            <a:ext cx="10451592" cy="640080"/>
          </a:xfrm>
          <a:prstGeom prst="rect">
            <a:avLst/>
          </a:prstGeom>
          <a:noFill/>
          <a:ln/>
        </p:spPr>
        <p:txBody>
          <a:bodyPr wrap="square"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Total −0.49 points: 1.8% (typical) becomes 1.1% for this customer</a:t>
            </a:r>
            <a:endParaRPr lang="en-US" sz="1500" dirty="0"/>
          </a:p>
        </p:txBody>
      </p:sp>
      <p:sp>
        <p:nvSpPr>
          <p:cNvPr id="25" name="Slide Number Placeholder 0"/>
          <p:cNvSpPr>
            <a:spLocks noGrp="1"/>
          </p:cNvSpPr>
          <p:nvPr>
            <p:ph type="sldNum" sz="quarter" idx="4294967295"/>
          </p:nvPr>
        </p:nvSpPr>
        <p:spPr>
          <a:xfrm>
            <a:off x="1088136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274320"/>
          </a:xfrm>
          <a:prstGeom prst="rect">
            <a:avLst/>
          </a:prstGeom>
          <a:noFill/>
          <a:ln/>
        </p:spPr>
        <p:txBody>
          <a:bodyPr wrap="square" rtlCol="0" anchor="ctr"/>
          <a:lstStyle/>
          <a:p>
            <a:pPr indent="0" marL="0">
              <a:buNone/>
            </a:pPr>
            <a:r>
              <a:rPr lang="en-US" sz="1200" b="1" spc="300" kern="0" dirty="0">
                <a:solidFill>
                  <a:srgbClr val="3B4BD8"/>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640080" y="658368"/>
            <a:ext cx="10908792" cy="868680"/>
          </a:xfrm>
          <a:prstGeom prst="rect">
            <a:avLst/>
          </a:prstGeom>
          <a:noFill/>
          <a:ln/>
        </p:spPr>
        <p:txBody>
          <a:bodyPr wrap="square" rtlCol="0" anchor="t"/>
          <a:lstStyle/>
          <a:p>
            <a:pPr indent="0" marL="0">
              <a:buNone/>
            </a:pPr>
            <a:r>
              <a:rPr lang="en-US" sz="2800" b="1" dirty="0">
                <a:solidFill>
                  <a:srgbClr val="111827"/>
                </a:solidFill>
                <a:latin typeface="Calibri" pitchFamily="34" charset="0"/>
                <a:ea typeface="Calibri" pitchFamily="34" charset="-122"/>
                <a:cs typeface="Calibri" pitchFamily="34" charset="-120"/>
              </a:rPr>
              <a:t>Each clue earns points from what past customers did</a:t>
            </a:r>
            <a:endParaRPr lang="en-US" sz="2800" dirty="0"/>
          </a:p>
        </p:txBody>
      </p:sp>
      <p:sp>
        <p:nvSpPr>
          <p:cNvPr id="4" name="Text 2"/>
          <p:cNvSpPr/>
          <p:nvPr/>
        </p:nvSpPr>
        <p:spPr>
          <a:xfrm>
            <a:off x="640080" y="641908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Renewal Risk Call List · Fello take-home</a:t>
            </a:r>
            <a:endParaRPr lang="en-US" sz="1000" dirty="0"/>
          </a:p>
        </p:txBody>
      </p:sp>
      <p:graphicFrame>
        <p:nvGraphicFramePr>
          <p:cNvPr id="6" name="Chart 0" descr=""/>
          <p:cNvGraphicFramePr/>
          <p:nvPr/>
        </p:nvGraphicFramePr>
        <p:xfrm>
          <a:off x="548640" y="1645920"/>
          <a:ext cx="7498080" cy="4206240"/>
        </p:xfrm>
        <a:graphic xmlns:a="http://schemas.openxmlformats.org/drawingml/2006/main">
          <a:graphicData uri="http://schemas.openxmlformats.org/drawingml/2006/chart">
            <c:chart xmlns:c="http://schemas.openxmlformats.org/drawingml/2006/chart" r:id="rId1"/>
          </a:graphicData>
        </a:graphic>
      </p:graphicFrame>
      <p:sp>
        <p:nvSpPr>
          <p:cNvPr id="7" name="Text 3"/>
          <p:cNvSpPr/>
          <p:nvPr/>
        </p:nvSpPr>
        <p:spPr>
          <a:xfrm>
            <a:off x="640080" y="5943600"/>
            <a:ext cx="73152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Out of every 100 past customers, how many left</a:t>
            </a:r>
            <a:endParaRPr lang="en-US" sz="1100" dirty="0"/>
          </a:p>
        </p:txBody>
      </p:sp>
      <p:sp>
        <p:nvSpPr>
          <p:cNvPr id="8" name="Text 4"/>
          <p:cNvSpPr/>
          <p:nvPr/>
        </p:nvSpPr>
        <p:spPr>
          <a:xfrm>
            <a:off x="8412480" y="1783080"/>
            <a:ext cx="3108960" cy="731520"/>
          </a:xfrm>
          <a:prstGeom prst="rect">
            <a:avLst/>
          </a:prstGeom>
          <a:noFill/>
          <a:ln/>
        </p:spPr>
        <p:txBody>
          <a:bodyPr wrap="square" rtlCol="0" anchor="b"/>
          <a:lstStyle/>
          <a:p>
            <a:pPr indent="0" marL="0">
              <a:buNone/>
            </a:pPr>
            <a:r>
              <a:rPr lang="en-US" sz="3800" b="1" dirty="0">
                <a:solidFill>
                  <a:srgbClr val="3B4BD8"/>
                </a:solidFill>
                <a:latin typeface="Calibri" pitchFamily="34" charset="0"/>
                <a:ea typeface="Calibri" pitchFamily="34" charset="-122"/>
                <a:cs typeface="Calibri" pitchFamily="34" charset="-120"/>
              </a:rPr>
              <a:t>50 vs 2</a:t>
            </a:r>
            <a:endParaRPr lang="en-US" sz="3800" dirty="0"/>
          </a:p>
        </p:txBody>
      </p:sp>
      <p:sp>
        <p:nvSpPr>
          <p:cNvPr id="9" name="Text 5"/>
          <p:cNvSpPr/>
          <p:nvPr/>
        </p:nvSpPr>
        <p:spPr>
          <a:xfrm>
            <a:off x="8412480" y="2532888"/>
            <a:ext cx="3108960" cy="685800"/>
          </a:xfrm>
          <a:prstGeom prst="rect">
            <a:avLst/>
          </a:prstGeom>
          <a:noFill/>
          <a:ln/>
        </p:spPr>
        <p:txBody>
          <a:bodyPr wrap="square" rtlCol="0" anchor="t"/>
          <a:lstStyle/>
          <a:p>
            <a:pPr indent="0" marL="0">
              <a:buNone/>
            </a:pPr>
            <a:r>
              <a:rPr lang="en-US" sz="1300" dirty="0">
                <a:solidFill>
                  <a:srgbClr val="6B7280"/>
                </a:solidFill>
                <a:latin typeface="Calibri" pitchFamily="34" charset="0"/>
                <a:ea typeface="Calibri" pitchFamily="34" charset="-122"/>
                <a:cs typeface="Calibri" pitchFamily="34" charset="-120"/>
              </a:rPr>
              <a:t>in 100 left: customers who asked to cancel, against those who did not</a:t>
            </a:r>
            <a:endParaRPr lang="en-US" sz="1300" dirty="0"/>
          </a:p>
        </p:txBody>
      </p:sp>
      <p:sp>
        <p:nvSpPr>
          <p:cNvPr id="10" name="Text 6"/>
          <p:cNvSpPr/>
          <p:nvPr/>
        </p:nvSpPr>
        <p:spPr>
          <a:xfrm>
            <a:off x="8412480" y="3337560"/>
            <a:ext cx="3108960" cy="731520"/>
          </a:xfrm>
          <a:prstGeom prst="rect">
            <a:avLst/>
          </a:prstGeom>
          <a:noFill/>
          <a:ln/>
        </p:spPr>
        <p:txBody>
          <a:bodyPr wrap="square" rtlCol="0" anchor="b"/>
          <a:lstStyle/>
          <a:p>
            <a:pPr indent="0" marL="0">
              <a:buNone/>
            </a:pPr>
            <a:r>
              <a:rPr lang="en-US" sz="3800" b="1" dirty="0">
                <a:solidFill>
                  <a:srgbClr val="6B7280"/>
                </a:solidFill>
                <a:latin typeface="Calibri" pitchFamily="34" charset="0"/>
                <a:ea typeface="Calibri" pitchFamily="34" charset="-122"/>
                <a:cs typeface="Calibri" pitchFamily="34" charset="-120"/>
              </a:rPr>
              <a:t>2.4 vs 2.3</a:t>
            </a:r>
            <a:endParaRPr lang="en-US" sz="3800" dirty="0"/>
          </a:p>
        </p:txBody>
      </p:sp>
      <p:sp>
        <p:nvSpPr>
          <p:cNvPr id="11" name="Text 7"/>
          <p:cNvSpPr/>
          <p:nvPr/>
        </p:nvSpPr>
        <p:spPr>
          <a:xfrm>
            <a:off x="8412480" y="4087368"/>
            <a:ext cx="3108960" cy="685800"/>
          </a:xfrm>
          <a:prstGeom prst="rect">
            <a:avLst/>
          </a:prstGeom>
          <a:noFill/>
          <a:ln/>
        </p:spPr>
        <p:txBody>
          <a:bodyPr wrap="square" rtlCol="0" anchor="t"/>
          <a:lstStyle/>
          <a:p>
            <a:pPr indent="0" marL="0">
              <a:buNone/>
            </a:pPr>
            <a:r>
              <a:rPr lang="en-US" sz="1300" dirty="0">
                <a:solidFill>
                  <a:srgbClr val="6B7280"/>
                </a:solidFill>
                <a:latin typeface="Calibri" pitchFamily="34" charset="0"/>
                <a:ea typeface="Calibri" pitchFamily="34" charset="-122"/>
                <a:cs typeface="Calibri" pitchFamily="34" charset="-120"/>
              </a:rPr>
              <a:t>in 100 left: a fall in usage on its own did not separate leavers from stayers</a:t>
            </a:r>
            <a:endParaRPr lang="en-US" sz="1300" dirty="0"/>
          </a:p>
        </p:txBody>
      </p:sp>
      <p:sp>
        <p:nvSpPr>
          <p:cNvPr id="12" name="Text 8"/>
          <p:cNvSpPr/>
          <p:nvPr/>
        </p:nvSpPr>
        <p:spPr>
          <a:xfrm>
            <a:off x="8412480" y="4937760"/>
            <a:ext cx="3108960" cy="1097280"/>
          </a:xfrm>
          <a:prstGeom prst="rect">
            <a:avLst/>
          </a:prstGeom>
          <a:noFill/>
          <a:ln/>
        </p:spPr>
        <p:txBody>
          <a:bodyPr wrap="square" rtlCol="0" anchor="t"/>
          <a:lstStyle/>
          <a:p>
            <a:pPr indent="0" marL="0">
              <a:buNone/>
            </a:pPr>
            <a:r>
              <a:rPr lang="en-US" sz="1100" dirty="0">
                <a:solidFill>
                  <a:srgbClr val="6B7280"/>
                </a:solidFill>
                <a:latin typeface="Calibri" pitchFamily="34" charset="0"/>
                <a:ea typeface="Calibri" pitchFamily="34" charset="-122"/>
                <a:cs typeface="Calibri" pitchFamily="34" charset="-120"/>
              </a:rPr>
              <a:t>16,415 past cases (a customer can appear on more than one date); 2.3% left overall. Points are fitted with all clues together, so they are not exactly these percentages.</a:t>
            </a:r>
            <a:endParaRPr lang="en-US" sz="1100" dirty="0"/>
          </a:p>
        </p:txBody>
      </p:sp>
      <p:sp>
        <p:nvSpPr>
          <p:cNvPr id="25" name="Slide Number Placeholder 0"/>
          <p:cNvSpPr>
            <a:spLocks noGrp="1"/>
          </p:cNvSpPr>
          <p:nvPr>
            <p:ph type="sldNum" sz="quarter" idx="4294967295"/>
          </p:nvPr>
        </p:nvSpPr>
        <p:spPr>
          <a:xfrm>
            <a:off x="1088136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274320"/>
          </a:xfrm>
          <a:prstGeom prst="rect">
            <a:avLst/>
          </a:prstGeom>
          <a:noFill/>
          <a:ln/>
        </p:spPr>
        <p:txBody>
          <a:bodyPr wrap="square" rtlCol="0" anchor="ctr"/>
          <a:lstStyle/>
          <a:p>
            <a:pPr indent="0" marL="0">
              <a:buNone/>
            </a:pPr>
            <a:r>
              <a:rPr lang="en-US" sz="1200" b="1" spc="300" kern="0" dirty="0">
                <a:solidFill>
                  <a:srgbClr val="3B4BD8"/>
                </a:solidFill>
                <a:latin typeface="Calibri" pitchFamily="34" charset="0"/>
                <a:ea typeface="Calibri" pitchFamily="34" charset="-122"/>
                <a:cs typeface="Calibri" pitchFamily="34" charset="-120"/>
              </a:rPr>
              <a:t>OVER TIME</a:t>
            </a:r>
            <a:endParaRPr lang="en-US" sz="1200" dirty="0"/>
          </a:p>
        </p:txBody>
      </p:sp>
      <p:sp>
        <p:nvSpPr>
          <p:cNvPr id="3" name="Text 1"/>
          <p:cNvSpPr/>
          <p:nvPr/>
        </p:nvSpPr>
        <p:spPr>
          <a:xfrm>
            <a:off x="640080" y="658368"/>
            <a:ext cx="10908792" cy="868680"/>
          </a:xfrm>
          <a:prstGeom prst="rect">
            <a:avLst/>
          </a:prstGeom>
          <a:noFill/>
          <a:ln/>
        </p:spPr>
        <p:txBody>
          <a:bodyPr wrap="square" rtlCol="0" anchor="t"/>
          <a:lstStyle/>
          <a:p>
            <a:pPr indent="0" marL="0">
              <a:buNone/>
            </a:pPr>
            <a:r>
              <a:rPr lang="en-US" sz="2800" b="1" dirty="0">
                <a:solidFill>
                  <a:srgbClr val="111827"/>
                </a:solidFill>
                <a:latin typeface="Calibri" pitchFamily="34" charset="0"/>
                <a:ea typeface="Calibri" pitchFamily="34" charset="-122"/>
                <a:cs typeface="Calibri" pitchFamily="34" charset="-120"/>
              </a:rPr>
              <a:t>Scored every night, re-learned every month</a:t>
            </a:r>
            <a:endParaRPr lang="en-US" sz="2800" dirty="0"/>
          </a:p>
        </p:txBody>
      </p:sp>
      <p:sp>
        <p:nvSpPr>
          <p:cNvPr id="4" name="Text 2"/>
          <p:cNvSpPr/>
          <p:nvPr/>
        </p:nvSpPr>
        <p:spPr>
          <a:xfrm>
            <a:off x="640080" y="641908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Renewal Risk Call List · Fello take-home</a:t>
            </a:r>
            <a:endParaRPr lang="en-US" sz="1000" dirty="0"/>
          </a:p>
        </p:txBody>
      </p:sp>
      <p:sp>
        <p:nvSpPr>
          <p:cNvPr id="6" name="Shape 3"/>
          <p:cNvSpPr/>
          <p:nvPr/>
        </p:nvSpPr>
        <p:spPr>
          <a:xfrm>
            <a:off x="640080" y="1783080"/>
            <a:ext cx="3502152" cy="3017520"/>
          </a:xfrm>
          <a:prstGeom prst="roundRect">
            <a:avLst>
              <a:gd name="adj" fmla="val 3636"/>
            </a:avLst>
          </a:prstGeom>
          <a:solidFill>
            <a:srgbClr val="F4F5FB"/>
          </a:solidFill>
          <a:ln w="12700">
            <a:solidFill>
              <a:srgbClr val="F4F5FB"/>
            </a:solidFill>
            <a:prstDash val="solid"/>
          </a:ln>
        </p:spPr>
      </p:sp>
      <p:sp>
        <p:nvSpPr>
          <p:cNvPr id="7" name="Text 4"/>
          <p:cNvSpPr/>
          <p:nvPr/>
        </p:nvSpPr>
        <p:spPr>
          <a:xfrm>
            <a:off x="868680" y="1965960"/>
            <a:ext cx="3017520" cy="274320"/>
          </a:xfrm>
          <a:prstGeom prst="rect">
            <a:avLst/>
          </a:prstGeom>
          <a:noFill/>
          <a:ln/>
        </p:spPr>
        <p:txBody>
          <a:bodyPr wrap="square" rtlCol="0" anchor="ctr"/>
          <a:lstStyle/>
          <a:p>
            <a:pPr indent="0" marL="0">
              <a:buNone/>
            </a:pPr>
            <a:r>
              <a:rPr lang="en-US" sz="1200" b="1" spc="200" kern="0" dirty="0">
                <a:solidFill>
                  <a:srgbClr val="3B4BD8"/>
                </a:solidFill>
                <a:latin typeface="Calibri" pitchFamily="34" charset="0"/>
                <a:ea typeface="Calibri" pitchFamily="34" charset="-122"/>
                <a:cs typeface="Calibri" pitchFamily="34" charset="-120"/>
              </a:rPr>
              <a:t>DAY ONE</a:t>
            </a:r>
            <a:endParaRPr lang="en-US" sz="1200" dirty="0"/>
          </a:p>
        </p:txBody>
      </p:sp>
      <p:sp>
        <p:nvSpPr>
          <p:cNvPr id="8" name="Text 5"/>
          <p:cNvSpPr/>
          <p:nvPr/>
        </p:nvSpPr>
        <p:spPr>
          <a:xfrm>
            <a:off x="868680" y="2286000"/>
            <a:ext cx="3017520" cy="822960"/>
          </a:xfrm>
          <a:prstGeom prst="rect">
            <a:avLst/>
          </a:prstGeom>
          <a:noFill/>
          <a:ln/>
        </p:spPr>
        <p:txBody>
          <a:bodyPr wrap="square"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Learn once, from all history</a:t>
            </a:r>
            <a:endParaRPr lang="en-US" sz="1900" dirty="0"/>
          </a:p>
        </p:txBody>
      </p:sp>
      <p:sp>
        <p:nvSpPr>
          <p:cNvPr id="9" name="Text 6"/>
          <p:cNvSpPr/>
          <p:nvPr/>
        </p:nvSpPr>
        <p:spPr>
          <a:xfrm>
            <a:off x="868680" y="3154680"/>
            <a:ext cx="3017520" cy="1554480"/>
          </a:xfrm>
          <a:prstGeom prst="rect">
            <a:avLst/>
          </a:prstGeom>
          <a:noFill/>
          <a:ln/>
        </p:spPr>
        <p:txBody>
          <a:bodyPr wrap="square" rtlCol="0" anchor="t"/>
          <a:lstStyle/>
          <a:p>
            <a:pPr indent="0" marL="0">
              <a:buNone/>
            </a:pPr>
            <a:r>
              <a:rPr lang="en-US" sz="1400" dirty="0">
                <a:solidFill>
                  <a:srgbClr val="111827"/>
                </a:solidFill>
                <a:latin typeface="Calibri" pitchFamily="34" charset="0"/>
                <a:ea typeface="Calibri" pitchFamily="34" charset="-122"/>
                <a:cs typeface="Calibri" pitchFamily="34" charset="-120"/>
              </a:rPr>
              <a:t>The system learns straight away from every past renewal that is loaded. There is no waiting period.</a:t>
            </a:r>
            <a:endParaRPr lang="en-US" sz="1400" dirty="0"/>
          </a:p>
        </p:txBody>
      </p:sp>
      <p:sp>
        <p:nvSpPr>
          <p:cNvPr id="10" name="Shape 7"/>
          <p:cNvSpPr/>
          <p:nvPr/>
        </p:nvSpPr>
        <p:spPr>
          <a:xfrm>
            <a:off x="4343400" y="1783080"/>
            <a:ext cx="3502152" cy="3017520"/>
          </a:xfrm>
          <a:prstGeom prst="roundRect">
            <a:avLst>
              <a:gd name="adj" fmla="val 3636"/>
            </a:avLst>
          </a:prstGeom>
          <a:solidFill>
            <a:srgbClr val="F4F5FB"/>
          </a:solidFill>
          <a:ln w="12700">
            <a:solidFill>
              <a:srgbClr val="F4F5FB"/>
            </a:solidFill>
            <a:prstDash val="solid"/>
          </a:ln>
        </p:spPr>
      </p:sp>
      <p:sp>
        <p:nvSpPr>
          <p:cNvPr id="11" name="Text 8"/>
          <p:cNvSpPr/>
          <p:nvPr/>
        </p:nvSpPr>
        <p:spPr>
          <a:xfrm>
            <a:off x="4572000" y="1965960"/>
            <a:ext cx="3017520" cy="274320"/>
          </a:xfrm>
          <a:prstGeom prst="rect">
            <a:avLst/>
          </a:prstGeom>
          <a:noFill/>
          <a:ln/>
        </p:spPr>
        <p:txBody>
          <a:bodyPr wrap="square" rtlCol="0" anchor="ctr"/>
          <a:lstStyle/>
          <a:p>
            <a:pPr indent="0" marL="0">
              <a:buNone/>
            </a:pPr>
            <a:r>
              <a:rPr lang="en-US" sz="1200" b="1" spc="200" kern="0" dirty="0">
                <a:solidFill>
                  <a:srgbClr val="3B4BD8"/>
                </a:solidFill>
                <a:latin typeface="Calibri" pitchFamily="34" charset="0"/>
                <a:ea typeface="Calibri" pitchFamily="34" charset="-122"/>
                <a:cs typeface="Calibri" pitchFamily="34" charset="-120"/>
              </a:rPr>
              <a:t>EVERY NIGHT</a:t>
            </a:r>
            <a:endParaRPr lang="en-US" sz="1200" dirty="0"/>
          </a:p>
        </p:txBody>
      </p:sp>
      <p:sp>
        <p:nvSpPr>
          <p:cNvPr id="12" name="Text 9"/>
          <p:cNvSpPr/>
          <p:nvPr/>
        </p:nvSpPr>
        <p:spPr>
          <a:xfrm>
            <a:off x="4572000" y="2286000"/>
            <a:ext cx="3017520" cy="822960"/>
          </a:xfrm>
          <a:prstGeom prst="rect">
            <a:avLst/>
          </a:prstGeom>
          <a:noFill/>
          <a:ln/>
        </p:spPr>
        <p:txBody>
          <a:bodyPr wrap="square"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Score every customer</a:t>
            </a:r>
            <a:endParaRPr lang="en-US" sz="1900" dirty="0"/>
          </a:p>
        </p:txBody>
      </p:sp>
      <p:sp>
        <p:nvSpPr>
          <p:cNvPr id="13" name="Text 10"/>
          <p:cNvSpPr/>
          <p:nvPr/>
        </p:nvSpPr>
        <p:spPr>
          <a:xfrm>
            <a:off x="4572000" y="3154680"/>
            <a:ext cx="3017520" cy="1554480"/>
          </a:xfrm>
          <a:prstGeom prst="rect">
            <a:avLst/>
          </a:prstGeom>
          <a:noFill/>
          <a:ln/>
        </p:spPr>
        <p:txBody>
          <a:bodyPr wrap="square" rtlCol="0" anchor="t"/>
          <a:lstStyle/>
          <a:p>
            <a:pPr indent="0" marL="0">
              <a:buNone/>
            </a:pPr>
            <a:r>
              <a:rPr lang="en-US" sz="1400" dirty="0">
                <a:solidFill>
                  <a:srgbClr val="111827"/>
                </a:solidFill>
                <a:latin typeface="Calibri" pitchFamily="34" charset="0"/>
                <a:ea typeface="Calibri" pitchFamily="34" charset="-122"/>
                <a:cs typeface="Calibri" pitchFamily="34" charset="-120"/>
              </a:rPr>
              <a:t>Same saved points for everyone. A score moves because the customer changed, not because the formula did.</a:t>
            </a:r>
            <a:endParaRPr lang="en-US" sz="1400" dirty="0"/>
          </a:p>
        </p:txBody>
      </p:sp>
      <p:sp>
        <p:nvSpPr>
          <p:cNvPr id="14" name="Shape 11"/>
          <p:cNvSpPr/>
          <p:nvPr/>
        </p:nvSpPr>
        <p:spPr>
          <a:xfrm>
            <a:off x="8046720" y="1783080"/>
            <a:ext cx="3502152" cy="3017520"/>
          </a:xfrm>
          <a:prstGeom prst="roundRect">
            <a:avLst>
              <a:gd name="adj" fmla="val 3636"/>
            </a:avLst>
          </a:prstGeom>
          <a:solidFill>
            <a:srgbClr val="E8EAFD"/>
          </a:solidFill>
          <a:ln w="12700">
            <a:solidFill>
              <a:srgbClr val="E8EAFD"/>
            </a:solidFill>
            <a:prstDash val="solid"/>
          </a:ln>
        </p:spPr>
      </p:sp>
      <p:sp>
        <p:nvSpPr>
          <p:cNvPr id="15" name="Text 12"/>
          <p:cNvSpPr/>
          <p:nvPr/>
        </p:nvSpPr>
        <p:spPr>
          <a:xfrm>
            <a:off x="8275320" y="1965960"/>
            <a:ext cx="3017520" cy="274320"/>
          </a:xfrm>
          <a:prstGeom prst="rect">
            <a:avLst/>
          </a:prstGeom>
          <a:noFill/>
          <a:ln/>
        </p:spPr>
        <p:txBody>
          <a:bodyPr wrap="square" rtlCol="0" anchor="ctr"/>
          <a:lstStyle/>
          <a:p>
            <a:pPr indent="0" marL="0">
              <a:buNone/>
            </a:pPr>
            <a:r>
              <a:rPr lang="en-US" sz="1200" b="1" spc="200" kern="0" dirty="0">
                <a:solidFill>
                  <a:srgbClr val="3B4BD8"/>
                </a:solidFill>
                <a:latin typeface="Calibri" pitchFamily="34" charset="0"/>
                <a:ea typeface="Calibri" pitchFamily="34" charset="-122"/>
                <a:cs typeface="Calibri" pitchFamily="34" charset="-120"/>
              </a:rPr>
              <a:t>EVERY 30 DAYS</a:t>
            </a:r>
            <a:endParaRPr lang="en-US" sz="1200" dirty="0"/>
          </a:p>
        </p:txBody>
      </p:sp>
      <p:sp>
        <p:nvSpPr>
          <p:cNvPr id="16" name="Text 13"/>
          <p:cNvSpPr/>
          <p:nvPr/>
        </p:nvSpPr>
        <p:spPr>
          <a:xfrm>
            <a:off x="8275320" y="2286000"/>
            <a:ext cx="3017520" cy="822960"/>
          </a:xfrm>
          <a:prstGeom prst="rect">
            <a:avLst/>
          </a:prstGeom>
          <a:noFill/>
          <a:ln/>
        </p:spPr>
        <p:txBody>
          <a:bodyPr wrap="square"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Re-learn the points</a:t>
            </a:r>
            <a:endParaRPr lang="en-US" sz="1900" dirty="0"/>
          </a:p>
        </p:txBody>
      </p:sp>
      <p:sp>
        <p:nvSpPr>
          <p:cNvPr id="17" name="Text 14"/>
          <p:cNvSpPr/>
          <p:nvPr/>
        </p:nvSpPr>
        <p:spPr>
          <a:xfrm>
            <a:off x="8275320" y="3154680"/>
            <a:ext cx="3017520" cy="1554480"/>
          </a:xfrm>
          <a:prstGeom prst="rect">
            <a:avLst/>
          </a:prstGeom>
          <a:noFill/>
          <a:ln/>
        </p:spPr>
        <p:txBody>
          <a:bodyPr wrap="square" rtlCol="0" anchor="t"/>
          <a:lstStyle/>
          <a:p>
            <a:pPr indent="0" marL="0">
              <a:buNone/>
            </a:pPr>
            <a:r>
              <a:rPr lang="en-US" sz="1400" dirty="0">
                <a:solidFill>
                  <a:srgbClr val="111827"/>
                </a:solidFill>
                <a:latin typeface="Calibri" pitchFamily="34" charset="0"/>
                <a:ea typeface="Calibri" pitchFamily="34" charset="-122"/>
                <a:cs typeface="Calibri" pitchFamily="34" charset="-120"/>
              </a:rPr>
              <a:t>Learn again from outcomes seen since. A month adds few new cases, so doing it nightly would mostly add noise.</a:t>
            </a:r>
            <a:endParaRPr lang="en-US" sz="1400" dirty="0"/>
          </a:p>
        </p:txBody>
      </p:sp>
      <p:sp>
        <p:nvSpPr>
          <p:cNvPr id="18" name="Shape 15"/>
          <p:cNvSpPr/>
          <p:nvPr/>
        </p:nvSpPr>
        <p:spPr>
          <a:xfrm>
            <a:off x="640080" y="5120640"/>
            <a:ext cx="10908792" cy="640080"/>
          </a:xfrm>
          <a:prstGeom prst="roundRect">
            <a:avLst>
              <a:gd name="adj" fmla="val 17143"/>
            </a:avLst>
          </a:prstGeom>
          <a:solidFill>
            <a:srgbClr val="E8EAFD"/>
          </a:solidFill>
          <a:ln w="12700">
            <a:solidFill>
              <a:srgbClr val="E8EAFD"/>
            </a:solidFill>
            <a:prstDash val="solid"/>
          </a:ln>
        </p:spPr>
      </p:sp>
      <p:sp>
        <p:nvSpPr>
          <p:cNvPr id="19" name="Text 16"/>
          <p:cNvSpPr/>
          <p:nvPr/>
        </p:nvSpPr>
        <p:spPr>
          <a:xfrm>
            <a:off x="868680" y="5120640"/>
            <a:ext cx="10451592" cy="640080"/>
          </a:xfrm>
          <a:prstGeom prst="rect">
            <a:avLst/>
          </a:prstGeom>
          <a:noFill/>
          <a:ln/>
        </p:spPr>
        <p:txBody>
          <a:bodyPr wrap="square"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The steps never change. Only the points per clue are re-learned, and each score records which version produced it.</a:t>
            </a:r>
            <a:endParaRPr lang="en-US" sz="1500" dirty="0"/>
          </a:p>
        </p:txBody>
      </p:sp>
      <p:sp>
        <p:nvSpPr>
          <p:cNvPr id="25" name="Slide Number Placeholder 0"/>
          <p:cNvSpPr>
            <a:spLocks noGrp="1"/>
          </p:cNvSpPr>
          <p:nvPr>
            <p:ph type="sldNum" sz="quarter" idx="4294967295"/>
          </p:nvPr>
        </p:nvSpPr>
        <p:spPr>
          <a:xfrm>
            <a:off x="1088136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274320"/>
          </a:xfrm>
          <a:prstGeom prst="rect">
            <a:avLst/>
          </a:prstGeom>
          <a:noFill/>
          <a:ln/>
        </p:spPr>
        <p:txBody>
          <a:bodyPr wrap="square" rtlCol="0" anchor="ctr"/>
          <a:lstStyle/>
          <a:p>
            <a:pPr indent="0" marL="0">
              <a:buNone/>
            </a:pPr>
            <a:r>
              <a:rPr lang="en-US" sz="1200" b="1" spc="300" kern="0" dirty="0">
                <a:solidFill>
                  <a:srgbClr val="3B4BD8"/>
                </a:solidFill>
                <a:latin typeface="Calibri" pitchFamily="34" charset="0"/>
                <a:ea typeface="Calibri" pitchFamily="34" charset="-122"/>
                <a:cs typeface="Calibri" pitchFamily="34" charset="-120"/>
              </a:rPr>
              <a:t>OVER TIME</a:t>
            </a:r>
            <a:endParaRPr lang="en-US" sz="1200" dirty="0"/>
          </a:p>
        </p:txBody>
      </p:sp>
      <p:sp>
        <p:nvSpPr>
          <p:cNvPr id="3" name="Text 1"/>
          <p:cNvSpPr/>
          <p:nvPr/>
        </p:nvSpPr>
        <p:spPr>
          <a:xfrm>
            <a:off x="640080" y="658368"/>
            <a:ext cx="10908792" cy="868680"/>
          </a:xfrm>
          <a:prstGeom prst="rect">
            <a:avLst/>
          </a:prstGeom>
          <a:noFill/>
          <a:ln/>
        </p:spPr>
        <p:txBody>
          <a:bodyPr wrap="square" rtlCol="0" anchor="t"/>
          <a:lstStyle/>
          <a:p>
            <a:pPr indent="0" marL="0">
              <a:buNone/>
            </a:pPr>
            <a:r>
              <a:rPr lang="en-US" sz="2800" b="1" dirty="0">
                <a:solidFill>
                  <a:srgbClr val="111827"/>
                </a:solidFill>
                <a:latin typeface="Calibri" pitchFamily="34" charset="0"/>
                <a:ea typeface="Calibri" pitchFamily="34" charset="-122"/>
                <a:cs typeface="Calibri" pitchFamily="34" charset="-120"/>
              </a:rPr>
              <a:t>A year later: the points move, the ranking holds</a:t>
            </a:r>
            <a:endParaRPr lang="en-US" sz="2800" dirty="0"/>
          </a:p>
        </p:txBody>
      </p:sp>
      <p:sp>
        <p:nvSpPr>
          <p:cNvPr id="4" name="Text 2"/>
          <p:cNvSpPr/>
          <p:nvPr/>
        </p:nvSpPr>
        <p:spPr>
          <a:xfrm>
            <a:off x="640080" y="641908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Renewal Risk Call List · Fello take-home</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7040880" cy="914400"/>
        </p:xfrm>
        <a:graphic>
          <a:graphicData uri="http://schemas.openxmlformats.org/drawingml/2006/table">
            <a:tbl>
              <a:tblPr/>
              <a:tblGrid>
                <a:gridCol w="2651760"/>
                <a:gridCol w="2194560"/>
                <a:gridCol w="2194560"/>
              </a:tblGrid>
              <a:tr h="0">
                <a:tc>
                  <a:txBody>
                    <a:bodyPr/>
                    <a:lstStyle/>
                    <a:p>
                      <a:pPr indent="0" marL="0">
                        <a:buNone/>
                      </a:pPr>
                      <a:r>
                        <a:rPr lang="en-US" sz="1200" b="1" dirty="0">
                          <a:solidFill>
                            <a:srgbClr val="6B7280"/>
                          </a:solidFill>
                          <a:latin typeface="Calibri" pitchFamily="34" charset="0"/>
                          <a:ea typeface="Calibri" pitchFamily="34" charset="-122"/>
                          <a:cs typeface="Calibri" pitchFamily="34" charset="-120"/>
                        </a:rPr>
                        <a:t>Factor, past customers who had it</a:t>
                      </a:r>
                      <a:endParaRPr lang="en-US" sz="1200" dirty="0">
                        <a:latin typeface="Calibri" charset="0"/>
                        <a:ea typeface="Calibri" charset="0"/>
                        <a:cs typeface="Calibri" charset="0"/>
                      </a:endParaRPr>
                    </a:p>
                  </a:txBody>
                  <a:tcPr marL="91440" marR="91440" marT="64008" marB="64008"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4F5FB"/>
                    </a:solidFill>
                  </a:tcPr>
                </a:tc>
                <a:tc>
                  <a:txBody>
                    <a:bodyPr/>
                    <a:lstStyle/>
                    <a:p>
                      <a:pPr indent="0" marL="0">
                        <a:buNone/>
                      </a:pPr>
                      <a:r>
                        <a:rPr lang="en-US" sz="1200" b="1" dirty="0">
                          <a:solidFill>
                            <a:srgbClr val="6B7280"/>
                          </a:solidFill>
                          <a:latin typeface="Calibri" pitchFamily="34" charset="0"/>
                          <a:ea typeface="Calibri" pitchFamily="34" charset="-122"/>
                          <a:cs typeface="Calibri" pitchFamily="34" charset="-120"/>
                        </a:rPr>
                        <a:t>Day one</a:t>
                      </a:r>
                      <a:endParaRPr lang="en-US" sz="1200" dirty="0">
                        <a:latin typeface="Calibri" charset="0"/>
                        <a:ea typeface="Calibri" charset="0"/>
                        <a:cs typeface="Calibri" charset="0"/>
                      </a:endParaRPr>
                    </a:p>
                  </a:txBody>
                  <a:tcPr marL="91440" marR="91440" marT="64008" marB="64008"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4F5FB"/>
                    </a:solidFill>
                  </a:tcPr>
                </a:tc>
                <a:tc>
                  <a:txBody>
                    <a:bodyPr/>
                    <a:lstStyle/>
                    <a:p>
                      <a:pPr indent="0" marL="0">
                        <a:buNone/>
                      </a:pPr>
                      <a:r>
                        <a:rPr lang="en-US" sz="1200" b="1" dirty="0">
                          <a:solidFill>
                            <a:srgbClr val="6B7280"/>
                          </a:solidFill>
                          <a:latin typeface="Calibri" pitchFamily="34" charset="0"/>
                          <a:ea typeface="Calibri" pitchFamily="34" charset="-122"/>
                          <a:cs typeface="Calibri" pitchFamily="34" charset="-120"/>
                        </a:rPr>
                        <a:t>A year later</a:t>
                      </a:r>
                      <a:endParaRPr lang="en-US" sz="1200" dirty="0">
                        <a:latin typeface="Calibri" charset="0"/>
                        <a:ea typeface="Calibri" charset="0"/>
                        <a:cs typeface="Calibri" charset="0"/>
                      </a:endParaRPr>
                    </a:p>
                  </a:txBody>
                  <a:tcPr marL="91440" marR="91440" marT="64008" marB="64008"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4F5FB"/>
                    </a:solidFill>
                  </a:tcPr>
                </a:tc>
              </a:tr>
              <a:tr h="0">
                <a:tc>
                  <a:txBody>
                    <a:bodyPr/>
                    <a:lstStyle/>
                    <a:p>
                      <a:pPr indent="0" marL="0">
                        <a:buNone/>
                      </a:pPr>
                      <a:r>
                        <a:rPr lang="en-US" sz="1200" b="1" dirty="0">
                          <a:solidFill>
                            <a:srgbClr val="111827"/>
                          </a:solidFill>
                          <a:latin typeface="Calibri" pitchFamily="34" charset="0"/>
                          <a:ea typeface="Calibri" pitchFamily="34" charset="-122"/>
                          <a:cs typeface="Calibri" pitchFamily="34" charset="-120"/>
                        </a:rPr>
                        <a:t>Asked to cancel at renewal</a:t>
                      </a:r>
                      <a:endParaRPr lang="en-US" sz="1200" dirty="0">
                        <a:latin typeface="Calibri" charset="0"/>
                        <a:ea typeface="Calibri" charset="0"/>
                        <a:cs typeface="Calibri" charset="0"/>
                      </a:endParaRPr>
                    </a:p>
                  </a:txBody>
                  <a:tcPr marL="91440" marR="91440" marT="64008" marB="64008"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111827"/>
                          </a:solidFill>
                          <a:latin typeface="Calibri" pitchFamily="34" charset="0"/>
                          <a:ea typeface="Calibri" pitchFamily="34" charset="-122"/>
                          <a:cs typeface="Calibri" pitchFamily="34" charset="-120"/>
                        </a:rPr>
                        <a:t>44 in 100 left (16 of 36)</a:t>
                      </a:r>
                      <a:endParaRPr lang="en-US" sz="1200" dirty="0">
                        <a:latin typeface="Calibri" charset="0"/>
                        <a:ea typeface="Calibri" charset="0"/>
                        <a:cs typeface="Calibri" charset="0"/>
                      </a:endParaRPr>
                    </a:p>
                    <a:p>
                      <a:pPr indent="0" marL="0">
                        <a:buNone/>
                      </a:pPr>
                      <a:r>
                        <a:rPr lang="en-US" sz="1200" dirty="0">
                          <a:solidFill>
                            <a:srgbClr val="111827"/>
                          </a:solidFill>
                          <a:latin typeface="Calibri" pitchFamily="34" charset="0"/>
                          <a:ea typeface="Calibri" pitchFamily="34" charset="-122"/>
                          <a:cs typeface="Calibri" pitchFamily="34" charset="-120"/>
                        </a:rPr>
                        <a:t>Adds +2.49 points</a:t>
                      </a:r>
                      <a:endParaRPr lang="en-US" sz="1200" dirty="0">
                        <a:latin typeface="Calibri" charset="0"/>
                        <a:ea typeface="Calibri" charset="0"/>
                        <a:cs typeface="Calibri" charset="0"/>
                      </a:endParaRPr>
                    </a:p>
                  </a:txBody>
                  <a:tcPr marL="91440" marR="91440" marT="64008" marB="64008"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111827"/>
                          </a:solidFill>
                          <a:latin typeface="Calibri" pitchFamily="34" charset="0"/>
                          <a:ea typeface="Calibri" pitchFamily="34" charset="-122"/>
                          <a:cs typeface="Calibri" pitchFamily="34" charset="-120"/>
                        </a:rPr>
                        <a:t>51 in 100 left (38 of 75)</a:t>
                      </a:r>
                      <a:endParaRPr lang="en-US" sz="1200" dirty="0">
                        <a:latin typeface="Calibri" charset="0"/>
                        <a:ea typeface="Calibri" charset="0"/>
                        <a:cs typeface="Calibri" charset="0"/>
                      </a:endParaRPr>
                    </a:p>
                    <a:p>
                      <a:pPr indent="0" marL="0">
                        <a:buNone/>
                      </a:pPr>
                      <a:r>
                        <a:rPr lang="en-US" sz="1200" dirty="0">
                          <a:solidFill>
                            <a:srgbClr val="111827"/>
                          </a:solidFill>
                          <a:latin typeface="Calibri" pitchFamily="34" charset="0"/>
                          <a:ea typeface="Calibri" pitchFamily="34" charset="-122"/>
                          <a:cs typeface="Calibri" pitchFamily="34" charset="-120"/>
                        </a:rPr>
                        <a:t>Adds +3.02 points</a:t>
                      </a:r>
                      <a:endParaRPr lang="en-US" sz="1200" dirty="0">
                        <a:latin typeface="Calibri" charset="0"/>
                        <a:ea typeface="Calibri" charset="0"/>
                        <a:cs typeface="Calibri" charset="0"/>
                      </a:endParaRPr>
                    </a:p>
                  </a:txBody>
                  <a:tcPr marL="91440" marR="91440" marT="64008" marB="64008"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0">
                <a:tc>
                  <a:txBody>
                    <a:bodyPr/>
                    <a:lstStyle/>
                    <a:p>
                      <a:pPr indent="0" marL="0">
                        <a:buNone/>
                      </a:pPr>
                      <a:r>
                        <a:rPr lang="en-US" sz="1200" b="1" dirty="0">
                          <a:solidFill>
                            <a:srgbClr val="111827"/>
                          </a:solidFill>
                          <a:latin typeface="Calibri" pitchFamily="34" charset="0"/>
                          <a:ea typeface="Calibri" pitchFamily="34" charset="-122"/>
                          <a:cs typeface="Calibri" pitchFamily="34" charset="-120"/>
                        </a:rPr>
                        <a:t>3 or more complaints in 90 days</a:t>
                      </a:r>
                      <a:endParaRPr lang="en-US" sz="1200" dirty="0">
                        <a:latin typeface="Calibri" charset="0"/>
                        <a:ea typeface="Calibri" charset="0"/>
                        <a:cs typeface="Calibri" charset="0"/>
                      </a:endParaRPr>
                    </a:p>
                  </a:txBody>
                  <a:tcPr marL="91440" marR="91440" marT="64008" marB="64008"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111827"/>
                          </a:solidFill>
                          <a:latin typeface="Calibri" pitchFamily="34" charset="0"/>
                          <a:ea typeface="Calibri" pitchFamily="34" charset="-122"/>
                          <a:cs typeface="Calibri" pitchFamily="34" charset="-120"/>
                        </a:rPr>
                        <a:t>13 in 100 left (22 of 169)</a:t>
                      </a:r>
                      <a:endParaRPr lang="en-US" sz="1200" dirty="0">
                        <a:latin typeface="Calibri" charset="0"/>
                        <a:ea typeface="Calibri" charset="0"/>
                        <a:cs typeface="Calibri" charset="0"/>
                      </a:endParaRPr>
                    </a:p>
                    <a:p>
                      <a:pPr indent="0" marL="0">
                        <a:buNone/>
                      </a:pPr>
                      <a:r>
                        <a:rPr lang="en-US" sz="1200" dirty="0">
                          <a:solidFill>
                            <a:srgbClr val="111827"/>
                          </a:solidFill>
                          <a:latin typeface="Calibri" pitchFamily="34" charset="0"/>
                          <a:ea typeface="Calibri" pitchFamily="34" charset="-122"/>
                          <a:cs typeface="Calibri" pitchFamily="34" charset="-120"/>
                        </a:rPr>
                        <a:t>Adds +1.09 points</a:t>
                      </a:r>
                      <a:endParaRPr lang="en-US" sz="1200" dirty="0">
                        <a:latin typeface="Calibri" charset="0"/>
                        <a:ea typeface="Calibri" charset="0"/>
                        <a:cs typeface="Calibri" charset="0"/>
                      </a:endParaRPr>
                    </a:p>
                  </a:txBody>
                  <a:tcPr marL="91440" marR="91440" marT="64008" marB="64008"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111827"/>
                          </a:solidFill>
                          <a:latin typeface="Calibri" pitchFamily="34" charset="0"/>
                          <a:ea typeface="Calibri" pitchFamily="34" charset="-122"/>
                          <a:cs typeface="Calibri" pitchFamily="34" charset="-120"/>
                        </a:rPr>
                        <a:t>14 in 100 left (46 of 331)</a:t>
                      </a:r>
                      <a:endParaRPr lang="en-US" sz="1200" dirty="0">
                        <a:latin typeface="Calibri" charset="0"/>
                        <a:ea typeface="Calibri" charset="0"/>
                        <a:cs typeface="Calibri" charset="0"/>
                      </a:endParaRPr>
                    </a:p>
                    <a:p>
                      <a:pPr indent="0" marL="0">
                        <a:buNone/>
                      </a:pPr>
                      <a:r>
                        <a:rPr lang="en-US" sz="1200" dirty="0">
                          <a:solidFill>
                            <a:srgbClr val="111827"/>
                          </a:solidFill>
                          <a:latin typeface="Calibri" pitchFamily="34" charset="0"/>
                          <a:ea typeface="Calibri" pitchFamily="34" charset="-122"/>
                          <a:cs typeface="Calibri" pitchFamily="34" charset="-120"/>
                        </a:rPr>
                        <a:t>Adds +1.14 points</a:t>
                      </a:r>
                      <a:endParaRPr lang="en-US" sz="1200" dirty="0">
                        <a:latin typeface="Calibri" charset="0"/>
                        <a:ea typeface="Calibri" charset="0"/>
                        <a:cs typeface="Calibri" charset="0"/>
                      </a:endParaRPr>
                    </a:p>
                  </a:txBody>
                  <a:tcPr marL="91440" marR="91440" marT="64008" marB="64008"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0">
                <a:tc>
                  <a:txBody>
                    <a:bodyPr/>
                    <a:lstStyle/>
                    <a:p>
                      <a:pPr indent="0" marL="0">
                        <a:buNone/>
                      </a:pPr>
                      <a:r>
                        <a:rPr lang="en-US" sz="1200" b="1" dirty="0">
                          <a:solidFill>
                            <a:srgbClr val="111827"/>
                          </a:solidFill>
                          <a:latin typeface="Calibri" pitchFamily="34" charset="0"/>
                          <a:ea typeface="Calibri" pitchFamily="34" charset="-122"/>
                          <a:cs typeface="Calibri" pitchFamily="34" charset="-120"/>
                        </a:rPr>
                        <a:t>Reduced their plan recently</a:t>
                      </a:r>
                      <a:endParaRPr lang="en-US" sz="1200" dirty="0">
                        <a:latin typeface="Calibri" charset="0"/>
                        <a:ea typeface="Calibri" charset="0"/>
                        <a:cs typeface="Calibri" charset="0"/>
                      </a:endParaRPr>
                    </a:p>
                  </a:txBody>
                  <a:tcPr marL="91440" marR="91440" marT="64008" marB="64008"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111827"/>
                          </a:solidFill>
                          <a:latin typeface="Calibri" pitchFamily="34" charset="0"/>
                          <a:ea typeface="Calibri" pitchFamily="34" charset="-122"/>
                          <a:cs typeface="Calibri" pitchFamily="34" charset="-120"/>
                        </a:rPr>
                        <a:t>16 in 100 left (9 of 56)</a:t>
                      </a:r>
                      <a:endParaRPr lang="en-US" sz="1200" dirty="0">
                        <a:latin typeface="Calibri" charset="0"/>
                        <a:ea typeface="Calibri" charset="0"/>
                        <a:cs typeface="Calibri" charset="0"/>
                      </a:endParaRPr>
                    </a:p>
                    <a:p>
                      <a:pPr indent="0" marL="0">
                        <a:buNone/>
                      </a:pPr>
                      <a:r>
                        <a:rPr lang="en-US" sz="1200" dirty="0">
                          <a:solidFill>
                            <a:srgbClr val="111827"/>
                          </a:solidFill>
                          <a:latin typeface="Calibri" pitchFamily="34" charset="0"/>
                          <a:ea typeface="Calibri" pitchFamily="34" charset="-122"/>
                          <a:cs typeface="Calibri" pitchFamily="34" charset="-120"/>
                        </a:rPr>
                        <a:t>Adds +0.97 points</a:t>
                      </a:r>
                      <a:endParaRPr lang="en-US" sz="1200" dirty="0">
                        <a:latin typeface="Calibri" charset="0"/>
                        <a:ea typeface="Calibri" charset="0"/>
                        <a:cs typeface="Calibri" charset="0"/>
                      </a:endParaRPr>
                    </a:p>
                  </a:txBody>
                  <a:tcPr marL="91440" marR="91440" marT="64008" marB="64008"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111827"/>
                          </a:solidFill>
                          <a:latin typeface="Calibri" pitchFamily="34" charset="0"/>
                          <a:ea typeface="Calibri" pitchFamily="34" charset="-122"/>
                          <a:cs typeface="Calibri" pitchFamily="34" charset="-120"/>
                        </a:rPr>
                        <a:t>16 in 100 left (18 of 111)</a:t>
                      </a:r>
                      <a:endParaRPr lang="en-US" sz="1200" dirty="0">
                        <a:latin typeface="Calibri" charset="0"/>
                        <a:ea typeface="Calibri" charset="0"/>
                        <a:cs typeface="Calibri" charset="0"/>
                      </a:endParaRPr>
                    </a:p>
                    <a:p>
                      <a:pPr indent="0" marL="0">
                        <a:buNone/>
                      </a:pPr>
                      <a:r>
                        <a:rPr lang="en-US" sz="1200" dirty="0">
                          <a:solidFill>
                            <a:srgbClr val="111827"/>
                          </a:solidFill>
                          <a:latin typeface="Calibri" pitchFamily="34" charset="0"/>
                          <a:ea typeface="Calibri" pitchFamily="34" charset="-122"/>
                          <a:cs typeface="Calibri" pitchFamily="34" charset="-120"/>
                        </a:rPr>
                        <a:t>Adds +0.95 points</a:t>
                      </a:r>
                      <a:endParaRPr lang="en-US" sz="1200" dirty="0">
                        <a:latin typeface="Calibri" charset="0"/>
                        <a:ea typeface="Calibri" charset="0"/>
                        <a:cs typeface="Calibri" charset="0"/>
                      </a:endParaRPr>
                    </a:p>
                  </a:txBody>
                  <a:tcPr marL="91440" marR="91440" marT="64008" marB="64008"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0">
                <a:tc>
                  <a:txBody>
                    <a:bodyPr/>
                    <a:lstStyle/>
                    <a:p>
                      <a:pPr indent="0" marL="0">
                        <a:buNone/>
                      </a:pPr>
                      <a:r>
                        <a:rPr lang="en-US" sz="1200" b="1" dirty="0">
                          <a:solidFill>
                            <a:srgbClr val="111827"/>
                          </a:solidFill>
                          <a:latin typeface="Calibri" pitchFamily="34" charset="0"/>
                          <a:ea typeface="Calibri" pitchFamily="34" charset="-122"/>
                          <a:cs typeface="Calibri" pitchFamily="34" charset="-120"/>
                        </a:rPr>
                        <a:t>Complaint still open</a:t>
                      </a:r>
                      <a:endParaRPr lang="en-US" sz="1200" dirty="0">
                        <a:latin typeface="Calibri" charset="0"/>
                        <a:ea typeface="Calibri" charset="0"/>
                        <a:cs typeface="Calibri" charset="0"/>
                      </a:endParaRPr>
                    </a:p>
                  </a:txBody>
                  <a:tcPr marL="91440" marR="91440" marT="64008" marB="64008"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111827"/>
                          </a:solidFill>
                          <a:latin typeface="Calibri" pitchFamily="34" charset="0"/>
                          <a:ea typeface="Calibri" pitchFamily="34" charset="-122"/>
                          <a:cs typeface="Calibri" pitchFamily="34" charset="-120"/>
                        </a:rPr>
                        <a:t>4.1 in 100 left (5 of 123)</a:t>
                      </a:r>
                      <a:endParaRPr lang="en-US" sz="1200" dirty="0">
                        <a:latin typeface="Calibri" charset="0"/>
                        <a:ea typeface="Calibri" charset="0"/>
                        <a:cs typeface="Calibri" charset="0"/>
                      </a:endParaRPr>
                    </a:p>
                    <a:p>
                      <a:pPr indent="0" marL="0">
                        <a:buNone/>
                      </a:pPr>
                      <a:r>
                        <a:rPr lang="en-US" sz="1200" dirty="0">
                          <a:solidFill>
                            <a:srgbClr val="111827"/>
                          </a:solidFill>
                          <a:latin typeface="Calibri" pitchFamily="34" charset="0"/>
                          <a:ea typeface="Calibri" pitchFamily="34" charset="-122"/>
                          <a:cs typeface="Calibri" pitchFamily="34" charset="-120"/>
                        </a:rPr>
                        <a:t>Adds −0.26 points</a:t>
                      </a:r>
                      <a:endParaRPr lang="en-US" sz="1200" dirty="0">
                        <a:latin typeface="Calibri" charset="0"/>
                        <a:ea typeface="Calibri" charset="0"/>
                        <a:cs typeface="Calibri" charset="0"/>
                      </a:endParaRPr>
                    </a:p>
                  </a:txBody>
                  <a:tcPr marL="91440" marR="91440" marT="64008" marB="64008"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200" dirty="0">
                          <a:solidFill>
                            <a:srgbClr val="111827"/>
                          </a:solidFill>
                          <a:latin typeface="Calibri" pitchFamily="34" charset="0"/>
                          <a:ea typeface="Calibri" pitchFamily="34" charset="-122"/>
                          <a:cs typeface="Calibri" pitchFamily="34" charset="-120"/>
                        </a:rPr>
                        <a:t>4.8 in 100 left (11 of 229)</a:t>
                      </a:r>
                      <a:endParaRPr lang="en-US" sz="1200" dirty="0">
                        <a:latin typeface="Calibri" charset="0"/>
                        <a:ea typeface="Calibri" charset="0"/>
                        <a:cs typeface="Calibri" charset="0"/>
                      </a:endParaRPr>
                    </a:p>
                    <a:p>
                      <a:pPr indent="0" marL="0">
                        <a:buNone/>
                      </a:pPr>
                      <a:r>
                        <a:rPr lang="en-US" sz="1200" dirty="0">
                          <a:solidFill>
                            <a:srgbClr val="111827"/>
                          </a:solidFill>
                          <a:latin typeface="Calibri" pitchFamily="34" charset="0"/>
                          <a:ea typeface="Calibri" pitchFamily="34" charset="-122"/>
                          <a:cs typeface="Calibri" pitchFamily="34" charset="-120"/>
                        </a:rPr>
                        <a:t>Adds +0.04 points</a:t>
                      </a:r>
                      <a:endParaRPr lang="en-US" sz="1200" dirty="0">
                        <a:latin typeface="Calibri" charset="0"/>
                        <a:ea typeface="Calibri" charset="0"/>
                        <a:cs typeface="Calibri" charset="0"/>
                      </a:endParaRPr>
                    </a:p>
                  </a:txBody>
                  <a:tcPr marL="91440" marR="91440" marT="64008" marB="64008"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
        <p:nvSpPr>
          <p:cNvPr id="7" name="Text 3"/>
          <p:cNvSpPr/>
          <p:nvPr/>
        </p:nvSpPr>
        <p:spPr>
          <a:xfrm>
            <a:off x="8138160" y="1737360"/>
            <a:ext cx="3383280" cy="731520"/>
          </a:xfrm>
          <a:prstGeom prst="rect">
            <a:avLst/>
          </a:prstGeom>
          <a:noFill/>
          <a:ln/>
        </p:spPr>
        <p:txBody>
          <a:bodyPr wrap="square" rtlCol="0" anchor="b"/>
          <a:lstStyle/>
          <a:p>
            <a:pPr indent="0" marL="0">
              <a:buNone/>
            </a:pPr>
            <a:r>
              <a:rPr lang="en-US" sz="3800" b="1" dirty="0">
                <a:solidFill>
                  <a:srgbClr val="3B4BD8"/>
                </a:solidFill>
                <a:latin typeface="Calibri" pitchFamily="34" charset="0"/>
                <a:ea typeface="Calibri" pitchFamily="34" charset="-122"/>
                <a:cs typeface="Calibri" pitchFamily="34" charset="-120"/>
              </a:rPr>
              <a:t>85%</a:t>
            </a:r>
            <a:endParaRPr lang="en-US" sz="3800" dirty="0"/>
          </a:p>
        </p:txBody>
      </p:sp>
      <p:sp>
        <p:nvSpPr>
          <p:cNvPr id="8" name="Text 4"/>
          <p:cNvSpPr/>
          <p:nvPr/>
        </p:nvSpPr>
        <p:spPr>
          <a:xfrm>
            <a:off x="8138160" y="2487168"/>
            <a:ext cx="3383280" cy="685800"/>
          </a:xfrm>
          <a:prstGeom prst="rect">
            <a:avLst/>
          </a:prstGeom>
          <a:noFill/>
          <a:ln/>
        </p:spPr>
        <p:txBody>
          <a:bodyPr wrap="square" rtlCol="0" anchor="t"/>
          <a:lstStyle/>
          <a:p>
            <a:pPr indent="0" marL="0">
              <a:buNone/>
            </a:pPr>
            <a:r>
              <a:rPr lang="en-US" sz="1300" dirty="0">
                <a:solidFill>
                  <a:srgbClr val="6B7280"/>
                </a:solidFill>
                <a:latin typeface="Calibri" pitchFamily="34" charset="0"/>
                <a:ea typeface="Calibri" pitchFamily="34" charset="-122"/>
                <a:cs typeface="Calibri" pitchFamily="34" charset="-120"/>
              </a:rPr>
              <a:t>of top-15 names stay the same (522 of 615)</a:t>
            </a:r>
            <a:endParaRPr lang="en-US" sz="1300" dirty="0"/>
          </a:p>
        </p:txBody>
      </p:sp>
      <p:sp>
        <p:nvSpPr>
          <p:cNvPr id="9" name="Text 5"/>
          <p:cNvSpPr/>
          <p:nvPr/>
        </p:nvSpPr>
        <p:spPr>
          <a:xfrm>
            <a:off x="8138160" y="3200400"/>
            <a:ext cx="3383280" cy="731520"/>
          </a:xfrm>
          <a:prstGeom prst="rect">
            <a:avLst/>
          </a:prstGeom>
          <a:noFill/>
          <a:ln/>
        </p:spPr>
        <p:txBody>
          <a:bodyPr wrap="square" rtlCol="0" anchor="b"/>
          <a:lstStyle/>
          <a:p>
            <a:pPr indent="0" marL="0">
              <a:buNone/>
            </a:pPr>
            <a:r>
              <a:rPr lang="en-US" sz="3800" b="1" dirty="0">
                <a:solidFill>
                  <a:srgbClr val="6B7280"/>
                </a:solidFill>
                <a:latin typeface="Calibri" pitchFamily="34" charset="0"/>
                <a:ea typeface="Calibri" pitchFamily="34" charset="-122"/>
                <a:cs typeface="Calibri" pitchFamily="34" charset="-120"/>
              </a:rPr>
              <a:t>0.75 → 0.73</a:t>
            </a:r>
            <a:endParaRPr lang="en-US" sz="3800" dirty="0"/>
          </a:p>
        </p:txBody>
      </p:sp>
      <p:sp>
        <p:nvSpPr>
          <p:cNvPr id="10" name="Text 6"/>
          <p:cNvSpPr/>
          <p:nvPr/>
        </p:nvSpPr>
        <p:spPr>
          <a:xfrm>
            <a:off x="8138160" y="3950208"/>
            <a:ext cx="3383280" cy="685800"/>
          </a:xfrm>
          <a:prstGeom prst="rect">
            <a:avLst/>
          </a:prstGeom>
          <a:noFill/>
          <a:ln/>
        </p:spPr>
        <p:txBody>
          <a:bodyPr wrap="square" rtlCol="0" anchor="t"/>
          <a:lstStyle/>
          <a:p>
            <a:pPr indent="0" marL="0">
              <a:buNone/>
            </a:pPr>
            <a:r>
              <a:rPr lang="en-US" sz="1300" dirty="0">
                <a:solidFill>
                  <a:srgbClr val="6B7280"/>
                </a:solidFill>
                <a:latin typeface="Calibri" pitchFamily="34" charset="0"/>
                <a:ea typeface="Calibri" pitchFamily="34" charset="-122"/>
                <a:cs typeface="Calibri" pitchFamily="34" charset="-120"/>
              </a:rPr>
              <a:t>ranking quality: not a real difference with only 29 leavers</a:t>
            </a:r>
            <a:endParaRPr lang="en-US" sz="1300" dirty="0"/>
          </a:p>
        </p:txBody>
      </p:sp>
      <p:sp>
        <p:nvSpPr>
          <p:cNvPr id="11" name="Text 7"/>
          <p:cNvSpPr/>
          <p:nvPr/>
        </p:nvSpPr>
        <p:spPr>
          <a:xfrm>
            <a:off x="640080" y="5074920"/>
            <a:ext cx="10908792" cy="1097280"/>
          </a:xfrm>
          <a:prstGeom prst="rect">
            <a:avLst/>
          </a:prstGeom>
          <a:noFill/>
          <a:ln/>
        </p:spPr>
        <p:txBody>
          <a:bodyPr wrap="square" rtlCol="0" anchor="t"/>
          <a:lstStyle/>
          <a:p>
            <a:pPr indent="0" marL="0">
              <a:buNone/>
            </a:pPr>
            <a:r>
              <a:rPr lang="en-US" sz="1200" dirty="0">
                <a:solidFill>
                  <a:srgbClr val="6B7280"/>
                </a:solidFill>
                <a:latin typeface="Calibri" pitchFamily="34" charset="0"/>
                <a:ea typeface="Calibri" pitchFamily="34" charset="-122"/>
                <a:cs typeface="Calibri" pitchFamily="34" charset="-120"/>
              </a:rPr>
              <a:t>More history did not improve ranking here. This generated data has no change over time built in; real customers do change, which is why the points are re-learned monthly. Replayed, not observed: each version learned only from what was known on 15 June 2025 or 2026, then both were tested on 15 June 2026 (npm run replay).</a:t>
            </a:r>
            <a:endParaRPr lang="en-US" sz="1200" dirty="0"/>
          </a:p>
        </p:txBody>
      </p:sp>
      <p:sp>
        <p:nvSpPr>
          <p:cNvPr id="25" name="Slide Number Placeholder 0"/>
          <p:cNvSpPr>
            <a:spLocks noGrp="1"/>
          </p:cNvSpPr>
          <p:nvPr>
            <p:ph type="sldNum" sz="quarter" idx="4294967295"/>
          </p:nvPr>
        </p:nvSpPr>
        <p:spPr>
          <a:xfrm>
            <a:off x="1088136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274320"/>
          </a:xfrm>
          <a:prstGeom prst="rect">
            <a:avLst/>
          </a:prstGeom>
          <a:noFill/>
          <a:ln/>
        </p:spPr>
        <p:txBody>
          <a:bodyPr wrap="square" rtlCol="0" anchor="ctr"/>
          <a:lstStyle/>
          <a:p>
            <a:pPr indent="0" marL="0">
              <a:buNone/>
            </a:pPr>
            <a:r>
              <a:rPr lang="en-US" sz="1200" b="1" spc="300" kern="0" dirty="0">
                <a:solidFill>
                  <a:srgbClr val="3B4BD8"/>
                </a:solidFill>
                <a:latin typeface="Calibri" pitchFamily="34" charset="0"/>
                <a:ea typeface="Calibri" pitchFamily="34" charset="-122"/>
                <a:cs typeface="Calibri" pitchFamily="34" charset="-120"/>
              </a:rPr>
              <a:t>THE PROOF</a:t>
            </a:r>
            <a:endParaRPr lang="en-US" sz="1200" dirty="0"/>
          </a:p>
        </p:txBody>
      </p:sp>
      <p:sp>
        <p:nvSpPr>
          <p:cNvPr id="3" name="Text 1"/>
          <p:cNvSpPr/>
          <p:nvPr/>
        </p:nvSpPr>
        <p:spPr>
          <a:xfrm>
            <a:off x="640080" y="658368"/>
            <a:ext cx="10908792" cy="868680"/>
          </a:xfrm>
          <a:prstGeom prst="rect">
            <a:avLst/>
          </a:prstGeom>
          <a:noFill/>
          <a:ln/>
        </p:spPr>
        <p:txBody>
          <a:bodyPr wrap="square" rtlCol="0" anchor="t"/>
          <a:lstStyle/>
          <a:p>
            <a:pPr indent="0" marL="0">
              <a:buNone/>
            </a:pPr>
            <a:r>
              <a:rPr lang="en-US" sz="2800" b="1" dirty="0">
                <a:solidFill>
                  <a:srgbClr val="111827"/>
                </a:solidFill>
                <a:latin typeface="Calibri" pitchFamily="34" charset="0"/>
                <a:ea typeface="Calibri" pitchFamily="34" charset="-122"/>
                <a:cs typeface="Calibri" pitchFamily="34" charset="-120"/>
              </a:rPr>
              <a:t>It beats a simple rule, but the evidence is small</a:t>
            </a:r>
            <a:endParaRPr lang="en-US" sz="2800" dirty="0"/>
          </a:p>
        </p:txBody>
      </p:sp>
      <p:sp>
        <p:nvSpPr>
          <p:cNvPr id="4" name="Text 2"/>
          <p:cNvSpPr/>
          <p:nvPr/>
        </p:nvSpPr>
        <p:spPr>
          <a:xfrm>
            <a:off x="640080" y="641908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Renewal Risk Call List · Fello take-home</a:t>
            </a:r>
            <a:endParaRPr lang="en-US" sz="1000" dirty="0"/>
          </a:p>
        </p:txBody>
      </p:sp>
      <p:sp>
        <p:nvSpPr>
          <p:cNvPr id="6" name="Text 3"/>
          <p:cNvSpPr/>
          <p:nvPr/>
        </p:nvSpPr>
        <p:spPr>
          <a:xfrm>
            <a:off x="640080" y="1737360"/>
            <a:ext cx="5486400" cy="320040"/>
          </a:xfrm>
          <a:prstGeom prst="rect">
            <a:avLst/>
          </a:prstGeom>
          <a:noFill/>
          <a:ln/>
        </p:spPr>
        <p:txBody>
          <a:bodyPr wrap="square"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Leavers caught in each manager's top 15 (out of 29)</a:t>
            </a:r>
            <a:endParaRPr lang="en-US" sz="1400" dirty="0"/>
          </a:p>
        </p:txBody>
      </p:sp>
      <p:graphicFrame>
        <p:nvGraphicFramePr>
          <p:cNvPr id="7" name="Chart 0" descr=""/>
          <p:cNvGraphicFramePr/>
          <p:nvPr/>
        </p:nvGraphicFramePr>
        <p:xfrm>
          <a:off x="548640" y="2103120"/>
          <a:ext cx="5669280" cy="3108960"/>
        </p:xfrm>
        <a:graphic xmlns:a="http://schemas.openxmlformats.org/drawingml/2006/main">
          <a:graphicData uri="http://schemas.openxmlformats.org/drawingml/2006/chart">
            <c:chart xmlns:c="http://schemas.openxmlformats.org/drawingml/2006/chart" r:id="rId1"/>
          </a:graphicData>
        </a:graphic>
      </p:graphicFrame>
      <p:sp>
        <p:nvSpPr>
          <p:cNvPr id="8" name="Text 4"/>
          <p:cNvSpPr/>
          <p:nvPr/>
        </p:nvSpPr>
        <p:spPr>
          <a:xfrm>
            <a:off x="6766560" y="1783080"/>
            <a:ext cx="2377440" cy="731520"/>
          </a:xfrm>
          <a:prstGeom prst="rect">
            <a:avLst/>
          </a:prstGeom>
          <a:noFill/>
          <a:ln/>
        </p:spPr>
        <p:txBody>
          <a:bodyPr wrap="square" rtlCol="0" anchor="b"/>
          <a:lstStyle/>
          <a:p>
            <a:pPr indent="0" marL="0">
              <a:buNone/>
            </a:pPr>
            <a:r>
              <a:rPr lang="en-US" sz="3800" b="1" dirty="0">
                <a:solidFill>
                  <a:srgbClr val="3B4BD8"/>
                </a:solidFill>
                <a:latin typeface="Calibri" pitchFamily="34" charset="0"/>
                <a:ea typeface="Calibri" pitchFamily="34" charset="-122"/>
                <a:cs typeface="Calibri" pitchFamily="34" charset="-120"/>
              </a:rPr>
              <a:t>0.71</a:t>
            </a:r>
            <a:endParaRPr lang="en-US" sz="3800" dirty="0"/>
          </a:p>
        </p:txBody>
      </p:sp>
      <p:sp>
        <p:nvSpPr>
          <p:cNvPr id="9" name="Text 5"/>
          <p:cNvSpPr/>
          <p:nvPr/>
        </p:nvSpPr>
        <p:spPr>
          <a:xfrm>
            <a:off x="6766560" y="2532888"/>
            <a:ext cx="2377440" cy="685800"/>
          </a:xfrm>
          <a:prstGeom prst="rect">
            <a:avLst/>
          </a:prstGeom>
          <a:noFill/>
          <a:ln/>
        </p:spPr>
        <p:txBody>
          <a:bodyPr wrap="square" rtlCol="0" anchor="t"/>
          <a:lstStyle/>
          <a:p>
            <a:pPr indent="0" marL="0">
              <a:buNone/>
            </a:pPr>
            <a:r>
              <a:rPr lang="en-US" sz="1300" dirty="0">
                <a:solidFill>
                  <a:srgbClr val="6B7280"/>
                </a:solidFill>
                <a:latin typeface="Calibri" pitchFamily="34" charset="0"/>
                <a:ea typeface="Calibri" pitchFamily="34" charset="-122"/>
                <a:cs typeface="Calibri" pitchFamily="34" charset="-120"/>
              </a:rPr>
              <a:t>our score's ranking quality (likely range 0.65 to 0.85)</a:t>
            </a:r>
            <a:endParaRPr lang="en-US" sz="1300" dirty="0"/>
          </a:p>
        </p:txBody>
      </p:sp>
      <p:sp>
        <p:nvSpPr>
          <p:cNvPr id="10" name="Text 6"/>
          <p:cNvSpPr/>
          <p:nvPr/>
        </p:nvSpPr>
        <p:spPr>
          <a:xfrm>
            <a:off x="9235440" y="1783080"/>
            <a:ext cx="2286000" cy="731520"/>
          </a:xfrm>
          <a:prstGeom prst="rect">
            <a:avLst/>
          </a:prstGeom>
          <a:noFill/>
          <a:ln/>
        </p:spPr>
        <p:txBody>
          <a:bodyPr wrap="square" rtlCol="0" anchor="b"/>
          <a:lstStyle/>
          <a:p>
            <a:pPr indent="0" marL="0">
              <a:buNone/>
            </a:pPr>
            <a:r>
              <a:rPr lang="en-US" sz="3800" b="1" dirty="0">
                <a:solidFill>
                  <a:srgbClr val="6B7280"/>
                </a:solidFill>
                <a:latin typeface="Calibri" pitchFamily="34" charset="0"/>
                <a:ea typeface="Calibri" pitchFamily="34" charset="-122"/>
                <a:cs typeface="Calibri" pitchFamily="34" charset="-120"/>
              </a:rPr>
              <a:t>0.60</a:t>
            </a:r>
            <a:endParaRPr lang="en-US" sz="3800" dirty="0"/>
          </a:p>
        </p:txBody>
      </p:sp>
      <p:sp>
        <p:nvSpPr>
          <p:cNvPr id="11" name="Text 7"/>
          <p:cNvSpPr/>
          <p:nvPr/>
        </p:nvSpPr>
        <p:spPr>
          <a:xfrm>
            <a:off x="9235440" y="2532888"/>
            <a:ext cx="2286000" cy="685800"/>
          </a:xfrm>
          <a:prstGeom prst="rect">
            <a:avLst/>
          </a:prstGeom>
          <a:noFill/>
          <a:ln/>
        </p:spPr>
        <p:txBody>
          <a:bodyPr wrap="square" rtlCol="0" anchor="t"/>
          <a:lstStyle/>
          <a:p>
            <a:pPr indent="0" marL="0">
              <a:buNone/>
            </a:pPr>
            <a:r>
              <a:rPr lang="en-US" sz="1300" dirty="0">
                <a:solidFill>
                  <a:srgbClr val="6B7280"/>
                </a:solidFill>
                <a:latin typeface="Calibri" pitchFamily="34" charset="0"/>
                <a:ea typeface="Calibri" pitchFamily="34" charset="-122"/>
                <a:cs typeface="Calibri" pitchFamily="34" charset="-120"/>
              </a:rPr>
              <a:t>simple rule (likely range 0.51 to 0.69)</a:t>
            </a:r>
            <a:endParaRPr lang="en-US" sz="1300" dirty="0"/>
          </a:p>
        </p:txBody>
      </p:sp>
      <p:sp>
        <p:nvSpPr>
          <p:cNvPr id="12" name="Text 8"/>
          <p:cNvSpPr/>
          <p:nvPr/>
        </p:nvSpPr>
        <p:spPr>
          <a:xfrm>
            <a:off x="6766560" y="3383280"/>
            <a:ext cx="4754880" cy="2194560"/>
          </a:xfrm>
          <a:prstGeom prst="rect">
            <a:avLst/>
          </a:prstGeom>
          <a:noFill/>
          <a:ln/>
        </p:spPr>
        <p:txBody>
          <a:bodyPr wrap="square" rtlCol="0" anchor="t"/>
          <a:lstStyle/>
          <a:p>
            <a:pPr marL="177800" indent="-177800">
              <a:spcAft>
                <a:spcPts val="600"/>
              </a:spcAft>
              <a:buSzPct val="100000"/>
              <a:buChar char="•"/>
            </a:pPr>
            <a:r>
              <a:rPr lang="en-US" sz="1400" dirty="0">
                <a:solidFill>
                  <a:srgbClr val="111827"/>
                </a:solidFill>
                <a:latin typeface="Calibri" pitchFamily="34" charset="0"/>
                <a:ea typeface="Calibri" pitchFamily="34" charset="-122"/>
                <a:cs typeface="Calibri" pitchFamily="34" charset="-120"/>
              </a:rPr>
              <a:t>0.5 is a coin toss, 1.0 is perfect.</a:t>
            </a:r>
            <a:endParaRPr lang="en-US" sz="1400" dirty="0"/>
          </a:p>
          <a:p>
            <a:pPr marL="177800" indent="-177800">
              <a:spcAft>
                <a:spcPts val="600"/>
              </a:spcAft>
              <a:buSzPct val="100000"/>
              <a:buChar char="•"/>
            </a:pPr>
            <a:r>
              <a:rPr lang="en-US" sz="1400" dirty="0">
                <a:solidFill>
                  <a:srgbClr val="111827"/>
                </a:solidFill>
                <a:latin typeface="Calibri" pitchFamily="34" charset="0"/>
                <a:ea typeface="Calibri" pitchFamily="34" charset="-122"/>
                <a:cs typeface="Calibri" pitchFamily="34" charset="-120"/>
              </a:rPr>
              <a:t>Only 29 customers left in the test, so the ranges are wide.</a:t>
            </a:r>
            <a:endParaRPr lang="en-US" sz="1400" dirty="0"/>
          </a:p>
          <a:p>
            <a:pPr marL="177800" indent="-177800">
              <a:spcAft>
                <a:spcPts val="600"/>
              </a:spcAft>
              <a:buSzPct val="100000"/>
              <a:buChar char="•"/>
            </a:pPr>
            <a:r>
              <a:rPr lang="en-US" sz="1400" dirty="0">
                <a:solidFill>
                  <a:srgbClr val="111827"/>
                </a:solidFill>
                <a:latin typeface="Calibri" pitchFamily="34" charset="0"/>
                <a:ea typeface="Calibri" pitchFamily="34" charset="-122"/>
                <a:cs typeface="Calibri" pitchFamily="34" charset="-120"/>
              </a:rPr>
              <a:t>Tested on a date the system never saw (15 June 2026).</a:t>
            </a:r>
            <a:endParaRPr lang="en-US" sz="1400" dirty="0"/>
          </a:p>
          <a:p>
            <a:pPr marL="177800" indent="-177800">
              <a:spcAft>
                <a:spcPts val="600"/>
              </a:spcAft>
              <a:buSzPct val="100000"/>
              <a:buChar char="•"/>
            </a:pPr>
            <a:r>
              <a:rPr lang="en-US" sz="1400" dirty="0">
                <a:solidFill>
                  <a:srgbClr val="111827"/>
                </a:solidFill>
                <a:latin typeface="Calibri" pitchFamily="34" charset="0"/>
                <a:ea typeface="Calibri" pitchFamily="34" charset="-122"/>
                <a:cs typeface="Calibri" pitchFamily="34" charset="-120"/>
              </a:rPr>
              <a:t>Earlier 0.83 was before I fixed what "leaving" means. I report 0.71.</a:t>
            </a:r>
            <a:endParaRPr lang="en-US" sz="1400" dirty="0"/>
          </a:p>
        </p:txBody>
      </p:sp>
      <p:sp>
        <p:nvSpPr>
          <p:cNvPr id="13" name="Shape 9"/>
          <p:cNvSpPr/>
          <p:nvPr/>
        </p:nvSpPr>
        <p:spPr>
          <a:xfrm>
            <a:off x="640080" y="5623560"/>
            <a:ext cx="10908792" cy="548640"/>
          </a:xfrm>
          <a:prstGeom prst="roundRect">
            <a:avLst>
              <a:gd name="adj" fmla="val 20000"/>
            </a:avLst>
          </a:prstGeom>
          <a:solidFill>
            <a:srgbClr val="E8EAFD"/>
          </a:solidFill>
          <a:ln w="12700">
            <a:solidFill>
              <a:srgbClr val="E8EAFD"/>
            </a:solidFill>
            <a:prstDash val="solid"/>
          </a:ln>
        </p:spPr>
      </p:sp>
      <p:sp>
        <p:nvSpPr>
          <p:cNvPr id="14" name="Text 10"/>
          <p:cNvSpPr/>
          <p:nvPr/>
        </p:nvSpPr>
        <p:spPr>
          <a:xfrm>
            <a:off x="868680" y="5623560"/>
            <a:ext cx="10451592" cy="548640"/>
          </a:xfrm>
          <a:prstGeom prst="rect">
            <a:avLst/>
          </a:prstGeom>
          <a:noFill/>
          <a:ln/>
        </p:spPr>
        <p:txBody>
          <a:bodyPr wrap="square"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The data is generated: this shows the system works, not how it would do on real customers.</a:t>
            </a:r>
            <a:endParaRPr lang="en-US" sz="1500" dirty="0"/>
          </a:p>
        </p:txBody>
      </p:sp>
      <p:sp>
        <p:nvSpPr>
          <p:cNvPr id="25" name="Slide Number Placeholder 0"/>
          <p:cNvSpPr>
            <a:spLocks noGrp="1"/>
          </p:cNvSpPr>
          <p:nvPr>
            <p:ph type="sldNum" sz="quarter" idx="4294967295"/>
          </p:nvPr>
        </p:nvSpPr>
        <p:spPr>
          <a:xfrm>
            <a:off x="1088136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274320"/>
          </a:xfrm>
          <a:prstGeom prst="rect">
            <a:avLst/>
          </a:prstGeom>
          <a:noFill/>
          <a:ln/>
        </p:spPr>
        <p:txBody>
          <a:bodyPr wrap="square" rtlCol="0" anchor="ctr"/>
          <a:lstStyle/>
          <a:p>
            <a:pPr indent="0" marL="0">
              <a:buNone/>
            </a:pPr>
            <a:r>
              <a:rPr lang="en-US" sz="1200" b="1" spc="300" kern="0" dirty="0">
                <a:solidFill>
                  <a:srgbClr val="3B4BD8"/>
                </a:solidFill>
                <a:latin typeface="Calibri" pitchFamily="34" charset="0"/>
                <a:ea typeface="Calibri" pitchFamily="34" charset="-122"/>
                <a:cs typeface="Calibri" pitchFamily="34" charset="-120"/>
              </a:rPr>
              <a:t>THE PROOF</a:t>
            </a:r>
            <a:endParaRPr lang="en-US" sz="1200" dirty="0"/>
          </a:p>
        </p:txBody>
      </p:sp>
      <p:sp>
        <p:nvSpPr>
          <p:cNvPr id="3" name="Text 1"/>
          <p:cNvSpPr/>
          <p:nvPr/>
        </p:nvSpPr>
        <p:spPr>
          <a:xfrm>
            <a:off x="640080" y="658368"/>
            <a:ext cx="10908792" cy="868680"/>
          </a:xfrm>
          <a:prstGeom prst="rect">
            <a:avLst/>
          </a:prstGeom>
          <a:noFill/>
          <a:ln/>
        </p:spPr>
        <p:txBody>
          <a:bodyPr wrap="square" rtlCol="0" anchor="t"/>
          <a:lstStyle/>
          <a:p>
            <a:pPr indent="0" marL="0">
              <a:buNone/>
            </a:pPr>
            <a:r>
              <a:rPr lang="en-US" sz="2800" b="1" dirty="0">
                <a:solidFill>
                  <a:srgbClr val="111827"/>
                </a:solidFill>
                <a:latin typeface="Calibri" pitchFamily="34" charset="0"/>
                <a:ea typeface="Calibri" pitchFamily="34" charset="-122"/>
                <a:cs typeface="Calibri" pitchFamily="34" charset="-120"/>
              </a:rPr>
              <a:t>The five requirements, and how each is met</a:t>
            </a:r>
            <a:endParaRPr lang="en-US" sz="2800" dirty="0"/>
          </a:p>
        </p:txBody>
      </p:sp>
      <p:sp>
        <p:nvSpPr>
          <p:cNvPr id="4" name="Text 2"/>
          <p:cNvSpPr/>
          <p:nvPr/>
        </p:nvSpPr>
        <p:spPr>
          <a:xfrm>
            <a:off x="640080" y="641908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Renewal Risk Call List · Fello take-home</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908792" cy="914400"/>
        </p:xfrm>
        <a:graphic>
          <a:graphicData uri="http://schemas.openxmlformats.org/drawingml/2006/table">
            <a:tbl>
              <a:tblPr/>
              <a:tblGrid>
                <a:gridCol w="2286000"/>
                <a:gridCol w="4754880"/>
                <a:gridCol w="3867912"/>
              </a:tblGrid>
              <a:tr h="0">
                <a:tc>
                  <a:txBody>
                    <a:bodyPr/>
                    <a:lstStyle/>
                    <a:p>
                      <a:pPr indent="0" marL="0">
                        <a:buNone/>
                      </a:pPr>
                      <a:r>
                        <a:rPr lang="en-US" sz="1300" b="1" dirty="0">
                          <a:solidFill>
                            <a:srgbClr val="6B7280"/>
                          </a:solidFill>
                          <a:latin typeface="Calibri" pitchFamily="34" charset="0"/>
                          <a:ea typeface="Calibri" pitchFamily="34" charset="-122"/>
                          <a:cs typeface="Calibri" pitchFamily="34" charset="-120"/>
                        </a:rPr>
                        <a:t>Requirement</a:t>
                      </a:r>
                      <a:endParaRPr lang="en-US" sz="1300" dirty="0">
                        <a:latin typeface="Calibri" charset="0"/>
                        <a:ea typeface="Calibri" charset="0"/>
                        <a:cs typeface="Calibri" charset="0"/>
                      </a:endParaRPr>
                    </a:p>
                  </a:txBody>
                  <a:tcPr marL="109728" marR="109728" marT="82296" marB="8229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4F5FB"/>
                    </a:solidFill>
                  </a:tcPr>
                </a:tc>
                <a:tc>
                  <a:txBody>
                    <a:bodyPr/>
                    <a:lstStyle/>
                    <a:p>
                      <a:pPr indent="0" marL="0">
                        <a:buNone/>
                      </a:pPr>
                      <a:r>
                        <a:rPr lang="en-US" sz="1300" b="1" dirty="0">
                          <a:solidFill>
                            <a:srgbClr val="6B7280"/>
                          </a:solidFill>
                          <a:latin typeface="Calibri" pitchFamily="34" charset="0"/>
                          <a:ea typeface="Calibri" pitchFamily="34" charset="-122"/>
                          <a:cs typeface="Calibri" pitchFamily="34" charset="-120"/>
                        </a:rPr>
                        <a:t>What I did</a:t>
                      </a:r>
                      <a:endParaRPr lang="en-US" sz="1300" dirty="0">
                        <a:latin typeface="Calibri" charset="0"/>
                        <a:ea typeface="Calibri" charset="0"/>
                        <a:cs typeface="Calibri" charset="0"/>
                      </a:endParaRPr>
                    </a:p>
                  </a:txBody>
                  <a:tcPr marL="109728" marR="109728" marT="82296" marB="8229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4F5FB"/>
                    </a:solidFill>
                  </a:tcPr>
                </a:tc>
                <a:tc>
                  <a:txBody>
                    <a:bodyPr/>
                    <a:lstStyle/>
                    <a:p>
                      <a:pPr indent="0" marL="0">
                        <a:buNone/>
                      </a:pPr>
                      <a:r>
                        <a:rPr lang="en-US" sz="1300" b="1" dirty="0">
                          <a:solidFill>
                            <a:srgbClr val="6B7280"/>
                          </a:solidFill>
                          <a:latin typeface="Calibri" pitchFamily="34" charset="0"/>
                          <a:ea typeface="Calibri" pitchFamily="34" charset="-122"/>
                          <a:cs typeface="Calibri" pitchFamily="34" charset="-120"/>
                        </a:rPr>
                        <a:t>How you can check</a:t>
                      </a:r>
                      <a:endParaRPr lang="en-US" sz="1300" dirty="0">
                        <a:latin typeface="Calibri" charset="0"/>
                        <a:ea typeface="Calibri" charset="0"/>
                        <a:cs typeface="Calibri" charset="0"/>
                      </a:endParaRPr>
                    </a:p>
                  </a:txBody>
                  <a:tcPr marL="109728" marR="109728" marT="82296" marB="8229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4F5FB"/>
                    </a:solidFill>
                  </a:tcPr>
                </a:tc>
              </a:tr>
              <a:tr h="0">
                <a:tc>
                  <a:txBody>
                    <a:bodyPr/>
                    <a:lstStyle/>
                    <a:p>
                      <a:pPr indent="0" marL="0">
                        <a:buNone/>
                      </a:pPr>
                      <a:r>
                        <a:rPr lang="en-US" sz="1300" b="1" dirty="0">
                          <a:solidFill>
                            <a:srgbClr val="111827"/>
                          </a:solidFill>
                          <a:latin typeface="Calibri" pitchFamily="34" charset="0"/>
                          <a:ea typeface="Calibri" pitchFamily="34" charset="-122"/>
                          <a:cs typeface="Calibri" pitchFamily="34" charset="-120"/>
                        </a:rPr>
                        <a:t>Generate the data</a:t>
                      </a:r>
                      <a:endParaRPr lang="en-US" sz="1300" dirty="0">
                        <a:latin typeface="Calibri" charset="0"/>
                        <a:ea typeface="Calibri" charset="0"/>
                        <a:cs typeface="Calibri" charset="0"/>
                      </a:endParaRPr>
                    </a:p>
                  </a:txBody>
                  <a:tcPr marL="109728" marR="109728" marT="82296" marB="8229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11827"/>
                          </a:solidFill>
                          <a:latin typeface="Calibri" pitchFamily="34" charset="0"/>
                          <a:ea typeface="Calibri" pitchFamily="34" charset="-122"/>
                          <a:cs typeface="Calibri" pitchFamily="34" charset="-120"/>
                        </a:rPr>
                        <a:t>5,000 customers, 4 companies, ~201,000 records from 5 tools. Late, repeated, duplicated and missing records on purpose</a:t>
                      </a:r>
                      <a:endParaRPr lang="en-US" sz="1300" dirty="0">
                        <a:latin typeface="Calibri" charset="0"/>
                        <a:ea typeface="Calibri" charset="0"/>
                        <a:cs typeface="Calibri" charset="0"/>
                      </a:endParaRPr>
                    </a:p>
                  </a:txBody>
                  <a:tcPr marL="109728" marR="109728" marT="82296" marB="8229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11827"/>
                          </a:solidFill>
                          <a:latin typeface="Calibri" pitchFamily="34" charset="0"/>
                          <a:ea typeface="Calibri" pitchFamily="34" charset="-122"/>
                          <a:cs typeface="Calibri" pitchFamily="34" charset="-120"/>
                        </a:rPr>
                        <a:t>The generator checks itself. The true answers are kept apart and never used by the score</a:t>
                      </a:r>
                      <a:endParaRPr lang="en-US" sz="1300" dirty="0">
                        <a:latin typeface="Calibri" charset="0"/>
                        <a:ea typeface="Calibri" charset="0"/>
                        <a:cs typeface="Calibri" charset="0"/>
                      </a:endParaRPr>
                    </a:p>
                  </a:txBody>
                  <a:tcPr marL="109728" marR="109728" marT="82296" marB="8229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0">
                <a:tc>
                  <a:txBody>
                    <a:bodyPr/>
                    <a:lstStyle/>
                    <a:p>
                      <a:pPr indent="0" marL="0">
                        <a:buNone/>
                      </a:pPr>
                      <a:r>
                        <a:rPr lang="en-US" sz="1300" b="1" dirty="0">
                          <a:solidFill>
                            <a:srgbClr val="111827"/>
                          </a:solidFill>
                          <a:latin typeface="Calibri" pitchFamily="34" charset="0"/>
                          <a:ea typeface="Calibri" pitchFamily="34" charset="-122"/>
                          <a:cs typeface="Calibri" pitchFamily="34" charset="-120"/>
                        </a:rPr>
                        <a:t>A score fitted on the data</a:t>
                      </a:r>
                      <a:endParaRPr lang="en-US" sz="1300" dirty="0">
                        <a:latin typeface="Calibri" charset="0"/>
                        <a:ea typeface="Calibri" charset="0"/>
                        <a:cs typeface="Calibri" charset="0"/>
                      </a:endParaRPr>
                    </a:p>
                  </a:txBody>
                  <a:tcPr marL="109728" marR="109728" marT="82296" marB="8229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11827"/>
                          </a:solidFill>
                          <a:latin typeface="Calibri" pitchFamily="34" charset="0"/>
                          <a:ea typeface="Calibri" pitchFamily="34" charset="-122"/>
                          <a:cs typeface="Calibri" pitchFamily="34" charset="-120"/>
                        </a:rPr>
                        <a:t>Learned from past renewals, tested on later ones, compared with a simple rule</a:t>
                      </a:r>
                      <a:endParaRPr lang="en-US" sz="1300" dirty="0">
                        <a:latin typeface="Calibri" charset="0"/>
                        <a:ea typeface="Calibri" charset="0"/>
                        <a:cs typeface="Calibri" charset="0"/>
                      </a:endParaRPr>
                    </a:p>
                  </a:txBody>
                  <a:tcPr marL="109728" marR="109728" marT="82296" marB="8229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11827"/>
                          </a:solidFill>
                          <a:latin typeface="Calibri" pitchFamily="34" charset="0"/>
                          <a:ea typeface="Calibri" pitchFamily="34" charset="-122"/>
                          <a:cs typeface="Calibri" pitchFamily="34" charset="-120"/>
                        </a:rPr>
                        <a:t>Top 15 catches 18 of 29 leavers vs 12 for the rule</a:t>
                      </a:r>
                      <a:endParaRPr lang="en-US" sz="1300" dirty="0">
                        <a:latin typeface="Calibri" charset="0"/>
                        <a:ea typeface="Calibri" charset="0"/>
                        <a:cs typeface="Calibri" charset="0"/>
                      </a:endParaRPr>
                    </a:p>
                  </a:txBody>
                  <a:tcPr marL="109728" marR="109728" marT="82296" marB="8229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0">
                <a:tc>
                  <a:txBody>
                    <a:bodyPr/>
                    <a:lstStyle/>
                    <a:p>
                      <a:pPr indent="0" marL="0">
                        <a:buNone/>
                      </a:pPr>
                      <a:r>
                        <a:rPr lang="en-US" sz="1300" b="1" dirty="0">
                          <a:solidFill>
                            <a:srgbClr val="111827"/>
                          </a:solidFill>
                          <a:latin typeface="Calibri" pitchFamily="34" charset="0"/>
                          <a:ea typeface="Calibri" pitchFamily="34" charset="-122"/>
                          <a:cs typeface="Calibri" pitchFamily="34" charset="-120"/>
                        </a:rPr>
                        <a:t>Runs by itself</a:t>
                      </a:r>
                      <a:endParaRPr lang="en-US" sz="1300" dirty="0">
                        <a:latin typeface="Calibri" charset="0"/>
                        <a:ea typeface="Calibri" charset="0"/>
                        <a:cs typeface="Calibri" charset="0"/>
                      </a:endParaRPr>
                    </a:p>
                  </a:txBody>
                  <a:tcPr marL="109728" marR="109728" marT="82296" marB="8229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11827"/>
                          </a:solidFill>
                          <a:latin typeface="Calibri" pitchFamily="34" charset="0"/>
                          <a:ea typeface="Calibri" pitchFamily="34" charset="-122"/>
                          <a:cs typeface="Calibri" pitchFamily="34" charset="-120"/>
                        </a:rPr>
                        <a:t>A nightly job: score, raise alerts, publish. Points re-learned monthly</a:t>
                      </a:r>
                      <a:endParaRPr lang="en-US" sz="1300" dirty="0">
                        <a:latin typeface="Calibri" charset="0"/>
                        <a:ea typeface="Calibri" charset="0"/>
                        <a:cs typeface="Calibri" charset="0"/>
                      </a:endParaRPr>
                    </a:p>
                  </a:txBody>
                  <a:tcPr marL="109728" marR="109728" marT="82296" marB="8229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11827"/>
                          </a:solidFill>
                          <a:latin typeface="Calibri" pitchFamily="34" charset="0"/>
                          <a:ea typeface="Calibri" pitchFamily="34" charset="-122"/>
                          <a:cs typeface="Calibri" pitchFamily="34" charset="-120"/>
                        </a:rPr>
                        <a:t>Run log shows every attempt. A run I broke on purpose was recorded and never shown</a:t>
                      </a:r>
                      <a:endParaRPr lang="en-US" sz="1300" dirty="0">
                        <a:latin typeface="Calibri" charset="0"/>
                        <a:ea typeface="Calibri" charset="0"/>
                        <a:cs typeface="Calibri" charset="0"/>
                      </a:endParaRPr>
                    </a:p>
                  </a:txBody>
                  <a:tcPr marL="109728" marR="109728" marT="82296" marB="8229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0">
                <a:tc>
                  <a:txBody>
                    <a:bodyPr/>
                    <a:lstStyle/>
                    <a:p>
                      <a:pPr indent="0" marL="0">
                        <a:buNone/>
                      </a:pPr>
                      <a:r>
                        <a:rPr lang="en-US" sz="1300" b="1" dirty="0">
                          <a:solidFill>
                            <a:srgbClr val="111827"/>
                          </a:solidFill>
                          <a:latin typeface="Calibri" pitchFamily="34" charset="0"/>
                          <a:ea typeface="Calibri" pitchFamily="34" charset="-122"/>
                          <a:cs typeface="Calibri" pitchFamily="34" charset="-120"/>
                        </a:rPr>
                        <a:t>Multiple companies</a:t>
                      </a:r>
                      <a:endParaRPr lang="en-US" sz="1300" dirty="0">
                        <a:latin typeface="Calibri" charset="0"/>
                        <a:ea typeface="Calibri" charset="0"/>
                        <a:cs typeface="Calibri" charset="0"/>
                      </a:endParaRPr>
                    </a:p>
                  </a:txBody>
                  <a:tcPr marL="109728" marR="109728" marT="82296" marB="8229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11827"/>
                          </a:solidFill>
                          <a:latin typeface="Calibri" pitchFamily="34" charset="0"/>
                          <a:ea typeface="Calibri" pitchFamily="34" charset="-122"/>
                          <a:cs typeface="Calibri" pitchFamily="34" charset="-120"/>
                        </a:rPr>
                        <a:t>The database itself keeps each company's data apart, using a signed login that expires</a:t>
                      </a:r>
                      <a:endParaRPr lang="en-US" sz="1300" dirty="0">
                        <a:latin typeface="Calibri" charset="0"/>
                        <a:ea typeface="Calibri" charset="0"/>
                        <a:cs typeface="Calibri" charset="0"/>
                      </a:endParaRPr>
                    </a:p>
                  </a:txBody>
                  <a:tcPr marL="109728" marR="109728" marT="82296" marB="8229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11827"/>
                          </a:solidFill>
                          <a:latin typeface="Calibri" pitchFamily="34" charset="0"/>
                          <a:ea typeface="Calibri" pitchFamily="34" charset="-122"/>
                          <a:cs typeface="Calibri" pitchFamily="34" charset="-120"/>
                        </a:rPr>
                        <a:t>Tests: wrong company, forged, expired and edited logins all fail</a:t>
                      </a:r>
                      <a:endParaRPr lang="en-US" sz="1300" dirty="0">
                        <a:latin typeface="Calibri" charset="0"/>
                        <a:ea typeface="Calibri" charset="0"/>
                        <a:cs typeface="Calibri" charset="0"/>
                      </a:endParaRPr>
                    </a:p>
                  </a:txBody>
                  <a:tcPr marL="109728" marR="109728" marT="82296" marB="8229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0">
                <a:tc>
                  <a:txBody>
                    <a:bodyPr/>
                    <a:lstStyle/>
                    <a:p>
                      <a:pPr indent="0" marL="0">
                        <a:buNone/>
                      </a:pPr>
                      <a:r>
                        <a:rPr lang="en-US" sz="1300" b="1" dirty="0">
                          <a:solidFill>
                            <a:srgbClr val="111827"/>
                          </a:solidFill>
                          <a:latin typeface="Calibri" pitchFamily="34" charset="0"/>
                          <a:ea typeface="Calibri" pitchFamily="34" charset="-122"/>
                          <a:cs typeface="Calibri" pitchFamily="34" charset="-120"/>
                        </a:rPr>
                        <a:t>Everything traceable</a:t>
                      </a:r>
                      <a:endParaRPr lang="en-US" sz="1300" dirty="0">
                        <a:latin typeface="Calibri" charset="0"/>
                        <a:ea typeface="Calibri" charset="0"/>
                        <a:cs typeface="Calibri" charset="0"/>
                      </a:endParaRPr>
                    </a:p>
                  </a:txBody>
                  <a:tcPr marL="109728" marR="109728" marT="82296" marB="8229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11827"/>
                          </a:solidFill>
                          <a:latin typeface="Calibri" pitchFamily="34" charset="0"/>
                          <a:ea typeface="Calibri" pitchFamily="34" charset="-122"/>
                          <a:cs typeface="Calibri" pitchFamily="34" charset="-120"/>
                        </a:rPr>
                        <a:t>Every reason shows its points and the records behind it</a:t>
                      </a:r>
                      <a:endParaRPr lang="en-US" sz="1300" dirty="0">
                        <a:latin typeface="Calibri" charset="0"/>
                        <a:ea typeface="Calibri" charset="0"/>
                        <a:cs typeface="Calibri" charset="0"/>
                      </a:endParaRPr>
                    </a:p>
                  </a:txBody>
                  <a:tcPr marL="109728" marR="109728" marT="82296" marB="8229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11827"/>
                          </a:solidFill>
                          <a:latin typeface="Calibri" pitchFamily="34" charset="0"/>
                          <a:ea typeface="Calibri" pitchFamily="34" charset="-122"/>
                          <a:cs typeface="Calibri" pitchFamily="34" charset="-120"/>
                        </a:rPr>
                        <a:t>A test rebuilds every stored score from its stored reasons</a:t>
                      </a:r>
                      <a:endParaRPr lang="en-US" sz="1300" dirty="0">
                        <a:latin typeface="Calibri" charset="0"/>
                        <a:ea typeface="Calibri" charset="0"/>
                        <a:cs typeface="Calibri" charset="0"/>
                      </a:endParaRPr>
                    </a:p>
                  </a:txBody>
                  <a:tcPr marL="109728" marR="109728" marT="82296" marB="82296"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88136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274320"/>
          </a:xfrm>
          <a:prstGeom prst="rect">
            <a:avLst/>
          </a:prstGeom>
          <a:noFill/>
          <a:ln/>
        </p:spPr>
        <p:txBody>
          <a:bodyPr wrap="square" rtlCol="0" anchor="ctr"/>
          <a:lstStyle/>
          <a:p>
            <a:pPr indent="0" marL="0">
              <a:buNone/>
            </a:pPr>
            <a:r>
              <a:rPr lang="en-US" sz="1200" b="1" spc="300" kern="0" dirty="0">
                <a:solidFill>
                  <a:srgbClr val="3B4BD8"/>
                </a:solidFill>
                <a:latin typeface="Calibri" pitchFamily="34" charset="0"/>
                <a:ea typeface="Calibri" pitchFamily="34" charset="-122"/>
                <a:cs typeface="Calibri" pitchFamily="34" charset="-120"/>
              </a:rPr>
              <a:t>THE PROOF</a:t>
            </a:r>
            <a:endParaRPr lang="en-US" sz="1200" dirty="0"/>
          </a:p>
        </p:txBody>
      </p:sp>
      <p:sp>
        <p:nvSpPr>
          <p:cNvPr id="3" name="Text 1"/>
          <p:cNvSpPr/>
          <p:nvPr/>
        </p:nvSpPr>
        <p:spPr>
          <a:xfrm>
            <a:off x="640080" y="658368"/>
            <a:ext cx="10908792" cy="868680"/>
          </a:xfrm>
          <a:prstGeom prst="rect">
            <a:avLst/>
          </a:prstGeom>
          <a:noFill/>
          <a:ln/>
        </p:spPr>
        <p:txBody>
          <a:bodyPr wrap="square" rtlCol="0" anchor="t"/>
          <a:lstStyle/>
          <a:p>
            <a:pPr indent="0" marL="0">
              <a:buNone/>
            </a:pPr>
            <a:r>
              <a:rPr lang="en-US" sz="2800" b="1" dirty="0">
                <a:solidFill>
                  <a:srgbClr val="111827"/>
                </a:solidFill>
                <a:latin typeface="Calibri" pitchFamily="34" charset="0"/>
                <a:ea typeface="Calibri" pitchFamily="34" charset="-122"/>
                <a:cs typeface="Calibri" pitchFamily="34" charset="-120"/>
              </a:rPr>
              <a:t>Judgement calls and edge cases I handled</a:t>
            </a:r>
            <a:endParaRPr lang="en-US" sz="2800" dirty="0"/>
          </a:p>
        </p:txBody>
      </p:sp>
      <p:sp>
        <p:nvSpPr>
          <p:cNvPr id="4" name="Text 2"/>
          <p:cNvSpPr/>
          <p:nvPr/>
        </p:nvSpPr>
        <p:spPr>
          <a:xfrm>
            <a:off x="640080" y="641908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Renewal Risk Call List · Fello take-home</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908792" cy="914400"/>
        </p:xfrm>
        <a:graphic>
          <a:graphicData uri="http://schemas.openxmlformats.org/drawingml/2006/table">
            <a:tbl>
              <a:tblPr/>
              <a:tblGrid>
                <a:gridCol w="3566160"/>
                <a:gridCol w="7342632"/>
              </a:tblGrid>
              <a:tr h="0">
                <a:tc>
                  <a:txBody>
                    <a:bodyPr/>
                    <a:lstStyle/>
                    <a:p>
                      <a:pPr indent="0" marL="0">
                        <a:buNone/>
                      </a:pPr>
                      <a:r>
                        <a:rPr lang="en-US" sz="1300" b="1" dirty="0">
                          <a:solidFill>
                            <a:srgbClr val="6B7280"/>
                          </a:solidFill>
                          <a:latin typeface="Calibri" pitchFamily="34" charset="0"/>
                          <a:ea typeface="Calibri" pitchFamily="34" charset="-122"/>
                          <a:cs typeface="Calibri" pitchFamily="34" charset="-120"/>
                        </a:rPr>
                        <a:t>Judgement call</a:t>
                      </a:r>
                      <a:endParaRPr lang="en-US" sz="1300" dirty="0">
                        <a:latin typeface="Calibri" charset="0"/>
                        <a:ea typeface="Calibri" charset="0"/>
                        <a:cs typeface="Calibri" charset="0"/>
                      </a:endParaRPr>
                    </a:p>
                  </a:txBody>
                  <a:tcPr marL="128016" marR="128016" marT="91440" marB="9144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4F5FB"/>
                    </a:solidFill>
                  </a:tcPr>
                </a:tc>
                <a:tc>
                  <a:txBody>
                    <a:bodyPr/>
                    <a:lstStyle/>
                    <a:p>
                      <a:pPr indent="0" marL="0">
                        <a:buNone/>
                      </a:pPr>
                      <a:r>
                        <a:rPr lang="en-US" sz="1300" b="1" dirty="0">
                          <a:solidFill>
                            <a:srgbClr val="6B7280"/>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marL="128016" marR="128016" marT="91440" marB="9144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4F5FB"/>
                    </a:solidFill>
                  </a:tcPr>
                </a:tc>
              </a:tr>
              <a:tr h="0">
                <a:tc>
                  <a:txBody>
                    <a:bodyPr/>
                    <a:lstStyle/>
                    <a:p>
                      <a:pPr indent="0" marL="0">
                        <a:buNone/>
                      </a:pPr>
                      <a:r>
                        <a:rPr lang="en-US" sz="1300" b="1" dirty="0">
                          <a:solidFill>
                            <a:srgbClr val="111827"/>
                          </a:solidFill>
                          <a:latin typeface="Calibri" pitchFamily="34" charset="0"/>
                          <a:ea typeface="Calibri" pitchFamily="34" charset="-122"/>
                          <a:cs typeface="Calibri" pitchFamily="34" charset="-120"/>
                        </a:rPr>
                        <a:t>Use only what was known at the time</a:t>
                      </a:r>
                      <a:endParaRPr lang="en-US" sz="1300" dirty="0">
                        <a:latin typeface="Calibri" charset="0"/>
                        <a:ea typeface="Calibri" charset="0"/>
                        <a:cs typeface="Calibri" charset="0"/>
                      </a:endParaRPr>
                    </a:p>
                  </a:txBody>
                  <a:tcPr marL="128016" marR="128016" marT="91440" marB="9144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11827"/>
                          </a:solidFill>
                          <a:latin typeface="Calibri" pitchFamily="34" charset="0"/>
                          <a:ea typeface="Calibri" pitchFamily="34" charset="-122"/>
                          <a:cs typeface="Calibri" pitchFamily="34" charset="-120"/>
                        </a:rPr>
                        <a:t>A record that arrived after the scoring date is ignored, so the score never uses information from the future. Tested.</a:t>
                      </a:r>
                      <a:endParaRPr lang="en-US" sz="1300" dirty="0">
                        <a:latin typeface="Calibri" charset="0"/>
                        <a:ea typeface="Calibri" charset="0"/>
                        <a:cs typeface="Calibri" charset="0"/>
                      </a:endParaRPr>
                    </a:p>
                  </a:txBody>
                  <a:tcPr marL="128016" marR="128016" marT="91440" marB="9144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0">
                <a:tc>
                  <a:txBody>
                    <a:bodyPr/>
                    <a:lstStyle/>
                    <a:p>
                      <a:pPr indent="0" marL="0">
                        <a:buNone/>
                      </a:pPr>
                      <a:r>
                        <a:rPr lang="en-US" sz="1300" b="1" dirty="0">
                          <a:solidFill>
                            <a:srgbClr val="111827"/>
                          </a:solidFill>
                          <a:latin typeface="Calibri" pitchFamily="34" charset="0"/>
                          <a:ea typeface="Calibri" pitchFamily="34" charset="-122"/>
                          <a:cs typeface="Calibri" pitchFamily="34" charset="-120"/>
                        </a:rPr>
                        <a:t>A failed card is not "leaving"</a:t>
                      </a:r>
                      <a:endParaRPr lang="en-US" sz="1300" dirty="0">
                        <a:latin typeface="Calibri" charset="0"/>
                        <a:ea typeface="Calibri" charset="0"/>
                        <a:cs typeface="Calibri" charset="0"/>
                      </a:endParaRPr>
                    </a:p>
                  </a:txBody>
                  <a:tcPr marL="128016" marR="128016" marT="91440" marB="9144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11827"/>
                          </a:solidFill>
                          <a:latin typeface="Calibri" pitchFamily="34" charset="0"/>
                          <a:ea typeface="Calibri" pitchFamily="34" charset="-122"/>
                          <a:cs typeface="Calibri" pitchFamily="34" charset="-120"/>
                        </a:rPr>
                        <a:t>Cards fail for many reasons. Only a renewal bill never paid or attempted counts. Cost: 21 of 1,640 test customers are labelled differently from the true answer.</a:t>
                      </a:r>
                      <a:endParaRPr lang="en-US" sz="1300" dirty="0">
                        <a:latin typeface="Calibri" charset="0"/>
                        <a:ea typeface="Calibri" charset="0"/>
                        <a:cs typeface="Calibri" charset="0"/>
                      </a:endParaRPr>
                    </a:p>
                  </a:txBody>
                  <a:tcPr marL="128016" marR="128016" marT="91440" marB="9144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0">
                <a:tc>
                  <a:txBody>
                    <a:bodyPr/>
                    <a:lstStyle/>
                    <a:p>
                      <a:pPr indent="0" marL="0">
                        <a:buNone/>
                      </a:pPr>
                      <a:r>
                        <a:rPr lang="en-US" sz="1300" b="1" dirty="0">
                          <a:solidFill>
                            <a:srgbClr val="111827"/>
                          </a:solidFill>
                          <a:latin typeface="Calibri" pitchFamily="34" charset="0"/>
                          <a:ea typeface="Calibri" pitchFamily="34" charset="-122"/>
                          <a:cs typeface="Calibri" pitchFamily="34" charset="-120"/>
                        </a:rPr>
                        <a:t>Keep customers who leave without warning</a:t>
                      </a:r>
                      <a:endParaRPr lang="en-US" sz="1300" dirty="0">
                        <a:latin typeface="Calibri" charset="0"/>
                        <a:ea typeface="Calibri" charset="0"/>
                        <a:cs typeface="Calibri" charset="0"/>
                      </a:endParaRPr>
                    </a:p>
                  </a:txBody>
                  <a:tcPr marL="128016" marR="128016" marT="91440" marB="9144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11827"/>
                          </a:solidFill>
                          <a:latin typeface="Calibri" pitchFamily="34" charset="0"/>
                          <a:ea typeface="Calibri" pitchFamily="34" charset="-122"/>
                          <a:cs typeface="Calibri" pitchFamily="34" charset="-120"/>
                        </a:rPr>
                        <a:t>Half the generated leavers gave no sign. Removing them gave a flattering 0.95 that is not real. The score cannot catch them, and the README says so.</a:t>
                      </a:r>
                      <a:endParaRPr lang="en-US" sz="1300" dirty="0">
                        <a:latin typeface="Calibri" charset="0"/>
                        <a:ea typeface="Calibri" charset="0"/>
                        <a:cs typeface="Calibri" charset="0"/>
                      </a:endParaRPr>
                    </a:p>
                  </a:txBody>
                  <a:tcPr marL="128016" marR="128016" marT="91440" marB="9144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0">
                <a:tc>
                  <a:txBody>
                    <a:bodyPr/>
                    <a:lstStyle/>
                    <a:p>
                      <a:pPr indent="0" marL="0">
                        <a:buNone/>
                      </a:pPr>
                      <a:r>
                        <a:rPr lang="en-US" sz="1300" b="1" dirty="0">
                          <a:solidFill>
                            <a:srgbClr val="111827"/>
                          </a:solidFill>
                          <a:latin typeface="Calibri" pitchFamily="34" charset="0"/>
                          <a:ea typeface="Calibri" pitchFamily="34" charset="-122"/>
                          <a:cs typeface="Calibri" pitchFamily="34" charset="-120"/>
                        </a:rPr>
                        <a:t>Drop "days until renewal"</a:t>
                      </a:r>
                      <a:endParaRPr lang="en-US" sz="1300" dirty="0">
                        <a:latin typeface="Calibri" charset="0"/>
                        <a:ea typeface="Calibri" charset="0"/>
                        <a:cs typeface="Calibri" charset="0"/>
                      </a:endParaRPr>
                    </a:p>
                  </a:txBody>
                  <a:tcPr marL="128016" marR="128016" marT="91440" marB="9144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11827"/>
                          </a:solidFill>
                          <a:latin typeface="Calibri" pitchFamily="34" charset="0"/>
                          <a:ea typeface="Calibri" pitchFamily="34" charset="-122"/>
                          <a:cs typeface="Calibri" pitchFamily="34" charset="-120"/>
                        </a:rPr>
                        <a:t>It already decides who is on the list, behaved oddly as a clue, and a manager cannot act on it.</a:t>
                      </a:r>
                      <a:endParaRPr lang="en-US" sz="1300" dirty="0">
                        <a:latin typeface="Calibri" charset="0"/>
                        <a:ea typeface="Calibri" charset="0"/>
                        <a:cs typeface="Calibri" charset="0"/>
                      </a:endParaRPr>
                    </a:p>
                  </a:txBody>
                  <a:tcPr marL="128016" marR="128016" marT="91440" marB="9144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0">
                <a:tc>
                  <a:txBody>
                    <a:bodyPr/>
                    <a:lstStyle/>
                    <a:p>
                      <a:pPr indent="0" marL="0">
                        <a:buNone/>
                      </a:pPr>
                      <a:r>
                        <a:rPr lang="en-US" sz="1300" b="1" dirty="0">
                          <a:solidFill>
                            <a:srgbClr val="111827"/>
                          </a:solidFill>
                          <a:latin typeface="Calibri" pitchFamily="34" charset="0"/>
                          <a:ea typeface="Calibri" pitchFamily="34" charset="-122"/>
                          <a:cs typeface="Calibri" pitchFamily="34" charset="-120"/>
                        </a:rPr>
                        <a:t>No chatbot-style AI in the score</a:t>
                      </a:r>
                      <a:endParaRPr lang="en-US" sz="1300" dirty="0">
                        <a:latin typeface="Calibri" charset="0"/>
                        <a:ea typeface="Calibri" charset="0"/>
                        <a:cs typeface="Calibri" charset="0"/>
                      </a:endParaRPr>
                    </a:p>
                  </a:txBody>
                  <a:tcPr marL="128016" marR="128016" marT="91440" marB="9144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11827"/>
                          </a:solidFill>
                          <a:latin typeface="Calibri" pitchFamily="34" charset="0"/>
                          <a:ea typeface="Calibri" pitchFamily="34" charset="-122"/>
                          <a:cs typeface="Calibri" pitchFamily="34" charset="-120"/>
                        </a:rPr>
                        <a:t>It can give a different answer each time and cannot show its working. The task asked for a score fitted on the data.</a:t>
                      </a:r>
                      <a:endParaRPr lang="en-US" sz="1300" dirty="0">
                        <a:latin typeface="Calibri" charset="0"/>
                        <a:ea typeface="Calibri" charset="0"/>
                        <a:cs typeface="Calibri" charset="0"/>
                      </a:endParaRPr>
                    </a:p>
                  </a:txBody>
                  <a:tcPr marL="128016" marR="128016" marT="91440" marB="9144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88136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274320"/>
          </a:xfrm>
          <a:prstGeom prst="rect">
            <a:avLst/>
          </a:prstGeom>
          <a:noFill/>
          <a:ln/>
        </p:spPr>
        <p:txBody>
          <a:bodyPr wrap="square" rtlCol="0" anchor="ctr"/>
          <a:lstStyle/>
          <a:p>
            <a:pPr indent="0" marL="0">
              <a:buNone/>
            </a:pPr>
            <a:r>
              <a:rPr lang="en-US" sz="1200" b="1" spc="300" kern="0" dirty="0">
                <a:solidFill>
                  <a:srgbClr val="3B4BD8"/>
                </a:solidFill>
                <a:latin typeface="Calibri" pitchFamily="34" charset="0"/>
                <a:ea typeface="Calibri" pitchFamily="34" charset="-122"/>
                <a:cs typeface="Calibri" pitchFamily="34" charset="-120"/>
              </a:rPr>
              <a:t>LIMITS</a:t>
            </a:r>
            <a:endParaRPr lang="en-US" sz="1200" dirty="0"/>
          </a:p>
        </p:txBody>
      </p:sp>
      <p:sp>
        <p:nvSpPr>
          <p:cNvPr id="3" name="Text 1"/>
          <p:cNvSpPr/>
          <p:nvPr/>
        </p:nvSpPr>
        <p:spPr>
          <a:xfrm>
            <a:off x="640080" y="658368"/>
            <a:ext cx="10908792" cy="868680"/>
          </a:xfrm>
          <a:prstGeom prst="rect">
            <a:avLst/>
          </a:prstGeom>
          <a:noFill/>
          <a:ln/>
        </p:spPr>
        <p:txBody>
          <a:bodyPr wrap="square" rtlCol="0" anchor="t"/>
          <a:lstStyle/>
          <a:p>
            <a:pPr indent="0" marL="0">
              <a:buNone/>
            </a:pPr>
            <a:r>
              <a:rPr lang="en-US" sz="2800" b="1" dirty="0">
                <a:solidFill>
                  <a:srgbClr val="111827"/>
                </a:solidFill>
                <a:latin typeface="Calibri" pitchFamily="34" charset="0"/>
                <a:ea typeface="Calibri" pitchFamily="34" charset="-122"/>
                <a:cs typeface="Calibri" pitchFamily="34" charset="-120"/>
              </a:rPr>
              <a:t>Limits, approvals, and what breaks at 10×</a:t>
            </a:r>
            <a:endParaRPr lang="en-US" sz="2800" dirty="0"/>
          </a:p>
        </p:txBody>
      </p:sp>
      <p:sp>
        <p:nvSpPr>
          <p:cNvPr id="4" name="Text 2"/>
          <p:cNvSpPr/>
          <p:nvPr/>
        </p:nvSpPr>
        <p:spPr>
          <a:xfrm>
            <a:off x="640080" y="6419088"/>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Renewal Risk Call List · Fello take-home</a:t>
            </a:r>
            <a:endParaRPr lang="en-US" sz="1000" dirty="0"/>
          </a:p>
        </p:txBody>
      </p:sp>
      <p:sp>
        <p:nvSpPr>
          <p:cNvPr id="6" name="Shape 3"/>
          <p:cNvSpPr/>
          <p:nvPr/>
        </p:nvSpPr>
        <p:spPr>
          <a:xfrm>
            <a:off x="640080" y="1737360"/>
            <a:ext cx="3502152" cy="3794760"/>
          </a:xfrm>
          <a:prstGeom prst="roundRect">
            <a:avLst>
              <a:gd name="adj" fmla="val 3133"/>
            </a:avLst>
          </a:prstGeom>
          <a:solidFill>
            <a:srgbClr val="F4F5FB"/>
          </a:solidFill>
          <a:ln w="12700">
            <a:solidFill>
              <a:srgbClr val="F4F5FB"/>
            </a:solidFill>
            <a:prstDash val="solid"/>
          </a:ln>
        </p:spPr>
      </p:sp>
      <p:sp>
        <p:nvSpPr>
          <p:cNvPr id="7" name="Text 4"/>
          <p:cNvSpPr/>
          <p:nvPr/>
        </p:nvSpPr>
        <p:spPr>
          <a:xfrm>
            <a:off x="868680" y="1901952"/>
            <a:ext cx="3044952" cy="411480"/>
          </a:xfrm>
          <a:prstGeom prst="rect">
            <a:avLst/>
          </a:prstGeom>
          <a:noFill/>
          <a:ln/>
        </p:spPr>
        <p:txBody>
          <a:bodyPr wrap="square" rtlCol="0" anchor="t"/>
          <a:lstStyle/>
          <a:p>
            <a:pPr indent="0" marL="0">
              <a:buNone/>
            </a:pPr>
            <a:r>
              <a:rPr lang="en-US" sz="1700" b="1" dirty="0">
                <a:solidFill>
                  <a:srgbClr val="111827"/>
                </a:solidFill>
                <a:latin typeface="Calibri" pitchFamily="34" charset="0"/>
                <a:ea typeface="Calibri" pitchFamily="34" charset="-122"/>
                <a:cs typeface="Calibri" pitchFamily="34" charset="-120"/>
              </a:rPr>
              <a:t>Left out on purpose</a:t>
            </a:r>
            <a:endParaRPr lang="en-US" sz="1700" dirty="0"/>
          </a:p>
        </p:txBody>
      </p:sp>
      <p:sp>
        <p:nvSpPr>
          <p:cNvPr id="8" name="Text 5"/>
          <p:cNvSpPr/>
          <p:nvPr/>
        </p:nvSpPr>
        <p:spPr>
          <a:xfrm>
            <a:off x="868680" y="2377440"/>
            <a:ext cx="3044952" cy="3017520"/>
          </a:xfrm>
          <a:prstGeom prst="rect">
            <a:avLst/>
          </a:prstGeom>
          <a:noFill/>
          <a:ln/>
        </p:spPr>
        <p:txBody>
          <a:bodyPr wrap="square" rtlCol="0" anchor="t"/>
          <a:lstStyle/>
          <a:p>
            <a:pPr marL="177800" indent="-1778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Real company sign-in</a:t>
            </a:r>
            <a:endParaRPr lang="en-US" sz="1400" dirty="0"/>
          </a:p>
          <a:p>
            <a:pPr marL="177800" indent="-1778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Real email sending</a:t>
            </a:r>
            <a:endParaRPr lang="en-US" sz="1400" dirty="0"/>
          </a:p>
          <a:p>
            <a:pPr marL="177800" indent="-1778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Live connections to the real tools</a:t>
            </a:r>
            <a:endParaRPr lang="en-US" sz="1400" dirty="0"/>
          </a:p>
          <a:p>
            <a:pPr marL="177800" indent="-1778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Measuring whether a call saves a customer</a:t>
            </a:r>
            <a:endParaRPr lang="en-US" sz="1400" dirty="0"/>
          </a:p>
        </p:txBody>
      </p:sp>
      <p:sp>
        <p:nvSpPr>
          <p:cNvPr id="9" name="Shape 6"/>
          <p:cNvSpPr/>
          <p:nvPr/>
        </p:nvSpPr>
        <p:spPr>
          <a:xfrm>
            <a:off x="4343400" y="1737360"/>
            <a:ext cx="3502152" cy="3794760"/>
          </a:xfrm>
          <a:prstGeom prst="roundRect">
            <a:avLst>
              <a:gd name="adj" fmla="val 3133"/>
            </a:avLst>
          </a:prstGeom>
          <a:solidFill>
            <a:srgbClr val="F4F5FB"/>
          </a:solidFill>
          <a:ln w="12700">
            <a:solidFill>
              <a:srgbClr val="F4F5FB"/>
            </a:solidFill>
            <a:prstDash val="solid"/>
          </a:ln>
        </p:spPr>
      </p:sp>
      <p:sp>
        <p:nvSpPr>
          <p:cNvPr id="10" name="Text 7"/>
          <p:cNvSpPr/>
          <p:nvPr/>
        </p:nvSpPr>
        <p:spPr>
          <a:xfrm>
            <a:off x="4572000" y="1901952"/>
            <a:ext cx="3044952" cy="411480"/>
          </a:xfrm>
          <a:prstGeom prst="rect">
            <a:avLst/>
          </a:prstGeom>
          <a:noFill/>
          <a:ln/>
        </p:spPr>
        <p:txBody>
          <a:bodyPr wrap="square" rtlCol="0" anchor="t"/>
          <a:lstStyle/>
          <a:p>
            <a:pPr indent="0" marL="0">
              <a:buNone/>
            </a:pPr>
            <a:r>
              <a:rPr lang="en-US" sz="1700" b="1" dirty="0">
                <a:solidFill>
                  <a:srgbClr val="111827"/>
                </a:solidFill>
                <a:latin typeface="Calibri" pitchFamily="34" charset="0"/>
                <a:ea typeface="Calibri" pitchFamily="34" charset="-122"/>
                <a:cs typeface="Calibri" pitchFamily="34" charset="-120"/>
              </a:rPr>
              <a:t>Needs approval</a:t>
            </a:r>
            <a:endParaRPr lang="en-US" sz="1700" dirty="0"/>
          </a:p>
        </p:txBody>
      </p:sp>
      <p:sp>
        <p:nvSpPr>
          <p:cNvPr id="11" name="Text 8"/>
          <p:cNvSpPr/>
          <p:nvPr/>
        </p:nvSpPr>
        <p:spPr>
          <a:xfrm>
            <a:off x="4572000" y="2377440"/>
            <a:ext cx="3044952" cy="3017520"/>
          </a:xfrm>
          <a:prstGeom prst="rect">
            <a:avLst/>
          </a:prstGeom>
          <a:noFill/>
          <a:ln/>
        </p:spPr>
        <p:txBody>
          <a:bodyPr wrap="square" rtlCol="0" anchor="t"/>
          <a:lstStyle/>
          <a:p>
            <a:pPr marL="177800" indent="-1778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Legal OK to read email details (never message text)</a:t>
            </a:r>
            <a:endParaRPr lang="en-US" sz="1400" dirty="0"/>
          </a:p>
          <a:p>
            <a:pPr marL="177800" indent="-1778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Who switches on automatic messages, and the reminder wording</a:t>
            </a:r>
            <a:endParaRPr lang="en-US" sz="1400" dirty="0"/>
          </a:p>
          <a:p>
            <a:pPr marL="177800" indent="-1778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What counts as leaving</a:t>
            </a:r>
            <a:endParaRPr lang="en-US" sz="1400" dirty="0"/>
          </a:p>
          <a:p>
            <a:pPr marL="177800" indent="-1778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Where "do not email" choices are stored</a:t>
            </a:r>
            <a:endParaRPr lang="en-US" sz="1400" dirty="0"/>
          </a:p>
        </p:txBody>
      </p:sp>
      <p:sp>
        <p:nvSpPr>
          <p:cNvPr id="12" name="Shape 9"/>
          <p:cNvSpPr/>
          <p:nvPr/>
        </p:nvSpPr>
        <p:spPr>
          <a:xfrm>
            <a:off x="8046720" y="1737360"/>
            <a:ext cx="3502152" cy="3794760"/>
          </a:xfrm>
          <a:prstGeom prst="roundRect">
            <a:avLst>
              <a:gd name="adj" fmla="val 3133"/>
            </a:avLst>
          </a:prstGeom>
          <a:solidFill>
            <a:srgbClr val="E8EAFD"/>
          </a:solidFill>
          <a:ln w="12700">
            <a:solidFill>
              <a:srgbClr val="E8EAFD"/>
            </a:solidFill>
            <a:prstDash val="solid"/>
          </a:ln>
        </p:spPr>
      </p:sp>
      <p:sp>
        <p:nvSpPr>
          <p:cNvPr id="13" name="Text 10"/>
          <p:cNvSpPr/>
          <p:nvPr/>
        </p:nvSpPr>
        <p:spPr>
          <a:xfrm>
            <a:off x="8275320" y="1901952"/>
            <a:ext cx="3044952" cy="411480"/>
          </a:xfrm>
          <a:prstGeom prst="rect">
            <a:avLst/>
          </a:prstGeom>
          <a:noFill/>
          <a:ln/>
        </p:spPr>
        <p:txBody>
          <a:bodyPr wrap="square" rtlCol="0" anchor="t"/>
          <a:lstStyle/>
          <a:p>
            <a:pPr indent="0" marL="0">
              <a:buNone/>
            </a:pPr>
            <a:r>
              <a:rPr lang="en-US" sz="1700" b="1" dirty="0">
                <a:solidFill>
                  <a:srgbClr val="3B4BD8"/>
                </a:solidFill>
                <a:latin typeface="Calibri" pitchFamily="34" charset="0"/>
                <a:ea typeface="Calibri" pitchFamily="34" charset="-122"/>
                <a:cs typeface="Calibri" pitchFamily="34" charset="-120"/>
              </a:rPr>
              <a:t>Breaks first at 10×</a:t>
            </a:r>
            <a:endParaRPr lang="en-US" sz="1700" dirty="0"/>
          </a:p>
        </p:txBody>
      </p:sp>
      <p:sp>
        <p:nvSpPr>
          <p:cNvPr id="14" name="Text 11"/>
          <p:cNvSpPr/>
          <p:nvPr/>
        </p:nvSpPr>
        <p:spPr>
          <a:xfrm>
            <a:off x="8275320" y="2377440"/>
            <a:ext cx="3044952" cy="3017520"/>
          </a:xfrm>
          <a:prstGeom prst="rect">
            <a:avLst/>
          </a:prstGeom>
          <a:noFill/>
          <a:ln/>
        </p:spPr>
        <p:txBody>
          <a:bodyPr wrap="square" rtlCol="0" anchor="t"/>
          <a:lstStyle/>
          <a:p>
            <a:pPr marL="177800" indent="-177800">
              <a:spcAft>
                <a:spcPts val="700"/>
              </a:spcAft>
              <a:buSzPct val="100000"/>
              <a:buChar char="•"/>
            </a:pPr>
            <a:r>
              <a:rPr lang="en-US" sz="1300" dirty="0">
                <a:solidFill>
                  <a:srgbClr val="111827"/>
                </a:solidFill>
                <a:latin typeface="Calibri" pitchFamily="34" charset="0"/>
                <a:ea typeface="Calibri" pitchFamily="34" charset="-122"/>
                <a:cs typeface="Calibri" pitchFamily="34" charset="-120"/>
              </a:rPr>
              <a:t>The nightly job re-reads all data. Fix: process only what changed</a:t>
            </a:r>
            <a:endParaRPr lang="en-US" sz="1300" dirty="0"/>
          </a:p>
          <a:p>
            <a:pPr marL="177800" indent="-177800">
              <a:spcAft>
                <a:spcPts val="700"/>
              </a:spcAft>
              <a:buSzPct val="100000"/>
              <a:buChar char="•"/>
            </a:pPr>
            <a:r>
              <a:rPr lang="en-US" sz="1300" dirty="0">
                <a:solidFill>
                  <a:srgbClr val="111827"/>
                </a:solidFill>
                <a:latin typeface="Calibri" pitchFamily="34" charset="0"/>
                <a:ea typeface="Calibri" pitchFamily="34" charset="-122"/>
                <a:cs typeface="Calibri" pitchFamily="34" charset="-120"/>
              </a:rPr>
              <a:t>Two runs could overlap and double-send a reminder. Fix: one run at a time</a:t>
            </a:r>
            <a:endParaRPr lang="en-US" sz="1300" dirty="0"/>
          </a:p>
          <a:p>
            <a:pPr marL="177800" indent="-177800">
              <a:spcAft>
                <a:spcPts val="700"/>
              </a:spcAft>
              <a:buSzPct val="100000"/>
              <a:buChar char="•"/>
            </a:pPr>
            <a:r>
              <a:rPr lang="en-US" sz="1300" dirty="0">
                <a:solidFill>
                  <a:srgbClr val="111827"/>
                </a:solidFill>
                <a:latin typeface="Calibri" pitchFamily="34" charset="0"/>
                <a:ea typeface="Calibri" pitchFamily="34" charset="-122"/>
                <a:cs typeface="Calibri" pitchFamily="34" charset="-120"/>
              </a:rPr>
              <a:t>Big tables slow the company-separation checks. Fix: split by company and month</a:t>
            </a:r>
            <a:endParaRPr lang="en-US" sz="1300" dirty="0"/>
          </a:p>
          <a:p>
            <a:pPr marL="177800" indent="-177800">
              <a:spcAft>
                <a:spcPts val="700"/>
              </a:spcAft>
              <a:buSzPct val="100000"/>
              <a:buChar char="•"/>
            </a:pPr>
            <a:r>
              <a:rPr lang="en-US" sz="1300" dirty="0">
                <a:solidFill>
                  <a:srgbClr val="111827"/>
                </a:solidFill>
                <a:latin typeface="Calibri" pitchFamily="34" charset="0"/>
                <a:ea typeface="Calibri" pitchFamily="34" charset="-122"/>
                <a:cs typeface="Calibri" pitchFamily="34" charset="-120"/>
              </a:rPr>
              <a:t>Old alerts pile up. Fix: close them when new results go live</a:t>
            </a:r>
            <a:endParaRPr lang="en-US" sz="1300" dirty="0"/>
          </a:p>
        </p:txBody>
      </p:sp>
      <p:sp>
        <p:nvSpPr>
          <p:cNvPr id="15" name="Text 12"/>
          <p:cNvSpPr/>
          <p:nvPr/>
        </p:nvSpPr>
        <p:spPr>
          <a:xfrm>
            <a:off x="640080" y="5760720"/>
            <a:ext cx="10908792" cy="365760"/>
          </a:xfrm>
          <a:prstGeom prst="rect">
            <a:avLst/>
          </a:prstGeom>
          <a:noFill/>
          <a:ln/>
        </p:spPr>
        <p:txBody>
          <a:bodyPr wrap="square"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Live demo: https://fello-renewal-risk.vercel.app/     Loom walkthrough: LINK_TBD</a:t>
            </a:r>
            <a:endParaRPr lang="en-US" sz="1400" dirty="0"/>
          </a:p>
        </p:txBody>
      </p:sp>
      <p:sp>
        <p:nvSpPr>
          <p:cNvPr id="25" name="Slide Number Placeholder 0"/>
          <p:cNvSpPr>
            <a:spLocks noGrp="1"/>
          </p:cNvSpPr>
          <p:nvPr>
            <p:ph type="sldNum" sz="quarter" idx="4294967295"/>
          </p:nvPr>
        </p:nvSpPr>
        <p:spPr>
          <a:xfrm>
            <a:off x="1088136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Renewal Risk Call List</dc:title>
  <dc:subject>PptxGenJS Presentation</dc:subject>
  <dc:creator>PptxGenJS</dc:creator>
  <cp:lastModifiedBy>PptxGenJS</cp:lastModifiedBy>
  <cp:revision>1</cp:revision>
  <dcterms:created xsi:type="dcterms:W3CDTF">2026-10-19T11:50:50Z</dcterms:created>
  <dcterms:modified xsi:type="dcterms:W3CDTF">2026-10-19T11:50:50Z</dcterms:modified>
</cp:coreProperties>
</file>